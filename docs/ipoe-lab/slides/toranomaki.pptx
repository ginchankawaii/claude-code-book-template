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【講師へ】このページは必読。**受講者には投影しなくてよい。**</a:t>
            </a:r>
          </a:p>
          <a:p>
            <a:r>
              <a:t>・時間配分は実測していない仮案。休憩と質疑の余白が無いので、そのままだと溢れる。</a:t>
            </a:r>
          </a:p>
          <a:p>
            <a:r>
              <a:t>・実施前に test-matrix §4 の「⚠ 実測」注記を必ず読むこと。5 件が想定と違った。</a:t>
            </a:r>
          </a:p>
          <a:p>
            <a:r>
              <a:t>・第1回はパイロットとして回し、実測が取れるまで第2回以降の日程を確定しないこと。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【講師へ】</a:t>
            </a:r>
          </a:p>
          <a:p>
            <a:r>
              <a:t>・**生徒役は若手にやらせること。**講師が両方やると聞き流される。</a:t>
            </a:r>
          </a:p>
          <a:p>
            <a:r>
              <a:t>・時間割の外。各回の後ろに +15〜20 分で回す。</a:t>
            </a:r>
          </a:p>
          <a:p>
            <a:r>
              <a:t>・全部やらない。その回で出た質問に近いものを 2〜3 個選ぶ。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虎の巻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PPPoE → IPoE 切替でトラブらないための 3 回シリーズ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IPv6 をほとんど触ったことがない若手 (支店配属 1〜3 年目想定)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小川晃通『プロフェッショナル IPv6 第2版』(ラムダノート / CC BY-NC-SA)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検証環境: IPoE 検証ラボ (構築中。自宅プロトタイプ検証後に社内展開)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進め方: ラボで壊す → 「なんで?」が生まれる → 教科書の該当節を読む → もう一度ラボ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社内限定資料。教科書の本文・図版は貼らず、該当ページを各自開いてください。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この勉強会の目的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→ IPoE 切替案件が増えている。しかしトラブルも増えている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組み合わせが多い: IPv6 配布方式 × IPv4 over IPv6 方式 × CPE 機種 × 構成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「やってみたら動かない」を客先で起こしている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原因は知識の欠落ではなく、原理を見たことがないこと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DHCPv6-PD も MAP-E も、パケットを一度見れば腹に落ちる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だから「検証環境 × 教科書」でやる。座学だけ / 手順書だけ、では身に付かない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3 回終わったときにできるようになること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ひかり電話の有無と「どこで終端するか」の 2 段で方式を選べる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「ポート開放できますか?」に方式を聞いて即答できる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は見えるがファイルが送れない」を切り分けて、直し方まで言える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正本: docs/ipoe-lab/study-guide.md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この教材の現在のステータス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使える部分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教科書との対応表 / 用語集 / つまずきの壁 Q&amp;A — ラボの状態に依存しない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まだ確定していない部分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時間配分は仮案。実測していない。休憩・質疑の余白を入れていないので溢れる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サイクル 1〜7 実走済み。R1〜R6/D1 の 7 件も実測完了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 Cisco 892FJ での DS-Lite も実測済み (第4部を参照)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会社 VMware 用ランブック (runbook-vmware.md) は執筆済み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配布前にやること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proxmox-prototype.md §0.5 → §2 → §5 を一巡する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実施前に test-matrix §4 の「⚠ 実測」注記を必ず読む (5 件が想定と違った)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第1回はパイロット実施。実測が取れるまで第2回以降の日程を確定しない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全体の流れ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5840"/>
                <a:gridCol w="5760720"/>
                <a:gridCol w="2194560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回 / 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テーマ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ラボ演習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第0〜2部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全体像 → IPv6 そのもの → 日本の回線 (座学・導入)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1,2,3,5,7章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第1回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なんで IPv6 に変えなきゃいけないの?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1, 2, 18章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1-A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第2回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アドレスはどうやって降ってくるのか (最重要)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6, 7, 8章, 付録B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2-A / 2-B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第3回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IPv4 を IPv6 の上で運ぶ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24章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演習 3-A (R3/R4/R5)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補講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セキュリティ / DNS / NGN 固有問題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14, 17章, 付録A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R6, 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第4部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検証結果 (ラボ / 実機 892FJ / CML の実測値)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巻末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つまずきの壁 Q&amp;A (各回 +15〜20 分)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全回で参照: 付録 A「NTT NGN での IPv6」(p.437) — 日本固有の話が全部ここにある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第0部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全体像 — まず地図を配る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細かい話に入る前に、これから何を何の順で見るのかを一枚で掴む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この資料の歩き方(全体 → 詳細 の順に降ります)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第0部 全体像 — いま何の話をしているのか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の話は「アドレスそのもの」「配り方」「IPv4 の運び方」の 3 層に分かれる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第1部 IPv6 そのもの(抽象)— どこの国でも同じ話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アドレスの書き方 / 種類 / 決まり方。ここは教科書どおり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第2部 日本の回線(具体)— ここからは日本だけの話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NTT の網 + VNE + ISP。v6プラス / transix などが「どれ」なのかを表で押さえる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第3部 実習(第1回〜第3回)— 手を動かして原理を見る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のアドレス計算、ポートの割り当て、MTU の引き算。ラボで壊して直す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第4部 検証結果(実測)— 本当にそうなるのか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ラボと実機で測った値。「たぶん」と「測った」を必ず分けて書いてあります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迷ったら第0部に戻ること。地図の上のどこにいるか分かれば必ず戻れます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 行でいうと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PPPoE が遅い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夜になると遅い。原因は網終端装置(NTE)の輻輳で、回線速度の問題ではない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だから IPoE に変える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 = 網終端装置を通らず、網から直接 IPv6 が降ってくる方式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でも社内は IPv4 のままなので、IPv4 を IPv6 の上に載せて運ぶ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その運び方が MAP-E と DS-Lite。この資料の 8 割はここの話です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ここだけ持ち帰れば十分です。残りは全部この 3 行の詳細でしかありません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 IPv6 に変えるのか — 建前と本音を分ける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教科書に書いてある理由(建前)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アドレスが枯渇した。だから IPv6 へ移行する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正しいが、これは「きっかけ」であって、お客様が今ハンコを押す理由ではない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現場でお金が動く理由(本音)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 が遅いから。「夜だけ遅い」「Web 会議が切れる」で相談が来る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を使いたいのではなく、速度が欲しくて IPv6 の道を通ることになる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この区別が効く場面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「社内も IPv6 化しますか?」→ 普通はしません。LAN は IPv4 のまま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アドレス再設計・FW 見直し・アプリ検証が発生する。要件でない限りやらない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は「外を速く通るための道」。社内を作り替える話ではない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ただし「将来も IPv6 化しない」とは言わないこと。今回やらないだけです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第18章「IPv4 アドレスの枯渇」/ 付録 A「NTT NGN での IPv6」(p.437)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IPv6 の話は 3 層に分かれる(混ぜると分からなくなる)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アドレスそのもの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書き方・種類
128ビット / fe80:: / /64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② アドレスの配り方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RA(SLAAC)/ DHCPv6-PD
誰が何を配るか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③ IPv4 の運び方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/ DS-Lite
IPv4 を IPv6 に載せる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トラブルの切り分けも、この 3 層のどこで壊れているかを決めるところから始まります。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「IPv6 が降りてこない」= ② の話。「IPv6 は降りたが IPv4 が通らない」= ③ の話。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①② は世界共通の技術。③ だけが日本固有の事情が濃い(共有 IPv4 とポート制限)。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IPv6 そのもの — どこの国でも同じ話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アドレスの書き方・種類・決まり方。暗記より「見たことがある」を作る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IPv4 と IPv6 の違い(現場で効くところだけ)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7980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920240"/>
                <a:gridCol w="2103120"/>
                <a:gridCol w="5212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IPv4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IPv6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現場でどう効くか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長さ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32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128 ビット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枯渇しない。ただし覚えられない → コピペ前提で作業する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表記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192.168.1.1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2001:db8::1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 は 0 の連続の省略。1 か所しか使えない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サブネット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任意(/24 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が原則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/64 より小さく切ると SLAAC が動かない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 IF のアドレス数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普通 1 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複数が当たり前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 + グローバルが同時に付く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ブロードキャスト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あり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無い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代わりにマルチキャスト。ARP も無い(NDP になる)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アドレス解決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ARP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NDP(ICMPv6)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ICMPv6 を止めると通信が死ぬ。FW 設計の最頻出事故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DHCPv6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ルータが自分から「私がゲートウェイだ」と言いに来る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フラグメント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途中のルータも分割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送信元だけ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 MTU の問題が表に出やすい(後述の 1460)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419709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2.10「IPv6 と IPv4 の違い」(p.51)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アドレスの読み方と、なぜ /64 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書き方の 3 つのルール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各ブロック先頭の 0 は省ける: 2001:0db8:0000:0001 → 2001:db8:0:1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0 が続くところは :: で 1 回だけ省ける: 2001:db8:0:0:0:0:0:1 → 2001:db8::1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URL に書くときは [] で囲む(忘れると動きません)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http://[2001:db8::80]/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/64 が原則である理由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後ろの 64 ビットをインタフェース ID に使う、と決まっているため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MAC から作る(EUI-64)か、ランダムに作る。つまり下位は端末が勝手に決める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→ /64 より小さく切ると SLAAC が動かない。IPv4 の感覚をここで捨てる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実務での見え方(ここが後で効きます)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ひかり電話なし = /64 が 1 本だけ来る(RA 方式)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ひかり電話あり = /56 が委譲される = /64 が 256 本使える(PD 方式)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この違いが効くのは「LAN をいくつのセグメントに切れるか」と「HGW とどちらで終端するか」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※ MAP-E は /64 (RA 方式) でも組めます。ラボでも RA 方式で 198.51.100.20 / PSID 3 を導出しました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第3章「IPv6 アドレス」/ 第7章「SLAAC」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アドレスの種類 — 1 つの NIC に何本も付く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258140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463040"/>
                <a:gridCol w="1828800"/>
                <a:gridCol w="1920240"/>
                <a:gridCol w="3566160"/>
              </a:tblGrid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種類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見た目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届く範囲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誰が決める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現場でどこで見るか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リンクローカル(LLA)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fe80::…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同じリンク内だけ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自動(必ず付く)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NDP と RA の送信元。ルーティングの隣接もこれ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グローバル(GUA)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2000::/3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インターネット全体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か DHCPv6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実際の通信に使うアドレス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ユニークローカル(ULA)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fd00::/8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組織内だけ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規格上は fc00::/7。OpenWrt が既定で作る (事故の元)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マルチキャスト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ff00::/8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グループ宛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規格で決まっている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ff02::1 全ノード / ff02::2 全ルータ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エニーキャスト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GUA と同じ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一番近い 1 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設計で決める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など。見た目では区別できない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2675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未指定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DAD の送信元。「まだ決まっていない」の意味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2267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ループバック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自分だけ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の 127.0.0.1 に相当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98043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資料や検証に使う「ドキュメント用」は 2001:db8::/32。実在アドレスを例に使わないこと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fe80:: が必ず付いている理由 — IPv4 と一番違うところ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は「アドレスをもらう前に通信する」必要がある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アドレスをくれるのはルータ。でもルータと話すにはアドレスが要る → 鶏と卵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 NIC が上がった瞬間に自分だけで作れるアドレスが要る。それが fe80::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だから、こうなっている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も DHCPv6 も送信元は fe80::。グローバルは後から付く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既定ゲートウェイも fe80:: で指す。IPv4 のように 192.168.1.1 とは書かない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OSPFv3 / BGP の隣接も fe80::。「グローバルが無い = 壊れている」ではない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現場で効く場面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「グローバル IPv6 が無いのに ping6 が通る」→ 正常。LLA で通っています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このラボでも、VM に管理 IP を振らず fe80:: だけで SSH して構築しました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fe80:: は どのインタフェース経由か を書かないと使えない(%eth0 / %vmbr0)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教科書: 第5章「ICMPv6」/ 第6章「近隣探索プロトコル(NDP)」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アドレスはどうやって決まるのか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ルータから RA が飛んでくる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ICMPv6。定期送信 + 要求への応答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SLAAC(自動設定)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にプレフィックスが入っている
端末が下位 64 ビットを自分で作る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DHCPv6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は「DHCPv6 を使え」と言うだけ
アドレスは DHCPv6 サーバが配る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RA の中の 2 つのフラグ(M / O)で、どちらを使うかが決まります。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M=0 → DHCPv6 でアドレスはもらわない。M=1 → DHCPv6 でも アドレスをもらう。O=1 → DNS 等だけ DHCPv6 から。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SLAAC するかどうかを決めるのは M ではなく、RA の中のプレフィックス情報にある A フラグです。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M=1 でも A=1 なら SLAAC も併走し、端末にアドレスが 2 本以上付きます。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M/O はルータからの推奨でしかなく、従うかは OS 次第 (Android は DHCPv6 を使いません)。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ルータがもらう /56 は DHCPv6-PD という別枠。アドレスではなくプレフィックスの委譲です。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日本の小規模案件では「ひかり電話あり = PD、なし = RA だけ」で実務はほぼ回ります。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日本の回線 — ここからは日本だけの話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登場人物と、v6プラス / transix などが結局「どれ」なのかを表で押さえる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登場人物 — 「ISP」と一言で言っても 3 者いる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お客様の 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ルータ
892FJ / RTX / OpenWrt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NTT の網(NGN)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フレッツ光
ここまでは NTT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を実際に流す事業者
JPIX / MF / ドコモビジネス 等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ISP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契約先・課金
VNE とは限らない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「ISP を変えたのに速度が変わらない」の正体はここ。速度を決めるのは VNE 側です。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お客様は ISP としか契約していないつもりでも、裏で VNE が決まっており、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 VNE が MAP-E か DS-Lite かを決めています。こちらでは選べません。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提案・見積の前に「ISP はどこか」ではなく「VNE はどこか」を聞くこと。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分かれ道はまず 1 段目 — PPPoE か IPoE 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フレッツ光の契約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どちらで IPv4/IPv6 を通すか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PPPoE(従来)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ID/パスワードで認証
網終端装置を通る = 夜が遅い
IPv4 がそのまま流れる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認証なし。回線に紐づく
網終端装置を通らない = 速い
IPv4 は別途トンネルが要る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 段目はここ。速度の話はこの分岐で決まります。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2 段目は「IPoE を選んだあと、IPv4 をどう運ぶか」= MAP-E か DS-Lite か(次ページ)。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両方同時に使えます。IPv6 は IPoE、IPv4 は PPPoE、という併用は実際によくある構成です。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切替当日は PPPoE を落としてから IPoE。セッションが残ると原因不明の不通になります。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 段目 — IPv4 をどう運ぶか(ここは選べません)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IPoE にした。ではIPv4 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IPv6 の上に載せて運ぶしかない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MAP-E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が IPv4 を IPv6 で包む
共有 IPv4 + 使えるポートが決まる
CPE 側で計算が要る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DS-Lite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CPE はただ包むだけ
NAT は網側(AFTR)がやる
CPE の負荷が軽い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どちらになるかは VNE が決めます。お客様も我々も選べません。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違いが一番出るのは「ポート開放できますか?」への答え(第3部で詳しく)。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MAP-E: 使えるポートが数百個に限られる。指定のポートは開けられないことが多い。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DS-Lite: そもそも利用者側に開ける手段がない。固定 IP オプションを買う話になる。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実際のサービスはどれ? — 名前から方式を引く表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291840"/>
                <a:gridCol w="146304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サービス名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/ 提供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ポート開放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v6プラス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JPIX(旧 JPNE)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OCN バーチャルコネクト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NTT ドコモビジネス(旧 NTT Com)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IPv6 オプション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BIGLOBE 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限定的(割当ポートのみ)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transix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インターネットマルチフィード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クロスパス(Xpass)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アルテリア・ネットワークス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v6 コネクト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朝日ネット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不可(固定 IP 契約が別途必要)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ソフトバンク光 IPv6 高速ハイブリッド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BBIX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独自方式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光BBユニット前提。本資料の対象外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8862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出典: ヤマハ RTpro「動作確認済み IPv6 IPoE + IPv4 over IPv6 接続サービス」ほか各社資料。案件では必ず最新版を確認すること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この表の使い方と、使うときの注意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ヒアリングでこの順に聞く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ひかり電話はありますか → /64 か /56 かが決まる(= PD 方式かどうか)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契約は ISP どこですか → その裏の VNE を調べる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VNE が決まれば方式が決まる → ポート開放の可否が言える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1: 同じ ISP でもプランで VNE が違うことがある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「◯◯光」は再販が多く、同じ名前でも中身が別 VNE ということが起きる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机上で決めつけず、開通後に実測で確かめること(第4部の run-checks)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2: 事業者名が変わっている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JPNE は JPIX に、NTT コミュニケーションズは NTT ドコモビジネスに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古い資料と名前が食い違うので、社内 wiki の記述は更新すること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注意 3: 方式が分かっても「動く」とは限らない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CPE 側が対応している必要があります。次のページが実測結果です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なんで IPv6 に変えなきゃいけないの?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登場人物を絵で描ける。fe80:: とグローバルの違いが言える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1-0. 登場人物と略語(まずこれを覚える)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お客様PC ─ CPE ─ [ NGN ] ─ VNE ─ ISP ─ インターネット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ひかり電話ありなら CPE の位置に HGW が入る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CPE … Customer Premises Equipment = お客様側に置くルータ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HGW … ひかり電話ルータ。機種により IPoE を自分で終端してしまう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NGN … NTT東西の IP 網。ISP とは別の会社の設備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VNE … NGN 上の IPv6 (IPoE) 接続を ISP に卸す事業者。多くは IPv4 over IPv6 もセットで提供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JPIX (旧 JPNE) / インターネットマルチフィード / NTT ドコモビジネス (旧 NTT Com) 等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BRAS … PPPoE を終端する ISP 側の装置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NTE … 網終端装置。PPPoE が必ず通る箱で、ここが夕方混む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ラボの VM との対応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NGN-SIM = NGN / BRAS = BRAS / VNE = VNE (BR と AFTR 兼用) / INET-SIM = インターネット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OpenWrt-CE または実機 = CPE。ラボに NTE は無く、BRAS が代役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略語の全量は study-guide.md §1.4。ここが分からないと以降ずっと分からない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1-1. まず事実: IPv4 アドレスは在庫が尽きた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IPv4 は約 43 億個。世界人口より少ない。スマホ 1 人 1 台で足りない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だから 3 つの対策が同時に走っている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NAT で共有する → 家庭内では昔からやっている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アドレスを売買・移転する → 実際に市場がある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IPv6 に移る → 本命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IPoE への切替は ③ の話。「速いから」は結果であって理由ではない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18.1 在庫枯渇はどのような問題なのか (p.335) / 18.2 影響 (p.336)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1-2. IPv6 アドレスの書き方 (ここで演習)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128 ビット。16 進 4 桁を 8 ブロック、コロン区切り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2001:0db8:1014:0300:0000:0000:0000:0001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省略ルールは 2 つだけ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各ブロック先頭の 0 は省略できる → 0db8 は db8、0300 は 300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連続する 0 のブロックは :: に潰せる。ただし 1 箇所だけ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2001:db8:1014:300::1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演習: 次を省略形にせよ (紙に書く。答え合わせまで含めて 20 分)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fe80:0000:0000:0000:0200:5eff:fe00:5301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2001:0db8:0000:0000:0000:0000:8888:0001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2001:0db8:100a:0500:0000:0000:0000:0000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2.2 IPv6 アドレスのテキスト表記 (p.38)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ここを飛ばすと第2回以降アドレスが読めないまま進む。時間を削らないこと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1-3. IPv6 と IPv4 は「別のインターネット」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IPv4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203.0.113.x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635044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06137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互換性なし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直接は話せない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555382" y="2926080"/>
            <a:ext cx="971092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26475" y="2377440"/>
            <a:ext cx="2949244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IPv6 の世界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2001:db8::x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と IPv6 の間に自動変換はない。だから両方を同時に使う (デュアルスタック) か、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どちらかを他方の上で運ぶ (共存技術) しかない。IPoE がやっているのは後者。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「IPv6 にしたら IPv4 が使えなくなる」は誤り。IPv6 のトンネルの中を通って使える。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2.10 IPv6 と IPv4 の違い (p.51) / 2.12 同時に使う (p.58) / 2.13 共存技術 (p.61)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1-4. 演習 1-A: CPE の WAN に何が付いているか  (手順は実測済み)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手順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1. CPE (OpenWrt-CE または実機。クライアント VM ではない) で PPPoE 接続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 認証: user1@isp-a.example / pass1 / サービス名 lab-isp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2. CPE の WAN 側で  ip -6 addr show  (実機なら show ipv6 interface brief)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3. 出てきたアドレスを 1 個ずつ「これは何か」に分類する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ラボの仕掛け — ここが今日の山場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ラボの BRAS は ipv6=deny。PPPoE セッション自体では IPv6 は降りない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(= IPv6 非対応の PPPoE 契約の再現)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しかし CPE の WAN は NGN アクセス網の L2 に直結していて、NGN-SIM の radvd は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ra/pd どちらのモードでも常時 RA を流している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つまり PPPoE とは無関係に、NGN 由来のグローバル IPv6 が来ている可能性がある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これが 付録 A.1 フォールバック問題 / A.2 マルチプレフィックス問題 の正体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「ISP の契約とは別に NGN の IPv6 が勝手に来ている」を最初に体感させる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7ACC"/>
                </a:solidFill>
                <a:latin typeface="Meiryo UI"/>
              </a:rPr>
              <a:t>手順はラボで実走済み。当日の受講者環境で GUA がどのプレフィックスで付くかは、その場で study-guide に記録すること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1-5. リンクローカルとグローバル / 宿題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fe80:: で始まる = リンクローカル。同じリンク内専用。消すと全部死ぬ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のルーティングも近隣探索もこれを使って動く。RA の送信元も fe80::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の 169.254.x.x とは役割が違う (あっちは DHCP 失敗時の敗戦処理)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2001: で始まる = グローバル。外と話せる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Temporary (プライバシー拡張) について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lab-client (Ubuntu Server) では既定で生成されない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見せたい場合: sudo sysctl -w net.ipv6.conf.&lt;if&gt;.use_tempaddr=2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宿題: 自宅の PC で IPv6 アドレスを見て、種類を数えてくる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Windows: ipconfig /all   /   Mac・Linux: ip -6 addr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自宅が IPv6 非対応・管理画面に入れない場合はスマホのテザリングで代替可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3.5 リンクローカル (p.74) / 2.9 複数のアドレスが付く (p.48) / 7.5 Temporary (p.166)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アドレスはどうやって降ってくるのか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ひかり電話の有無と「どこで終端するか」の 2 段で方式を決められる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2-1. IPoE とは何か (用語の整理から)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IPoE = IP over Ethernet。PPP を挟まずに Ethernet に直接 IP を載せる方式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NTT の商品名ではない。接続方式の名前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PPPoE との違い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PPPoE: ID/パスワードでセッションを張る → 網終端装置 (NTE) を必ず通る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IPoE: つないだらアドレスが降ってくる → NTE を通らない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「IPoE は速い」の正体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プロトコルが速いのではなく、混雑する箱 (NTE) を通らないから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※ VNE 側が混んでいれば普通に遅い。「速くなります」と客に約束しない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付録 A.3 IPv6 PPPoE と IPv6 IPoE (p.443) ← 付箋を貼る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2-2. 近隣探索プロトコル — IPv6 の心臓部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IPv6 に ARP はない。代わりに ICMPv6 の 4 兄弟が働く (ほかに Redirect もある)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(Router Solicitation): 「ルータいますか?」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(Router Advertisement): 「ここにいる。プレフィックスはこれ」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NS (Neighbor Solicitation): 「このアドレスの MAC 教えて」= ARP 相当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NA (Neighbor Advertisement): 「私です」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全部 ICMPv6。だから ICMPv6 を全 deny すると IPv6 は動かない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教科書 14.9「ICMPv6 を無条件にすべてフィルタリングすべきではない」(p.279)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対立意見: では全許可か? それも違う。RFC 4890 相当の選別が必要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6.1 機能と利用するメッセージ (p.128) / 6.2 ルータとプレフィックス情報の発見 (p.129)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2-3. 2 つの方式 — RA 方式と PD 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RA 方式 (SLAAC)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ルータ広告のプレフィックス情報から端末が自分でアドレスを作る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降りてくるのは /64 が 1 個。LAN を複数セグメントには分けられない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PD 方式 (DHCPv6-PD)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DHCPv6 で「プレフィックスそのもの」が委任される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/56 なら /64 が 256 個作れる。これが PD 方式の価値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IPv4 との感覚の違い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は「プレフィックスをもらって中を自分で切る」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SLAAC を使う限りホスト部は 64 ビット。だから /64 より細かくは切らない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7.1 SLAAC の流れ (p.160) / 8.1 DHCP と DHCPv6 の違い (p.180) / 8.7 PD (p.201)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2-4. 方式判定は 2 段。1 段で決めると事故る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0" y="1188720"/>
            <a:ext cx="3017520" cy="9144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1F3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① ひかり電話は?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ヒアリングシート #1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8872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なし → RA 方式 (/64)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配下ルータで終端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926080"/>
            <a:ext cx="4206240" cy="109728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あり → HGW が来る → ② へ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HGW 型番の確認が必須 (#2)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91840" y="2514600"/>
            <a:ext cx="5577840" cy="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869680" y="2514600"/>
            <a:ext cx="0" cy="411480"/>
          </a:xfrm>
          <a:prstGeom prst="line">
            <a:avLst/>
          </a:prstGeom>
          <a:ln w="31750">
            <a:solidFill>
              <a:srgbClr val="007A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② 終端するのはどっち?   HGW で終端 → 配下ルータは PD を要求しない (ブリッジ/ルータモード)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                      配下ルータで終端 → HGW 側の IPoE を止める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「ひかり電話あり = 配下ルータに PD を設定」は誤り。HGW が PD を取るので二重終端 (R7) になる。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付録 A.3 (p.443) / 付録 B ND Proxy (p.455) / 13.2 マルチプレフィックスの問題 (p.251)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2-5. NGN と VNE はセットで切り替える  (実測済み)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200400"/>
                <a:gridCol w="228600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NGN-SIM モード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ユーザプレフィックス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共有 IPv4 / PSID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VNE 側 (BR) の実行方法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pd (ひかり電話あり)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2001:db8:100a:500::/56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sudo ./setup-map-br.sh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ra (ひかり電話なし)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2001:db8:1014:300::/64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198.51.100.20 / 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C0392B"/>
                          </a:solidFill>
                          <a:latin typeface="Meiryo UI"/>
                        </a:rPr>
                        <a:t>環境変数を付けて再実行 (下記)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ra に切り替えたら → sudo CE_MAP_ADDR=2001:db8:1014:300:0:c633:6414:3 CE_SHARED_V4=198.51.100.20 ./setup-map-br.sh
※ NGN 側だけ切り替えて BR を再実行しないと IPv4 が全断する (build.md §3)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2-6. 演習 2-A: 4 兄弟をキャプチャする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手順 (root 必須。sudo を付ける)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./lab/ipoe/ngn/setup-ngn.sh ra      # ひかり電話なし相当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↑ 切り替えたら VNE でも必ず setup-map-br.sh を再実行 (前ページの表)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sudo tcpdump -nn -i &lt;ACCESS_IF&gt; 'icmp6 or udp port 546 or udp port 547'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見てほしいこと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RS → RA が飛ぶか。PD なら Solicit → Advertise → Request → Reply の 4 往復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-6 route と CPE の LAN 側アドレスを比べる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RA 方式だと LAN に配れる /64 が無い ← だから PD が必要 (ラボは odhcpd relay で回避)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先に済ませておくこと(当日ハマる)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インターフェース名を確定しておく (detect-ifs.sh が MAC から解決する)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の wan は論理名。tcpdump には実体名 (eth1 等) 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に tcpdump は既定で入っていない。ラボ内にインターネットは無い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setup-ngn.sh は毎回 apt-get する。管理経路が出られないと演習中に落ちる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2-7. 演習 2-B: DUID の罠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OpenWrt は DUID-LL を送るので DROP を素通りする (サイクル 5 実測)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README.md / test-matrix.md §3 Phase 1 手順 5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見せる手順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1. kea-dhcp6.conf の client-classes (DROP クラス) のコメントを外す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2. Kea を再起動 → CPE から Solicit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3. エラーではなく完全な無応答になることを見せる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4. 終わったら戻す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用語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DUID-LL  = MAC アドレスベース (type 0003)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DUID-LLT = MAC + 生成時刻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NGN は LL しか受けないという報告が多い。ただし公開仕様では確認できていない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断定せず「そういう報告が多いので DUID-LL で試す」と伝えるのが安全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教科書: 8.4 DUID (p.191)。知らないと「なぜか PD だけ来ない」で数時間溶ける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第3回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 IPv6 の上で運ぶ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「ポート開放したい」に、方式を聞いて可否を即答できる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3-0. この回は分量オーバー。絞る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読み上げない (資料配布のみ)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共存技術の分類 (トンネル / 変換 / プロキシ) … 21.1 (p.381)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6to4 / Teredo / ISATAP / 6rd / 4rd の系譜 … 第22章 (p.385)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SIIT / NAT64+DNS64 / 464XLAT … 第23章 (p.407)。モバイル系で固定回線では少ない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 90 分でやること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なぜ IPv6 プレフィックスの中に IPv4 が埋まっているのか (第2回からの橋)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MAP-E: EA bits と PSID を手で計算する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DS-Lite: NAT を網側に置く。だからポート開放できない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MTU の引き算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3-A: ポートを数える / R3 / R4 / R5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教科書で読むのは 24 章だけでよい (p.421-)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3-1. サービス名と方式名を混同しない (最重要の実務知識)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これは全部サービス名 (商品名)。教科書には出てこない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 プラス / transix / クロスパス / IPv6 オプション / v6 コネクト …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方式名はこの 2 つ (固定回線の日本の IPoE では実質これだけ)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… CE (お客様のルータ) 側で NAT する。ポートが制限される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… 網側 (AFTR) で NAT する。利用者にポート開放の手段がない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案件で最初に確認すること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「その商品の中身は MAP-E ですか DS-Lite ですか」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サービス名だけで設定を始めると、CPE のテンプレを間違える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実サービスとの対応表: 第2部の早見表 / study-guide.md §1.35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※ ソフトバンク光は例外です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BBIX の独自方式 (IPv6 高速ハイブリッド。4rd/SAM 系) で、光BBユニット前提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でも DS-Lite でもないので、本資料の設計対象外として扱ってください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3-2. MAP-E のポート数はこう決まる(計算する)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ラボのルール (build.md §3)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rule-ipv6-prefix 2001:db8:1000::/40 / rule-ipv4-prefix 198.51.100.0/24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ea-len 16 / psid-offset 4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psid-len = ea-len − (32 − v4プレフィックス長) = 16 − (32 − 24) = 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1ブロックのポート数 = 2^(16 − offset − psid-len) = 2^4 = 16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ブロック数 = 2^offset − 1 = 15   ← ブロック 0 (ポート 0〜4095) は使わない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使えるポート数 = 16 × 15 = 240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実サービスの実績値 (research-notes.md §2)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v6プラス (JPIX) = 240 ポート / OCN バーチャルコネクト (NTT ドコモビジネス) = 1008 ポート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240 は少ない。ブラウザは 1 タブで数十本張る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台数の多い拠点や監視系があると足りない。同時セッション数を実測してから方式を決める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3-3. PD 方式 (/56) から実際に導出してみる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与えられたプレフィックス: 2001:db8:100a:0500::/56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EA bits = プレフィックスの bit40〜55 を取り出す → 0x0a, 0x05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共有 IPv4 = 198.51.100.0/24 の下位 8bit に 0x0a を入れる → 198.51.100.10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PSID = 残り 8bit → 5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ポート集合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0x1050-0x105F (4176-4191)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0x2050-0x205F, 0x3050-0x305F, … 0xF050-0xF05F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16 個 × 15 ブロック = 240。連続していない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RA 方式 (2001:db8:1014:0300::/64) なら → 共有 IPv4 198.51.100.20 / PSID 3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「4176〜8000 の範囲」のように連続だと思って NAT を書くと動かない → R12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教科書: 24.3 A+P (p.423) / 24.4 MAP-E、MAP-T、4rd (p.425)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3-4. DS-Lite — NAT が網側にある。だから触れない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お客様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192.168.x.x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 (B4)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NAT しない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AFTR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ここで NAT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インターネット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共有グローバル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MAP-E は CPE (CE) が NAT する → 自分のポート集合の中なら開放できる。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は AFTR (事業者設備) が NAT する → 利用者からそれを操作する手段が提供されていない。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「ポート開放できますか?」→ DS-Lite なら「できません」。代替は固定 IP 系サービスか PPPoE 併用。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教科書: 24.1 DS-Lite (p.421) / 19.3 NAT 機器に要求される挙動 (p.356) / 19.4 課題 (p.362)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3-5. MTU の引き算と、直し方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連続した引き算ではありません。PPPoE 系と IPoE トンネル系の 2 系統です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【PPPoE の場合】 1500 − PPPoE ヘッダ 8 = 1492 (MRU 上限で実質 1454 が多い)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【MAP-E / DS-Lite の場合】 1500 − IPv6 ヘッダ 40 = 1460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     さらに encaplimit (Dst Options) が付くと −8 → 1452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     ip6tnl の既定でこれが付く。片方向だけ切れる原因になる (R11)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症状の出方が独特なので覚える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小さいパケット (HTTP GET, ping, DNS) は通る → 「つながってる」と見える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大きいパケット (ファイル送信、添付) だけ落ちる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現場の一手 — 症状を知っているだけでは直せない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TCP MSS clamp: OpenWrt は firewall の mtu_fix、Cisco は ip tcp adjust-mss 1420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CPE の WAN MTU を手動設定: OpenWrt なら option mtu '1460'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トンネルの encaplimit none (ラボの VNE スクリプトは設定済み)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経路で ICMP (v6 Packet Too Big / v4 Fragmentation-Needed) が落ちていないか確認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3355"/>
                </a:solidFill>
                <a:latin typeface="Meiryo UI"/>
              </a:rPr>
              <a:t>教科書: 第10章 (p.215) / 9.2 IPv6 フラグメントヘッダ (p.208) / 14.9 (p.279)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3-6. 演習 3-A: ポートを数えて、失敗させる  (実測済み)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CPE に降りたプレフィックスから共有 IPv4 と PSID を確認し、3-3 の計算と照合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ポート集合を紙に書き出し、飛び飛びであることを目で見る (240 個 = 16 × 15)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R3 (ポート制限) を再現する。OpenWrt が CE なら enforce は不要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for i in $(seq 20); do curl -s --limit-rate 1k -m 30 ... &amp; done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紙に書いた 240 と違い、17 本目以降が失敗する (成功は 16 本)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nft の snat が終端判定で先頭ブロックのみ使用。実機では必ず数え直す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R4: DS-Lite でポート開放を設定し、INET-SIM から叩いて届かないことを確認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前提: VNE と INET-SIM が別 VM (SPLIT_INET=1)。同居だと逆の結果になる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MTU の確認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ping -M do -s 1432 は通る / -s 1472 は通らない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5MB 転送の合否は run-checks.sh に任せる (curl 単体では遅いと落ちるの区別がつかない)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⑥ 結果を test-matrix.md §5 実績表に記録する。記録しないと次の案件で活きない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検証結果 — 本当にそうなるのか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ここから先は全部「測った値」です。推測と実測を必ず分けて書いてあります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この部の読み方 — 「たぶん」と「測った」を分ける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なぜこの部があるのか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設計どおりに動く、と思って客先に出た結果ハマるのを防ぐため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自宅に検証ラボを組み、実機とシミュレータの両方で 1 つずつ確かめました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何で測ったか(3 つの環境)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仮想ラボ (Proxmox 上に NGN / VNE / BRAS / INET を再現。CPE は OpenWrt)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実機 (Cisco 892FJ を①のアクセス網に物理接続。クライアントは Windows 11 実機)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CML (Cat8000v = 仮想ルータ。892FJ が MAP-E 非対応なので Cisco 実装の確認はこちら)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覚えておいてほしい結論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トラブル再現レシピ 7 件のうち 5 件が「手順書どおりでは想定と違った」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つまり、机上の想定は 7 割方どこかズレます。だから測る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検証ラボの構成(これを会社の VMware にも持ち込みます)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CPE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OpenWrt
または実機 892FJ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RA / DHCPv6-PD
radvd + Kea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MAP-E BR
DS-Lite AFTR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INET-SIM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Web + DNS
模擬インターネット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側 (BRAS) も別に立ててあるので、PPPoE → IPoE の切替そのものを演習できます。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アドレスは全部ドキュメント用 (2001:db8::/32 / 198.51.100.0/24 / 203.0.113.0/24)。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VNE と INET-SIM は必ず別 VM に分けること。同居させると DS-Lite の網側 NAT が効かず、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「疎通するので成功に見えるが、実は経路が違う」という一番タチの悪い状態になります。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実機 Cisco 892FJ で DS-Lite を通した結果(サイクル4)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3108960"/>
                <a:gridCol w="45720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確認したこと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実測値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何を示すか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出口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203.0.113.1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網側 (AFTR) で NAT された = DS-Lite が成立している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ping 203.0.113.80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0% 損失 / TTL=62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Linux の初期値 64 から 2 減 = ルータを 2 つ越えている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1460 (DF 付き 1432B)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トンネル分を引いた MTU が確保できている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1500 (DF 付き 1472B)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192.168.100.1 から Frag Needed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自身が生成 = PMTUD が正常に動いている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5MB ダウンロード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5,242,880 バイト / 1.15 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が効いている (MTU ブラックホールなし)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 と AAAA を正しく応答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ラボ DNS に到達している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クライアントは実機 Windows 11。ip tcp adjust-mss 1420 を入れないと 5MB が完走しません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892FJ で分かった「手順書に書いておかないと必ず詰まる」3 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RA 方式でないと autoconfig は何も取れない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ひかり電話ありの構成 (PD 方式) では radvd がプレフィックスを配らない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症状: No global unicast address is configured。しかも RA 自体は届いている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RA は見えるのにアドレスが付かない。原因に辿り着けない詰まり方をする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classic IOS は MSS clamp が必須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を入れないと、小さいページは見えるのに 5MB が止まる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「Web は見えるがファイルが落ちない」の正体はほぼこれです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CPE が WAN 側にも RA を撒く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ipv6 unicast-routing を入れると、CPE 自身がアクセス網に RA を流し始める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実網でやると上流が CPE をルータとして学習する。ipv6 nd ra suppress all で止める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LAN 側には入れないこと。配下のクライアントが SLAAC できなくなります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詳細: docs/ipoe-lab/runbook-vmware.md §8 (実機手順) / §9-M・§9-N (詰まったとき)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MAP-E の計算は合っていたか(仮想ラボ・サイクル3)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1865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3108960"/>
                <a:gridCol w="274320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計算で出した期待値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実測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判定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共有 IPv4 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198.51.100.10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PSID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使える先頭ポートブロック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4176 - 4191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 (設計値)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実効 16 (OpenWrt の癖)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要注意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MTU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264408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計算どおりに出ます。ただしポート総数だけは CPE の実装に左右されます(次ページ)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Cisco 実装 (IOS XE) で 240 ポートを数えたかった — CML で試した結果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なぜやったか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仮想ラボの OpenWrt では、設計 240 ポートに対し実効 16 しか使えなかった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OpenWrt 固有の癖なのか、MAP-E 一般の話なのかが分からないままだった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は classic IOS で MAP-E 非対応 → CML の Cat8000v (IOS XE 17.15.01a) で確認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組んだ構成 (CML 上に 3 ノード)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client (Ubuntu) — Cat8000v (MAP-E CE) — BR 役 (Ubuntu)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クライアントから送信元ポートを 400 個ばらけさせて UDP を撃ち、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WAN 側リンクをキャプチャして「実際に何個の外側ポートが使われたか」を数える計画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結果: 数えられませんでした。ただし別のことが 2 つ分かりました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MAP-E の設定構文と、IOS XE が導出する値は設計と完全一致した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その設定を入れるとデータプレーンが落ちてルータが再起動する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① IOS XE の MAP-E 設定 — 構文と導出値は設計どおりだった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97280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560320"/>
                <a:gridCol w="3108960"/>
                <a:gridCol w="29260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項目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こちらが与えた値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IOS XE が導出した値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設計値との一致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256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Share-ratio 256 / bits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 長 8 ビット)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4096 (明示)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Start-port 4096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Contiguous-ports 16 / bits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与えていない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Port-offset-bits 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(自動導出)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5 (明示)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Port-set-id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一致 (PSID)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ポート総数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—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15 ブロック × 16 = 240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設計値 240 と一致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share-ratio と start-port だけ与えれば、残りは IOS XE が計算します。手計算と合いました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② 設定は通るのに、データプレーンが落ちる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起きたこと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の設定投入から約 60 秒後に転送エンジン (QFP) が落ちて再起動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%PMAN-0-PROCFAILCRIT: critical process qfp_ucode_c8kv has failed (rc 134)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原因の切り分け (対照実験)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設定なし → 落ちない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map-e domain はあるが port-parameters が構文エラーで入らなかった → 落ちない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port-parameters が通って MAP-E が機能する状態になった → 落ちる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非対応と明記されている /64 の BMR を外し、正しい /56 の 1 本だけにしても落ちる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だから何が言えるか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CML の Cat8000v 17.15.01a では MAP-E の転送は確認できない (設定表示までは正しい)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実機の IOS XE がどうかは、これでは分かりません。断定しないこと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この件の一番の教訓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show コマンドが正しい値を返すことと、実際に転送できることは別物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検証は必ず「パケットを流して測る」ところまでやる。設定確認で終わらせない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バックログ 10 (実効ポート数) は未解決のまま。実機 IOS XE か RTX 等の別 CE が要ります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つまずきの壁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現場で実際に出る質問と答え方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現場で実際に出る質問と、その答え方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って NTT がやってるサービス名ですか?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いや、IP over Ethernet の略。PPP を挟まずに Ethernet に直接 IP を載せる接続方式の名前。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PPPoE は ID/パスワードでセッションを張る工程が入るが、IPoE はそれがない。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つないだら RA か DHCPv6 でアドレスが降ってくる。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 — PPPoE と IPoE が並べて書いてある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「IPoE にすると速い」って営業が言うんですけど、なんで速いんですか?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自体が速いわけじゃない。PPPoE は網終端装置 (NTE) を必ず通り、そこの収容数が決まっていて夕方混む。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はそこを通らない。つまり「速い」の理由はプロトコルではなく通る箱が違うから。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客への説明もこの言い方をする。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それも常に正しくない。IPoE 側の VNE が混んでれば普通に遅い。「IPoE にしたのに遅い」案件は実在する。だから「速くなります」と言い切らないこと。約束すると後で詰められる。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付録 A.3 (p.443)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IPv6 にしたら IPv4 は使えなくなるんですか?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ならない。IPoE でも IPv4 は使える。ただし IPv6 のトンネルの中を通る (MAP-E / DS-Lite)。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だから「IPv4 の通信が IPv6 に依存する」という新しい壊れ方が生まれる。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側が不調なら IPv4 も道連れになる、という点が PPPoE 時代と決定的に違う。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21.1 共存技術のバリエーション (p.381) / 第24章 (p.421)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/64 とか /56 の数字は何ですか? IPv4 の /24 みたいなもの?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考え方は同じ (前から何ビットがネットワーク部か)。ただ運用の感覚が全然違う。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は「アドレスを 1 個もらう」、IPv6 は「プレフィックスを 1 個もらって中を自分で切る」。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/56 をもらえば /64 が 256 個。SLAAC を使う限りホスト部は 64 ビット。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3.12 ユーザへの IPv6 アドレス割り当て (p.89) / 7.1 SLAAC の流れ (p.160)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fe80:: のアドレスがいっぱい出てくるんですが、消していいですか?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消したら通信が全部死ぬ。リンクローカルアドレスといって、同じリンク内だけで使う。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IPv6 のルーティングも近隣探索も、実はこれを使って動いている。RA の送信元も fe80::。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IPv4 の 169.254.x.x とは役割が全然違う (あっちは DHCP 失敗時の敗戦処理)。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3.5 リンクローカルユニキャストアドレス (p.74) / 第6章 (p.127)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tcpdump に ICMPv6 がめちゃくちゃ流れてるんですが、攻撃されてます?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正常。IPv6 では ICMPv6 がプロトコルの本体機能を担っている。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ARP の代わり (NS/NA)、ルータ広告 (RS/RA)、Path MTU 通知、全部 ICMPv6。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だから ICMPv6 を全部 drop するファイアウォール設定は IPv6 を壊す。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逆に「全許可」も間違い。RFC 4890 相当の選別が必要。「ICMP を落とすと MTU 探索が壊れる」原理は v4/v6 共通で、このラボの R5 は IPv4 側 (ICMPv4 Fragmentation-Needed) で再現している。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14.9 ICMPv6 を無条件にすべてフィルタリングすべきではない (p.279) / ラボ R5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MAP-E の「ポートが制限される」って、何個使えるんですか?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方式のパラメータ次第。ラボの設定 (ea-len 16 / psid-len 8 / psid-offset 4) だと 240 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16 ポート × 15 ブロックで、連続していない。計算は 3-2 / 3-3 のスライド。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「4176〜8000 の範囲」のように連続だと思って NAT 設定を書くと動かない。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240 は少ない。ブラウザは 1 タブで数十本張る。台数の多い拠点や監視系がいると足りなくなる。「MAP-E だから大丈夫」ではなく、拠点の同時セッション数を実測してから方式を決めること。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24.3 A+P (p.423) / 24.4 (p.425) / ラボ R12 で必ず一度失敗させる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客先で「ポート開放して」と言われました。IPoE でもできますよね?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方式を先に確認する。MAP-E なら自分のポート集合の中でのみ可 (80/443 は基本無理)。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DS-Lite なら不可。NAT が網側 (AFTR) にあり、利用者からそれを操作する手段が提供されていない。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代替は固定 IP 系サービスか PPPoE 併用。聞かずに「できます」と答えると案件が炎上する。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24.1 DS-Lite (p.421) / 19.4 IPv4 アドレス共有技術の課題 (p.362) / ラボ R4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切替後に「Web は見えるけど添付ファイルが送れない」と言われました。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MTU を疑う。トンネルでヘッダが増えるので素の 1500 では通らない (引き算は 3-5)。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小さいパケットは通るので「見えるけど大きいものが落ちる」という症状になる。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一手は TCP MSS clamp か CPE の MTU 手動設定 (1460 等)。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第10章 (p.215) / 9.2 (p.208) / ラボ R5, R11 (/big.bin 5MB で再現)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ACC"/>
                </a:solidFill>
                <a:latin typeface="Meiryo UI"/>
              </a:rPr>
              <a:t>つまずきの壁 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1155680" cy="960120"/>
          </a:xfrm>
          <a:prstGeom prst="rect">
            <a:avLst/>
          </a:prstGeom>
          <a:solidFill>
            <a:srgbClr val="EFF5FA"/>
          </a:solidFill>
          <a:ln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91440"/>
          <a:lstStyle/>
          <a:p>
            <a:pPr algn="l"/>
            <a:r>
              <a:rPr sz="1600" b="1">
                <a:solidFill>
                  <a:srgbClr val="007ACC"/>
                </a:solidFill>
                <a:latin typeface="Meiryo UI"/>
              </a:rPr>
              <a:t>生徒: </a:t>
            </a:r>
            <a:r>
              <a:rPr sz="1600" b="0">
                <a:solidFill>
                  <a:srgbClr val="1F3355"/>
                </a:solidFill>
                <a:latin typeface="Meiryo UI"/>
              </a:rPr>
              <a:t>IPoE にしたらセキュリティは上がりますか?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355"/>
                </a:solidFill>
                <a:latin typeface="Meiryo UI"/>
              </a:rPr>
              <a:t>先生: </a:t>
            </a:r>
            <a:r>
              <a:rPr sz="1600" b="0">
                <a:solidFill>
                  <a:srgbClr val="1F3355"/>
                </a:solidFill>
                <a:latin typeface="Meiryo UI"/>
              </a:rPr>
              <a:t>下がる可能性がある。PPPoE + IPv4 NAT では「NAT があるから外から入れない」状態だったのが、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IPoE で各端末にグローバル IPv6 が付くと、外から直接到達しうる。</a:t>
            </a:r>
          </a:p>
          <a:p>
            <a:pPr lvl="1"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ファイアウォール設定が入っているかを必ず確認する。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4617720"/>
            <a:ext cx="10881360" cy="1051560"/>
          </a:xfrm>
          <a:prstGeom prst="rect">
            <a:avLst/>
          </a:prstGeom>
          <a:solidFill>
            <a:srgbClr val="FDF1EF"/>
          </a:solidFill>
          <a:ln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tIns="73152"/>
          <a:lstStyle/>
          <a:p>
            <a:pPr algn="l"/>
            <a:r>
              <a:rPr sz="1300" b="1">
                <a:solidFill>
                  <a:srgbClr val="C0392B"/>
                </a:solidFill>
                <a:latin typeface="Meiryo UI"/>
              </a:rPr>
              <a:t>対立意見(懐疑的な同僚): </a:t>
            </a:r>
            <a:r>
              <a:rPr sz="1300" b="0">
                <a:solidFill>
                  <a:srgbClr val="555555"/>
                </a:solidFill>
                <a:latin typeface="Meiryo UI"/>
              </a:rPr>
              <a:t>とはいえ「NAT はセキュリティ機能ではない」というのも教科書の立場。NAT に守られていたつもりだっただけ。この誤解をそのまま客に共有すると後々困る。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978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教科書 / ラボ: 14.1 IPv6 は IPv4 よりもセキュアというわけではない (p.263) / 14.7 (p.278) / ラボ R13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用語の対訳表 — 同じものが 3 通りの呼び方で出てくる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3566160"/>
                <a:gridCol w="365760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教科書の用語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現場でよく言う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機器 / 画面での表記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近隣探索プロトコル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ND、ネイバーディスカバリ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Neighbor Discovery / ipv6 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Router Advertisement メッセージ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RA、ルータ広告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/ ipv6 nd ra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プレフィックス、接頭辞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prefix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(IPv6 アドレスの自動設定)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方式、ステートレス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SLAAC / autoconfig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DHCPv6-PD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PD 方式、プレフィックス委任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IA_PD / ipv6 dhcp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ドゥーイド、クライアント識別子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DUID-LL / DUID-LLT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リンクローカルユニキャストアドレス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リンクローカル、fe80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link-local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IPv4/IPv6 共存技術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IPv4 over IPv6、v4v6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transition technology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マップイー、v6 プラス系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/ nat64 map-e (IOS XE)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ディーエスライト、transix 系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A+P (ポートセット)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ポート制限、PSID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port-set / PSID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 / B4 / BR / AFTR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宅内側 / 網側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CE, B4 (宅内) / BR, AFTR (網側)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 MTU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PMTUD、MTU 探索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path-mtu-discovery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5157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※ v6プラス / transix / クロスパス / IPv6オプション は「サービス名」。方式名ではない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トラブル再現レシピ → 読むべき節と、現場の対処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115568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0"/>
                <a:gridCol w="265176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レシピ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現象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教科書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eiryo UI"/>
                        </a:rPr>
                        <a:t>対処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RA 方式なのに PD 前提設定 (最頻出)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7.1-7.7 / 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ヒアリング#1 やり直し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セッション残留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ISP に強制切断依頼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MAP-E ポート制限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 / 19.4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使用ポートを範囲内に寄せる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DS-Lite でポート開放不可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24.1 / 19.3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方式変更 / 固定IP / PPPoE併用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MTU ブラックホール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第10章 / 9.2 / 14.9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MSS clamp / MTU 手動設定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DNS フォールバック遅延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17.2 / 15.3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AAAA を止める / v6 経路を直す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二重終端 (HGW + 配下ルータ)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付録B / 13.2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どちらで終端するか設計で確定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R8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v6 オプション未契約相当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付録A.2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契約状態確認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プレフィックス変更で LAN が追従しない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7.8 / 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固定前提の設計をやめる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PPPoE 併用時の経路非対称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13.1 / 13.2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経路とアドレス選択を明示設定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起因の片方向断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4.3 / 22.7 / 14.10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encaplimit none にする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R12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ポートセット非連続を無視した NAT 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24.3 / 24.4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ポート集合を計算し直す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R13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IPoE 化による外→内 IPv6 直接着信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第14章 / 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F3355"/>
                          </a:solidFill>
                          <a:latin typeface="Meiryo UI"/>
                        </a:rPr>
                        <a:t>CPE の v6 FW を確認・有効化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5157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レシピ本体: docs/ipoe-lab/test-matrix.md §4 (全 13 種)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教科書とラボの関係 (MAP-E のインタフェース識別子)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第2版第2刷の更新履歴に「MAP-E のインタフェース識別子を RFC 7597 準拠に」修正の記載がある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ラボの既定も RFC 7597。つまり教科書と一致している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setup-map-br.sh の CE_MAP_ADDR は RFC 7597 の IID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食い違うのは実サービス側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日本の VNE は draft-ietf-softwire-map-03 互換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実案件のリハーサル時だけ option legacymap '1' を立て、CE_MAP_ADDR を再計算する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ラボ既定のまま legacymap '1' を入れると BR とアドレスが合わず MAP-E が全断する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伝え方: 「教科書どおり (RFC 7597) で動くのがラボ。実サービスは draft-03」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RFC = 確定した仕様、draft = 確定前の草案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日本の VNE は草案のまま製品化されて普及した、という経緯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詳細: build.md §3 のコメント / research-notes.md §2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こういう食い違いは IPv6 の世界では珍しくない。だから検証環境が必要になる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修了確認 — 理由付きで答えられるか (5問)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1. ひかり電話ありの案件。CPE の IPv6 設定はどうするか。その前に確認すべきことは何か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(HGW の有無と型番 → HGW と配下ルータのどちらで終端するかを設計で決める。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ひかり電話あり → 即 PD 設定は二重終端 R7 を作る)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2. 「Minecraft サーバ (TCP 25565) を公開したい」。まず何を確認するか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だったとき、25565 が自分の 240 ポートの集合に入る見込みはどれくらいか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3. 「切替後、Web は見えるが大きいファイルが送れない」。何を疑い、どう直すか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4. ICMPv6 を全部 deny した。何が壊れるか 2 つ挙げよ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5. IPoE 化で PC に付いたグローバル IPv6。セキュリティ上、何を確認するか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答えの暗記が目的ではない。「どの節・どのファイルを見ればいいか」が分かれば合格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現場では調べる時間がある。調べる先が分からないことが事故を生む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参考資料 / 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教科書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小川晃通『プロフェッショナル IPv6 第2版』ラムダノート, 2021年12月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(第2刷 2023年3月) CC BY-NC-SA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節番号は刷でずれないが、ページ番号はずれ得る。参照は節番号+節タイトルを主キーに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※ 教科書の本文・図版はこのスライドに貼らないこと (NC / SA 条項)。社内限定資料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社内資料 (本リポジトリ)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docs/ipoe-lab/study-guide.md … 本スライドの正本。対応表と計算例の全量はこちら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docs/ipoe-lab/README.md … ラボ全体設計・アドレス計画 (パラメータの正本)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docs/ipoe-lab/build.md … 構築手順・モード別期待値表 (パラメータの正本)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docs/ipoe-lab/test-matrix.md … ヒアリングシート / マトリクス / レシピ R1-R13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docs/ipoe-lab/research-notes.md … 実サービスのパラメータ、既知の落とし穴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docs/ipoe-lab/runbook-vmware.md … 社内 VMware 用 (執筆前)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このスライドの再生成 (リポジトリのルートから)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python3 docs/ipoe-lab/slides/build-toranomaki.py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