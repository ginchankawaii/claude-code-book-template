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【講師へ — 実施前に必ず読むこと】</a:t>
            </a:r>
          </a:p>
          <a:p>
            <a:r>
              <a:t>◆ 使える部分: 教科書との対応表 / 用語集 / つまずきの壁 Q&amp;A (ラボの状態に依存しない)</a:t>
            </a:r>
          </a:p>
          <a:p>
            <a:r>
              <a:t>◆ まだ確定していない部分:</a:t>
            </a:r>
          </a:p>
          <a:p>
            <a:r>
              <a:t>  ・**時間配分は仮案。実測していない。**休憩・質疑の余白が無いので、そのままだと溢れる。</a:t>
            </a:r>
          </a:p>
          <a:p>
            <a:r>
              <a:t>◆ ラボの状態: サイクル 1〜7 実走済み。R1〜R6 / D1 の 7 件も実測完了。</a:t>
            </a:r>
          </a:p>
          <a:p>
            <a:r>
              <a:t>  実機 Cisco 892FJ での DS-Lite も実測済み。runbook-vmware.md は執筆済み。</a:t>
            </a:r>
          </a:p>
          <a:p>
            <a:r>
              <a:t>◆ 配布前にやること:</a:t>
            </a:r>
          </a:p>
          <a:p>
            <a:r>
              <a:t>  ・proxmox-prototype.md §0.5 → §2 → §5 を一巡する</a:t>
            </a:r>
          </a:p>
          <a:p>
            <a:r>
              <a:t>  ・test-matrix §4 の「⚠ 実測」注記を必ず読む (5 件が想定と違った)</a:t>
            </a:r>
          </a:p>
          <a:p>
            <a:r>
              <a:t>  ・**第1回はパイロット実施。**実測が取れるまで第2回以降の日程を確定しない</a:t>
            </a:r>
          </a:p>
          <a:p>
            <a:r>
              <a:t>  ・教科書の節番号・ページ番号を実物と照合する (未実施)</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【講師へ】</a:t>
            </a:r>
          </a:p>
          <a:p>
            <a:r>
              <a:t>・**生徒役は若手にやらせること。**講師が両方やると聞き流される。</a:t>
            </a:r>
          </a:p>
          <a:p>
            <a:r>
              <a:t>・時間割の外。各回の後ろに +15〜20 分で回す。</a:t>
            </a:r>
          </a:p>
          <a:p>
            <a:r>
              <a:t>・全部やらない。その回で出た質問に近いものを 2〜3 個選ぶ。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463040"/>
            <a:ext cx="11064240" cy="1280160"/>
          </a:xfrm>
          <a:prstGeom prst="rect">
            <a:avLst/>
          </a:prstGeom>
          <a:noFill/>
        </p:spPr>
        <p:txBody>
          <a:bodyPr wrap="square">
            <a:spAutoFit/>
          </a:bodyPr>
          <a:lstStyle/>
          <a:p>
            <a:pPr algn="l"/>
            <a:r>
              <a:rPr sz="4000" b="1">
                <a:solidFill>
                  <a:srgbClr val="1F3355"/>
                </a:solidFill>
                <a:latin typeface="Meiryo UI"/>
              </a:rPr>
              <a:t>IPv6 / IPoE 虎の巻</a:t>
            </a:r>
          </a:p>
          <a:p>
            <a:pPr algn="l"/>
            <a:r>
              <a:rPr sz="1800" b="0">
                <a:solidFill>
                  <a:srgbClr val="007ACC"/>
                </a:solidFill>
                <a:latin typeface="Meiryo UI"/>
              </a:rPr>
              <a:t>PPPoE → IPoE 切替でトラブらないための 3 回シリーズ</a:t>
            </a:r>
          </a:p>
        </p:txBody>
      </p:sp>
      <p:sp>
        <p:nvSpPr>
          <p:cNvPr id="3" name="TextBox 2"/>
          <p:cNvSpPr txBox="1"/>
          <p:nvPr/>
        </p:nvSpPr>
        <p:spPr>
          <a:xfrm>
            <a:off x="640080" y="3108960"/>
            <a:ext cx="10972800" cy="2743200"/>
          </a:xfrm>
          <a:prstGeom prst="rect">
            <a:avLst/>
          </a:prstGeom>
          <a:noFill/>
        </p:spPr>
        <p:txBody>
          <a:bodyPr wrap="square">
            <a:spAutoFit/>
          </a:bodyPr>
          <a:lstStyle/>
          <a:p>
            <a:pPr algn="l">
              <a:spcAft>
                <a:spcPts val="800"/>
              </a:spcAft>
            </a:pPr>
            <a:r>
              <a:rPr sz="1400" b="0">
                <a:solidFill>
                  <a:srgbClr val="555555"/>
                </a:solidFill>
                <a:latin typeface="Meiryo UI"/>
              </a:rPr>
              <a:t>対象: IPv6 をほとんど触ったことがない若手 (支店配属 1〜3 年目想定)</a:t>
            </a:r>
          </a:p>
          <a:p>
            <a:pPr algn="l">
              <a:spcAft>
                <a:spcPts val="800"/>
              </a:spcAft>
            </a:pPr>
            <a:r>
              <a:rPr sz="1400" b="0">
                <a:solidFill>
                  <a:srgbClr val="555555"/>
                </a:solidFill>
                <a:latin typeface="Meiryo UI"/>
              </a:rPr>
              <a:t>教科書: 小川晃通『プロフェッショナル IPv6 第2版』(ラムダノート / CC BY-NC-SA)</a:t>
            </a:r>
          </a:p>
          <a:p>
            <a:pPr algn="l">
              <a:spcAft>
                <a:spcPts val="800"/>
              </a:spcAft>
            </a:pPr>
            <a:r>
              <a:rPr sz="1400" b="0">
                <a:solidFill>
                  <a:srgbClr val="555555"/>
                </a:solidFill>
                <a:latin typeface="Meiryo UI"/>
              </a:rPr>
              <a:t>検証環境: IPoE 検証ラボ (自宅で構築・実走済み。社内 VMware へ展開予定)</a:t>
            </a:r>
          </a:p>
          <a:p>
            <a:pPr algn="l">
              <a:spcAft>
                <a:spcPts val="800"/>
              </a:spcAft>
            </a:pPr>
            <a:r>
              <a:rPr sz="1400" b="0">
                <a:solidFill>
                  <a:srgbClr val="555555"/>
                </a:solidFill>
                <a:latin typeface="Meiryo UI"/>
              </a:rPr>
              <a:t/>
            </a:r>
          </a:p>
          <a:p>
            <a:pPr algn="l">
              <a:spcAft>
                <a:spcPts val="800"/>
              </a:spcAft>
            </a:pPr>
            <a:r>
              <a:rPr sz="1400" b="0">
                <a:solidFill>
                  <a:srgbClr val="555555"/>
                </a:solidFill>
                <a:latin typeface="Meiryo UI"/>
              </a:rPr>
              <a:t>進め方: ラボで壊す → 「なんで?」が生まれる → 教科書の該当節を読む → もう一度ラボ</a:t>
            </a:r>
          </a:p>
          <a:p>
            <a:pPr algn="l">
              <a:spcAft>
                <a:spcPts val="800"/>
              </a:spcAft>
            </a:pPr>
            <a:r>
              <a:rPr sz="1400" b="0">
                <a:solidFill>
                  <a:srgbClr val="555555"/>
                </a:solidFill>
                <a:latin typeface="Meiryo UI"/>
              </a:rPr>
              <a:t/>
            </a:r>
          </a:p>
          <a:p>
            <a:pPr algn="l">
              <a:spcAft>
                <a:spcPts val="800"/>
              </a:spcAft>
            </a:pPr>
            <a:r>
              <a:rPr sz="1400" b="0">
                <a:solidFill>
                  <a:srgbClr val="555555"/>
                </a:solidFill>
                <a:latin typeface="Meiryo UI"/>
              </a:rPr>
              <a:t>社内限定資料。教科書の本文・図版は貼らず、該当ページを各自開いてください。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この勉強会の目的</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1000"/>
              </a:spcAft>
            </a:pPr>
            <a:r>
              <a:rPr sz="2000" b="1">
                <a:solidFill>
                  <a:srgbClr val="1F3355"/>
                </a:solidFill>
                <a:latin typeface="Meiryo UI"/>
              </a:rPr>
              <a:t>PPPoE → IPoE 切替案件が増えている。しかしトラブルも増えている</a:t>
            </a:r>
          </a:p>
          <a:p>
            <a:pPr lvl="1" algn="l">
              <a:spcAft>
                <a:spcPts val="600"/>
              </a:spcAft>
            </a:pPr>
            <a:r>
              <a:rPr sz="1700" b="0">
                <a:solidFill>
                  <a:srgbClr val="555555"/>
                </a:solidFill>
                <a:latin typeface="Meiryo UI"/>
              </a:rPr>
              <a:t>組み合わせが多い: IPv6 配布方式 × IPv4 over IPv6 方式 × CPE 機種 × 構成</a:t>
            </a:r>
          </a:p>
          <a:p>
            <a:pPr lvl="1" algn="l">
              <a:spcAft>
                <a:spcPts val="600"/>
              </a:spcAft>
            </a:pPr>
            <a:r>
              <a:rPr sz="1700" b="1">
                <a:solidFill>
                  <a:srgbClr val="C0392B"/>
                </a:solidFill>
                <a:latin typeface="Meiryo UI"/>
              </a:rPr>
              <a:t>「やってみたら動かない」を客先で起こしている</a:t>
            </a:r>
          </a:p>
          <a:p>
            <a:pPr algn="l">
              <a:spcAft>
                <a:spcPts val="1000"/>
              </a:spcAft>
            </a:pPr>
            <a:r>
              <a:rPr sz="2000" b="1">
                <a:solidFill>
                  <a:srgbClr val="1F3355"/>
                </a:solidFill>
                <a:latin typeface="Meiryo UI"/>
              </a:rPr>
              <a:t>原因は知識の欠落ではなく、原理を見たことがないこと</a:t>
            </a:r>
          </a:p>
          <a:p>
            <a:pPr lvl="1" algn="l">
              <a:spcAft>
                <a:spcPts val="600"/>
              </a:spcAft>
            </a:pPr>
            <a:r>
              <a:rPr sz="1700" b="0">
                <a:solidFill>
                  <a:srgbClr val="555555"/>
                </a:solidFill>
                <a:latin typeface="Meiryo UI"/>
              </a:rPr>
              <a:t>RA も DHCPv6-PD も MAP-E も、パケットを一度見れば腹に落ちる</a:t>
            </a:r>
          </a:p>
          <a:p>
            <a:pPr lvl="1" algn="l">
              <a:spcAft>
                <a:spcPts val="600"/>
              </a:spcAft>
            </a:pPr>
            <a:r>
              <a:rPr sz="1700" b="0">
                <a:solidFill>
                  <a:srgbClr val="555555"/>
                </a:solidFill>
                <a:latin typeface="Meiryo UI"/>
              </a:rPr>
              <a:t>だから「検証環境 × 教科書」でやる。座学だけ / 手順書だけ、では身に付かない</a:t>
            </a:r>
          </a:p>
          <a:p>
            <a:pPr algn="l">
              <a:spcAft>
                <a:spcPts val="1000"/>
              </a:spcAft>
            </a:pPr>
            <a:r>
              <a:rPr sz="2000" b="1">
                <a:solidFill>
                  <a:srgbClr val="1F3355"/>
                </a:solidFill>
                <a:latin typeface="Meiryo UI"/>
              </a:rPr>
              <a:t>3 回終わったときにできるようになること</a:t>
            </a:r>
          </a:p>
          <a:p>
            <a:pPr lvl="1" algn="l">
              <a:spcAft>
                <a:spcPts val="600"/>
              </a:spcAft>
            </a:pPr>
            <a:r>
              <a:rPr sz="1700" b="0">
                <a:solidFill>
                  <a:srgbClr val="555555"/>
                </a:solidFill>
                <a:latin typeface="Meiryo UI"/>
              </a:rPr>
              <a:t>ひかり電話の有無と「どこで終端するか」の 2 段で方式を選べる</a:t>
            </a:r>
          </a:p>
          <a:p>
            <a:pPr lvl="1" algn="l">
              <a:spcAft>
                <a:spcPts val="600"/>
              </a:spcAft>
            </a:pPr>
            <a:r>
              <a:rPr sz="1700" b="0">
                <a:solidFill>
                  <a:srgbClr val="555555"/>
                </a:solidFill>
                <a:latin typeface="Meiryo UI"/>
              </a:rPr>
              <a:t>「ポート開放できますか?」に方式を聞いて即答できる</a:t>
            </a:r>
          </a:p>
          <a:p>
            <a:pPr lvl="1" algn="l">
              <a:spcAft>
                <a:spcPts val="600"/>
              </a:spcAft>
            </a:pPr>
            <a:r>
              <a:rPr sz="1700" b="0">
                <a:solidFill>
                  <a:srgbClr val="555555"/>
                </a:solidFill>
                <a:latin typeface="Meiryo UI"/>
              </a:rPr>
              <a:t>「Web は見えるがファイルが送れない」を切り分けて、直し方まで言える</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正本: docs/ipoe-lab/study-guide.md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全体の流れ</a:t>
            </a:r>
          </a:p>
        </p:txBody>
      </p:sp>
      <p:graphicFrame>
        <p:nvGraphicFramePr>
          <p:cNvPr id="3" name="Table 2"/>
          <p:cNvGraphicFramePr>
            <a:graphicFrameLocks noGrp="1"/>
          </p:cNvGraphicFramePr>
          <p:nvPr/>
        </p:nvGraphicFramePr>
        <p:xfrm>
          <a:off x="502920" y="1143000"/>
          <a:ext cx="11155680" cy="2487168"/>
        </p:xfrm>
        <a:graphic>
          <a:graphicData uri="http://schemas.openxmlformats.org/drawingml/2006/table">
            <a:tbl>
              <a:tblPr>
                <a:tableStyleId>{5C22544A-7EE6-4342-B048-85BDC9FD1C3A}</a:tableStyleId>
              </a:tblPr>
              <a:tblGrid>
                <a:gridCol w="1005840"/>
                <a:gridCol w="5760720"/>
                <a:gridCol w="2194560"/>
                <a:gridCol w="2194560"/>
              </a:tblGrid>
              <a:tr h="310896">
                <a:tc>
                  <a:txBody>
                    <a:bodyPr/>
                    <a:lstStyle/>
                    <a:p>
                      <a:pPr algn="l"/>
                      <a:r>
                        <a:rPr sz="1400" b="1">
                          <a:solidFill>
                            <a:srgbClr val="FFFFFF"/>
                          </a:solidFill>
                          <a:latin typeface="Meiryo UI"/>
                        </a:rPr>
                        <a:t>回 / 部</a:t>
                      </a:r>
                    </a:p>
                  </a:txBody>
                  <a:tcPr>
                    <a:solidFill>
                      <a:srgbClr val="1F3355"/>
                    </a:solidFill>
                  </a:tcPr>
                </a:tc>
                <a:tc>
                  <a:txBody>
                    <a:bodyPr/>
                    <a:lstStyle/>
                    <a:p>
                      <a:pPr algn="l"/>
                      <a:r>
                        <a:rPr sz="1400" b="1">
                          <a:solidFill>
                            <a:srgbClr val="FFFFFF"/>
                          </a:solidFill>
                          <a:latin typeface="Meiryo UI"/>
                        </a:rPr>
                        <a:t>テーマ</a:t>
                      </a:r>
                    </a:p>
                  </a:txBody>
                  <a:tcPr>
                    <a:solidFill>
                      <a:srgbClr val="1F3355"/>
                    </a:solidFill>
                  </a:tcPr>
                </a:tc>
                <a:tc>
                  <a:txBody>
                    <a:bodyPr/>
                    <a:lstStyle/>
                    <a:p>
                      <a:pPr algn="l"/>
                      <a:r>
                        <a:rPr sz="1400" b="1">
                          <a:solidFill>
                            <a:srgbClr val="FFFFFF"/>
                          </a:solidFill>
                          <a:latin typeface="Meiryo UI"/>
                        </a:rPr>
                        <a:t>教科書</a:t>
                      </a:r>
                    </a:p>
                  </a:txBody>
                  <a:tcPr>
                    <a:solidFill>
                      <a:srgbClr val="1F3355"/>
                    </a:solidFill>
                  </a:tcPr>
                </a:tc>
                <a:tc>
                  <a:txBody>
                    <a:bodyPr/>
                    <a:lstStyle/>
                    <a:p>
                      <a:pPr algn="l"/>
                      <a:r>
                        <a:rPr sz="1400" b="1">
                          <a:solidFill>
                            <a:srgbClr val="FFFFFF"/>
                          </a:solidFill>
                          <a:latin typeface="Meiryo UI"/>
                        </a:rPr>
                        <a:t>ラボ演習</a:t>
                      </a:r>
                    </a:p>
                  </a:txBody>
                  <a:tcPr>
                    <a:solidFill>
                      <a:srgbClr val="1F3355"/>
                    </a:solidFill>
                  </a:tcPr>
                </a:tc>
              </a:tr>
              <a:tr h="310896">
                <a:tc>
                  <a:txBody>
                    <a:bodyPr/>
                    <a:lstStyle/>
                    <a:p>
                      <a:pPr algn="l"/>
                      <a:r>
                        <a:rPr sz="1300" b="0">
                          <a:solidFill>
                            <a:srgbClr val="1F3355"/>
                          </a:solidFill>
                          <a:latin typeface="Meiryo UI"/>
                        </a:rPr>
                        <a:t>第0〜2部</a:t>
                      </a:r>
                    </a:p>
                  </a:txBody>
                  <a:tcPr>
                    <a:solidFill>
                      <a:srgbClr val="FFFFFF"/>
                    </a:solidFill>
                  </a:tcPr>
                </a:tc>
                <a:tc>
                  <a:txBody>
                    <a:bodyPr/>
                    <a:lstStyle/>
                    <a:p>
                      <a:pPr algn="l"/>
                      <a:r>
                        <a:rPr sz="1300" b="0">
                          <a:solidFill>
                            <a:srgbClr val="1F3355"/>
                          </a:solidFill>
                          <a:latin typeface="Meiryo UI"/>
                        </a:rPr>
                        <a:t>全体像 → IPv6 そのもの → 日本の回線 (座学・導入)</a:t>
                      </a:r>
                    </a:p>
                  </a:txBody>
                  <a:tcPr>
                    <a:solidFill>
                      <a:srgbClr val="FFFFFF"/>
                    </a:solidFill>
                  </a:tcPr>
                </a:tc>
                <a:tc>
                  <a:txBody>
                    <a:bodyPr/>
                    <a:lstStyle/>
                    <a:p>
                      <a:pPr algn="l"/>
                      <a:r>
                        <a:rPr sz="1300" b="0">
                          <a:solidFill>
                            <a:srgbClr val="1F3355"/>
                          </a:solidFill>
                          <a:latin typeface="Meiryo UI"/>
                        </a:rPr>
                        <a:t>1,2,3,5,7章</a:t>
                      </a:r>
                    </a:p>
                  </a:txBody>
                  <a:tcPr>
                    <a:solidFill>
                      <a:srgbClr val="FFFFFF"/>
                    </a:solidFill>
                  </a:tcPr>
                </a:tc>
                <a:tc>
                  <a:txBody>
                    <a:bodyPr/>
                    <a:lstStyle/>
                    <a:p>
                      <a:pPr algn="l"/>
                      <a:r>
                        <a:rPr sz="1300" b="0">
                          <a:solidFill>
                            <a:srgbClr val="1F3355"/>
                          </a:solidFill>
                          <a:latin typeface="Meiryo UI"/>
                        </a:rPr>
                        <a:t>—</a:t>
                      </a:r>
                    </a:p>
                  </a:txBody>
                  <a:tcPr>
                    <a:solidFill>
                      <a:srgbClr val="FFFFFF"/>
                    </a:solidFill>
                  </a:tcPr>
                </a:tc>
              </a:tr>
              <a:tr h="310896">
                <a:tc>
                  <a:txBody>
                    <a:bodyPr/>
                    <a:lstStyle/>
                    <a:p>
                      <a:pPr algn="l"/>
                      <a:r>
                        <a:rPr sz="1300" b="0">
                          <a:solidFill>
                            <a:srgbClr val="1F3355"/>
                          </a:solidFill>
                          <a:latin typeface="Meiryo UI"/>
                        </a:rPr>
                        <a:t>第1回</a:t>
                      </a:r>
                    </a:p>
                  </a:txBody>
                  <a:tcPr>
                    <a:solidFill>
                      <a:srgbClr val="F2F6FA"/>
                    </a:solidFill>
                  </a:tcPr>
                </a:tc>
                <a:tc>
                  <a:txBody>
                    <a:bodyPr/>
                    <a:lstStyle/>
                    <a:p>
                      <a:pPr algn="l"/>
                      <a:r>
                        <a:rPr sz="1300" b="0">
                          <a:solidFill>
                            <a:srgbClr val="1F3355"/>
                          </a:solidFill>
                          <a:latin typeface="Meiryo UI"/>
                        </a:rPr>
                        <a:t>なんで IPv6 に変えなきゃいけないの?</a:t>
                      </a:r>
                    </a:p>
                  </a:txBody>
                  <a:tcPr>
                    <a:solidFill>
                      <a:srgbClr val="F2F6FA"/>
                    </a:solidFill>
                  </a:tcPr>
                </a:tc>
                <a:tc>
                  <a:txBody>
                    <a:bodyPr/>
                    <a:lstStyle/>
                    <a:p>
                      <a:pPr algn="l"/>
                      <a:r>
                        <a:rPr sz="1300" b="0">
                          <a:solidFill>
                            <a:srgbClr val="1F3355"/>
                          </a:solidFill>
                          <a:latin typeface="Meiryo UI"/>
                        </a:rPr>
                        <a:t>1, 2, 18章</a:t>
                      </a:r>
                    </a:p>
                  </a:txBody>
                  <a:tcPr>
                    <a:solidFill>
                      <a:srgbClr val="F2F6FA"/>
                    </a:solidFill>
                  </a:tcPr>
                </a:tc>
                <a:tc>
                  <a:txBody>
                    <a:bodyPr/>
                    <a:lstStyle/>
                    <a:p>
                      <a:pPr algn="l"/>
                      <a:r>
                        <a:rPr sz="1300" b="0">
                          <a:solidFill>
                            <a:srgbClr val="1F3355"/>
                          </a:solidFill>
                          <a:latin typeface="Meiryo UI"/>
                        </a:rPr>
                        <a:t>演習 1-A</a:t>
                      </a:r>
                    </a:p>
                  </a:txBody>
                  <a:tcPr>
                    <a:solidFill>
                      <a:srgbClr val="F2F6FA"/>
                    </a:solidFill>
                  </a:tcPr>
                </a:tc>
              </a:tr>
              <a:tr h="310896">
                <a:tc>
                  <a:txBody>
                    <a:bodyPr/>
                    <a:lstStyle/>
                    <a:p>
                      <a:pPr algn="l"/>
                      <a:r>
                        <a:rPr sz="1300" b="0">
                          <a:solidFill>
                            <a:srgbClr val="1F3355"/>
                          </a:solidFill>
                          <a:latin typeface="Meiryo UI"/>
                        </a:rPr>
                        <a:t>第2回</a:t>
                      </a:r>
                    </a:p>
                  </a:txBody>
                  <a:tcPr>
                    <a:solidFill>
                      <a:srgbClr val="FFFFFF"/>
                    </a:solidFill>
                  </a:tcPr>
                </a:tc>
                <a:tc>
                  <a:txBody>
                    <a:bodyPr/>
                    <a:lstStyle/>
                    <a:p>
                      <a:pPr algn="l"/>
                      <a:r>
                        <a:rPr sz="1300" b="0">
                          <a:solidFill>
                            <a:srgbClr val="1F3355"/>
                          </a:solidFill>
                          <a:latin typeface="Meiryo UI"/>
                        </a:rPr>
                        <a:t>アドレスはどうやって降ってくるのか (最重要)</a:t>
                      </a:r>
                    </a:p>
                  </a:txBody>
                  <a:tcPr>
                    <a:solidFill>
                      <a:srgbClr val="FFFFFF"/>
                    </a:solidFill>
                  </a:tcPr>
                </a:tc>
                <a:tc>
                  <a:txBody>
                    <a:bodyPr/>
                    <a:lstStyle/>
                    <a:p>
                      <a:pPr algn="l"/>
                      <a:r>
                        <a:rPr sz="1300" b="0">
                          <a:solidFill>
                            <a:srgbClr val="1F3355"/>
                          </a:solidFill>
                          <a:latin typeface="Meiryo UI"/>
                        </a:rPr>
                        <a:t>6, 7, 8章, 付録B</a:t>
                      </a:r>
                    </a:p>
                  </a:txBody>
                  <a:tcPr>
                    <a:solidFill>
                      <a:srgbClr val="FFFFFF"/>
                    </a:solidFill>
                  </a:tcPr>
                </a:tc>
                <a:tc>
                  <a:txBody>
                    <a:bodyPr/>
                    <a:lstStyle/>
                    <a:p>
                      <a:pPr algn="l"/>
                      <a:r>
                        <a:rPr sz="1300" b="0">
                          <a:solidFill>
                            <a:srgbClr val="1F3355"/>
                          </a:solidFill>
                          <a:latin typeface="Meiryo UI"/>
                        </a:rPr>
                        <a:t>演習 2-A / 2-B</a:t>
                      </a:r>
                    </a:p>
                  </a:txBody>
                  <a:tcPr>
                    <a:solidFill>
                      <a:srgbClr val="FFFFFF"/>
                    </a:solidFill>
                  </a:tcPr>
                </a:tc>
              </a:tr>
              <a:tr h="310896">
                <a:tc>
                  <a:txBody>
                    <a:bodyPr/>
                    <a:lstStyle/>
                    <a:p>
                      <a:pPr algn="l"/>
                      <a:r>
                        <a:rPr sz="1300" b="0">
                          <a:solidFill>
                            <a:srgbClr val="1F3355"/>
                          </a:solidFill>
                          <a:latin typeface="Meiryo UI"/>
                        </a:rPr>
                        <a:t>第3回</a:t>
                      </a:r>
                    </a:p>
                  </a:txBody>
                  <a:tcPr>
                    <a:solidFill>
                      <a:srgbClr val="F2F6FA"/>
                    </a:solidFill>
                  </a:tcPr>
                </a:tc>
                <a:tc>
                  <a:txBody>
                    <a:bodyPr/>
                    <a:lstStyle/>
                    <a:p>
                      <a:pPr algn="l"/>
                      <a:r>
                        <a:rPr sz="1300" b="0">
                          <a:solidFill>
                            <a:srgbClr val="1F3355"/>
                          </a:solidFill>
                          <a:latin typeface="Meiryo UI"/>
                        </a:rPr>
                        <a:t>IPv4 を IPv6 の上で運ぶ</a:t>
                      </a:r>
                    </a:p>
                  </a:txBody>
                  <a:tcPr>
                    <a:solidFill>
                      <a:srgbClr val="F2F6FA"/>
                    </a:solidFill>
                  </a:tcPr>
                </a:tc>
                <a:tc>
                  <a:txBody>
                    <a:bodyPr/>
                    <a:lstStyle/>
                    <a:p>
                      <a:pPr algn="l"/>
                      <a:r>
                        <a:rPr sz="1300" b="0">
                          <a:solidFill>
                            <a:srgbClr val="1F3355"/>
                          </a:solidFill>
                          <a:latin typeface="Meiryo UI"/>
                        </a:rPr>
                        <a:t>24章</a:t>
                      </a:r>
                    </a:p>
                  </a:txBody>
                  <a:tcPr>
                    <a:solidFill>
                      <a:srgbClr val="F2F6FA"/>
                    </a:solidFill>
                  </a:tcPr>
                </a:tc>
                <a:tc>
                  <a:txBody>
                    <a:bodyPr/>
                    <a:lstStyle/>
                    <a:p>
                      <a:pPr algn="l"/>
                      <a:r>
                        <a:rPr sz="1300" b="0">
                          <a:solidFill>
                            <a:srgbClr val="1F3355"/>
                          </a:solidFill>
                          <a:latin typeface="Meiryo UI"/>
                        </a:rPr>
                        <a:t>演習 3-A (R3/R4/R5)</a:t>
                      </a:r>
                    </a:p>
                  </a:txBody>
                  <a:tcPr>
                    <a:solidFill>
                      <a:srgbClr val="F2F6FA"/>
                    </a:solidFill>
                  </a:tcPr>
                </a:tc>
              </a:tr>
              <a:tr h="310896">
                <a:tc>
                  <a:txBody>
                    <a:bodyPr/>
                    <a:lstStyle/>
                    <a:p>
                      <a:pPr algn="l"/>
                      <a:r>
                        <a:rPr sz="1300" b="0">
                          <a:solidFill>
                            <a:srgbClr val="1F3355"/>
                          </a:solidFill>
                          <a:latin typeface="Meiryo UI"/>
                        </a:rPr>
                        <a:t>補講</a:t>
                      </a:r>
                    </a:p>
                  </a:txBody>
                  <a:tcPr>
                    <a:solidFill>
                      <a:srgbClr val="FFFFFF"/>
                    </a:solidFill>
                  </a:tcPr>
                </a:tc>
                <a:tc>
                  <a:txBody>
                    <a:bodyPr/>
                    <a:lstStyle/>
                    <a:p>
                      <a:pPr algn="l"/>
                      <a:r>
                        <a:rPr sz="1300" b="0">
                          <a:solidFill>
                            <a:srgbClr val="1F3355"/>
                          </a:solidFill>
                          <a:latin typeface="Meiryo UI"/>
                        </a:rPr>
                        <a:t>セキュリティ / DNS / NGN 固有問題</a:t>
                      </a:r>
                    </a:p>
                  </a:txBody>
                  <a:tcPr>
                    <a:solidFill>
                      <a:srgbClr val="FFFFFF"/>
                    </a:solidFill>
                  </a:tcPr>
                </a:tc>
                <a:tc>
                  <a:txBody>
                    <a:bodyPr/>
                    <a:lstStyle/>
                    <a:p>
                      <a:pPr algn="l"/>
                      <a:r>
                        <a:rPr sz="1300" b="0">
                          <a:solidFill>
                            <a:srgbClr val="1F3355"/>
                          </a:solidFill>
                          <a:latin typeface="Meiryo UI"/>
                        </a:rPr>
                        <a:t>14, 17章, 付録A</a:t>
                      </a:r>
                    </a:p>
                  </a:txBody>
                  <a:tcPr>
                    <a:solidFill>
                      <a:srgbClr val="FFFFFF"/>
                    </a:solidFill>
                  </a:tcPr>
                </a:tc>
                <a:tc>
                  <a:txBody>
                    <a:bodyPr/>
                    <a:lstStyle/>
                    <a:p>
                      <a:pPr algn="l"/>
                      <a:r>
                        <a:rPr sz="1300" b="0">
                          <a:solidFill>
                            <a:srgbClr val="1F3355"/>
                          </a:solidFill>
                          <a:latin typeface="Meiryo UI"/>
                        </a:rPr>
                        <a:t>R6, R13</a:t>
                      </a:r>
                    </a:p>
                  </a:txBody>
                  <a:tcPr>
                    <a:solidFill>
                      <a:srgbClr val="FFFFFF"/>
                    </a:solidFill>
                  </a:tcPr>
                </a:tc>
              </a:tr>
              <a:tr h="310896">
                <a:tc>
                  <a:txBody>
                    <a:bodyPr/>
                    <a:lstStyle/>
                    <a:p>
                      <a:pPr algn="l"/>
                      <a:r>
                        <a:rPr sz="1300" b="0">
                          <a:solidFill>
                            <a:srgbClr val="1F3355"/>
                          </a:solidFill>
                          <a:latin typeface="Meiryo UI"/>
                        </a:rPr>
                        <a:t>第4部</a:t>
                      </a:r>
                    </a:p>
                  </a:txBody>
                  <a:tcPr>
                    <a:solidFill>
                      <a:srgbClr val="F2F6FA"/>
                    </a:solidFill>
                  </a:tcPr>
                </a:tc>
                <a:tc>
                  <a:txBody>
                    <a:bodyPr/>
                    <a:lstStyle/>
                    <a:p>
                      <a:pPr algn="l"/>
                      <a:r>
                        <a:rPr sz="1300" b="0">
                          <a:solidFill>
                            <a:srgbClr val="1F3355"/>
                          </a:solidFill>
                          <a:latin typeface="Meiryo UI"/>
                        </a:rPr>
                        <a:t>検証結果 (ラボ / 実機 892FJ / CML の実測値)</a:t>
                      </a:r>
                    </a:p>
                  </a:txBody>
                  <a:tcPr>
                    <a:solidFill>
                      <a:srgbClr val="F2F6FA"/>
                    </a:solidFill>
                  </a:tcPr>
                </a:tc>
                <a:tc>
                  <a:txBody>
                    <a:bodyPr/>
                    <a:lstStyle/>
                    <a:p>
                      <a:pPr algn="l"/>
                      <a:r>
                        <a:rPr sz="1300" b="0">
                          <a:solidFill>
                            <a:srgbClr val="1F3355"/>
                          </a:solidFill>
                          <a:latin typeface="Meiryo UI"/>
                        </a:rPr>
                        <a:t>—</a:t>
                      </a:r>
                    </a:p>
                  </a:txBody>
                  <a:tcPr>
                    <a:solidFill>
                      <a:srgbClr val="F2F6FA"/>
                    </a:solidFill>
                  </a:tcPr>
                </a:tc>
                <a:tc>
                  <a:txBody>
                    <a:bodyPr/>
                    <a:lstStyle/>
                    <a:p>
                      <a:pPr algn="l"/>
                      <a:r>
                        <a:rPr sz="1300" b="0">
                          <a:solidFill>
                            <a:srgbClr val="1F3355"/>
                          </a:solidFill>
                          <a:latin typeface="Meiryo UI"/>
                        </a:rPr>
                        <a:t>—</a:t>
                      </a:r>
                    </a:p>
                  </a:txBody>
                  <a:tcPr>
                    <a:solidFill>
                      <a:srgbClr val="F2F6FA"/>
                    </a:solidFill>
                  </a:tcPr>
                </a:tc>
              </a:tr>
              <a:tr h="310896">
                <a:tc>
                  <a:txBody>
                    <a:bodyPr/>
                    <a:lstStyle/>
                    <a:p>
                      <a:pPr algn="l"/>
                      <a:r>
                        <a:rPr sz="1300" b="0">
                          <a:solidFill>
                            <a:srgbClr val="1F3355"/>
                          </a:solidFill>
                          <a:latin typeface="Meiryo UI"/>
                        </a:rPr>
                        <a:t>巻末</a:t>
                      </a:r>
                    </a:p>
                  </a:txBody>
                  <a:tcPr>
                    <a:solidFill>
                      <a:srgbClr val="FFFFFF"/>
                    </a:solidFill>
                  </a:tcPr>
                </a:tc>
                <a:tc>
                  <a:txBody>
                    <a:bodyPr/>
                    <a:lstStyle/>
                    <a:p>
                      <a:pPr algn="l"/>
                      <a:r>
                        <a:rPr sz="1300" b="0">
                          <a:solidFill>
                            <a:srgbClr val="1F3355"/>
                          </a:solidFill>
                          <a:latin typeface="Meiryo UI"/>
                        </a:rPr>
                        <a:t>つまずきの壁 Q&amp;A (各回 +15〜20 分)</a:t>
                      </a:r>
                    </a:p>
                  </a:txBody>
                  <a:tcPr>
                    <a:solidFill>
                      <a:srgbClr val="FFFFFF"/>
                    </a:solidFill>
                  </a:tcPr>
                </a:tc>
                <a:tc>
                  <a:txBody>
                    <a:bodyPr/>
                    <a:lstStyle/>
                    <a:p>
                      <a:pPr algn="l"/>
                      <a:r>
                        <a:rPr sz="1300" b="0">
                          <a:solidFill>
                            <a:srgbClr val="1F3355"/>
                          </a:solidFill>
                          <a:latin typeface="Meiryo UI"/>
                        </a:rPr>
                        <a:t>—</a:t>
                      </a:r>
                    </a:p>
                  </a:txBody>
                  <a:tcPr>
                    <a:solidFill>
                      <a:srgbClr val="FFFFFF"/>
                    </a:solidFill>
                  </a:tcPr>
                </a:tc>
                <a:tc>
                  <a:txBody>
                    <a:bodyPr/>
                    <a:lstStyle/>
                    <a:p>
                      <a:pPr algn="l"/>
                      <a:r>
                        <a:rPr sz="1300" b="0">
                          <a:solidFill>
                            <a:srgbClr val="1F3355"/>
                          </a:solidFill>
                          <a:latin typeface="Meiryo UI"/>
                        </a:rPr>
                        <a:t>—</a:t>
                      </a:r>
                    </a:p>
                  </a:txBody>
                  <a:tcPr>
                    <a:solidFill>
                      <a:srgbClr val="FFFFFF"/>
                    </a:solidFill>
                  </a:tcPr>
                </a:tc>
              </a:tr>
            </a:tbl>
          </a:graphicData>
        </a:graphic>
      </p:graphicFrame>
      <p:sp>
        <p:nvSpPr>
          <p:cNvPr id="4" name="TextBox 3"/>
          <p:cNvSpPr txBox="1"/>
          <p:nvPr/>
        </p:nvSpPr>
        <p:spPr>
          <a:xfrm>
            <a:off x="502920" y="3886200"/>
            <a:ext cx="11155680" cy="548640"/>
          </a:xfrm>
          <a:prstGeom prst="rect">
            <a:avLst/>
          </a:prstGeom>
          <a:noFill/>
        </p:spPr>
        <p:txBody>
          <a:bodyPr wrap="square">
            <a:spAutoFit/>
          </a:bodyPr>
          <a:lstStyle/>
          <a:p>
            <a:pPr algn="l"/>
            <a:r>
              <a:rPr sz="1200" b="0">
                <a:solidFill>
                  <a:srgbClr val="007ACC"/>
                </a:solidFill>
                <a:latin typeface="Meiryo UI"/>
              </a:rPr>
              <a:t>全回で参照: 付録 A「NTT NGN での IPv6」(p.437) — 日本固有の話が全部ここにある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2377440"/>
          </a:xfrm>
          <a:prstGeom prst="rect">
            <a:avLst/>
          </a:prstGeom>
          <a:noFill/>
        </p:spPr>
        <p:txBody>
          <a:bodyPr wrap="square">
            <a:spAutoFit/>
          </a:bodyPr>
          <a:lstStyle/>
          <a:p>
            <a:pPr algn="l"/>
            <a:r>
              <a:rPr sz="2000" b="1">
                <a:solidFill>
                  <a:srgbClr val="7FB8E0"/>
                </a:solidFill>
                <a:latin typeface="Meiryo UI"/>
              </a:rPr>
              <a:t>第0部</a:t>
            </a:r>
          </a:p>
          <a:p>
            <a:pPr algn="l"/>
            <a:r>
              <a:rPr sz="3600" b="1">
                <a:solidFill>
                  <a:srgbClr val="FFFFFF"/>
                </a:solidFill>
                <a:latin typeface="Meiryo UI"/>
              </a:rPr>
              <a:t>全体像 — まず地図を配る</a:t>
            </a:r>
          </a:p>
          <a:p>
            <a:pPr algn="l">
              <a:spcBef>
                <a:spcPts val="1600"/>
              </a:spcBef>
            </a:pPr>
            <a:r>
              <a:rPr sz="1600" b="0">
                <a:solidFill>
                  <a:srgbClr val="D5E5F2"/>
                </a:solidFill>
                <a:latin typeface="Meiryo UI"/>
              </a:rPr>
              <a:t>ゴール: 細かい話に入る前に、これから何を何の順で見るのかを一枚で掴む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この資料の歩き方(全体 → 詳細 の順に降ります)</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第0部 全体像 — いま何の話をしているのか</a:t>
            </a:r>
          </a:p>
          <a:p>
            <a:pPr lvl="1" algn="l">
              <a:spcAft>
                <a:spcPts val="600"/>
              </a:spcAft>
            </a:pPr>
            <a:r>
              <a:rPr sz="1700" b="0">
                <a:solidFill>
                  <a:srgbClr val="555555"/>
                </a:solidFill>
                <a:latin typeface="Meiryo UI"/>
              </a:rPr>
              <a:t>IPv6 の話は「アドレスそのもの」「配り方」「IPv4 の運び方」の 3 層に分かれる</a:t>
            </a:r>
          </a:p>
          <a:p>
            <a:pPr algn="l">
              <a:spcAft>
                <a:spcPts val="1000"/>
              </a:spcAft>
            </a:pPr>
            <a:r>
              <a:rPr sz="2000" b="1">
                <a:solidFill>
                  <a:srgbClr val="1F3355"/>
                </a:solidFill>
                <a:latin typeface="Meiryo UI"/>
              </a:rPr>
              <a:t>第1部 IPv6 そのもの(抽象)— どこの国でも同じ話</a:t>
            </a:r>
          </a:p>
          <a:p>
            <a:pPr lvl="1" algn="l">
              <a:spcAft>
                <a:spcPts val="600"/>
              </a:spcAft>
            </a:pPr>
            <a:r>
              <a:rPr sz="1700" b="0">
                <a:solidFill>
                  <a:srgbClr val="555555"/>
                </a:solidFill>
                <a:latin typeface="Meiryo UI"/>
              </a:rPr>
              <a:t>アドレスの書き方 / 種類 / 決まり方。ここは教科書どおり</a:t>
            </a:r>
          </a:p>
          <a:p>
            <a:pPr algn="l">
              <a:spcAft>
                <a:spcPts val="1000"/>
              </a:spcAft>
            </a:pPr>
            <a:r>
              <a:rPr sz="2000" b="1">
                <a:solidFill>
                  <a:srgbClr val="1F3355"/>
                </a:solidFill>
                <a:latin typeface="Meiryo UI"/>
              </a:rPr>
              <a:t>第2部 日本の回線(具体)— ここからは日本だけの話</a:t>
            </a:r>
          </a:p>
          <a:p>
            <a:pPr lvl="1" algn="l">
              <a:spcAft>
                <a:spcPts val="600"/>
              </a:spcAft>
            </a:pPr>
            <a:r>
              <a:rPr sz="1700" b="0">
                <a:solidFill>
                  <a:srgbClr val="555555"/>
                </a:solidFill>
                <a:latin typeface="Meiryo UI"/>
              </a:rPr>
              <a:t>NTT の網 + VNE + ISP。v6プラス / transix などが「どれ」なのかを表で押さえる</a:t>
            </a:r>
          </a:p>
          <a:p>
            <a:pPr algn="l">
              <a:spcAft>
                <a:spcPts val="1000"/>
              </a:spcAft>
            </a:pPr>
            <a:r>
              <a:rPr sz="2000" b="1">
                <a:solidFill>
                  <a:srgbClr val="1F3355"/>
                </a:solidFill>
                <a:latin typeface="Meiryo UI"/>
              </a:rPr>
              <a:t>第3部 実習(第1回〜第3回)— 手を動かして原理を見る</a:t>
            </a:r>
          </a:p>
          <a:p>
            <a:pPr lvl="1" algn="l">
              <a:spcAft>
                <a:spcPts val="600"/>
              </a:spcAft>
            </a:pPr>
            <a:r>
              <a:rPr sz="1700" b="0">
                <a:solidFill>
                  <a:srgbClr val="555555"/>
                </a:solidFill>
                <a:latin typeface="Meiryo UI"/>
              </a:rPr>
              <a:t>MAP-E のアドレス計算、ポートの割り当て、MTU の引き算。ラボで壊して直す</a:t>
            </a:r>
          </a:p>
          <a:p>
            <a:pPr algn="l">
              <a:spcAft>
                <a:spcPts val="1000"/>
              </a:spcAft>
            </a:pPr>
            <a:r>
              <a:rPr sz="2000" b="1">
                <a:solidFill>
                  <a:srgbClr val="1F3355"/>
                </a:solidFill>
                <a:latin typeface="Meiryo UI"/>
              </a:rPr>
              <a:t>第4部 検証結果(実測)— 本当にそうなるのか</a:t>
            </a:r>
          </a:p>
          <a:p>
            <a:pPr lvl="1" algn="l">
              <a:spcAft>
                <a:spcPts val="600"/>
              </a:spcAft>
            </a:pPr>
            <a:r>
              <a:rPr sz="1700" b="0">
                <a:solidFill>
                  <a:srgbClr val="555555"/>
                </a:solidFill>
                <a:latin typeface="Meiryo UI"/>
              </a:rPr>
              <a:t>ラボと実機で測った値。「たぶん」と「測った」を必ず分けて書いてあります</a:t>
            </a:r>
          </a:p>
          <a:p>
            <a:pPr algn="l">
              <a:spcAft>
                <a:spcPts val="1000"/>
              </a:spcAft>
            </a:pPr>
            <a:r>
              <a:rPr sz="2000" b="1">
                <a:solidFill>
                  <a:srgbClr val="C0392B"/>
                </a:solidFill>
                <a:latin typeface="Meiryo UI"/>
              </a:rPr>
              <a:t>迷ったら第0部に戻ること。地図の上のどこにいるか分かれば必ず戻れます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3 行でいうと</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① PPPoE が遅い</a:t>
            </a:r>
          </a:p>
          <a:p>
            <a:pPr lvl="1" algn="l">
              <a:spcAft>
                <a:spcPts val="600"/>
              </a:spcAft>
            </a:pPr>
            <a:r>
              <a:rPr sz="1700" b="0">
                <a:solidFill>
                  <a:srgbClr val="555555"/>
                </a:solidFill>
                <a:latin typeface="Meiryo UI"/>
              </a:rPr>
              <a:t>夜になると遅い。原因は網終端装置(NTE)の輻輳で、回線速度の問題ではない</a:t>
            </a:r>
          </a:p>
          <a:p>
            <a:pPr algn="l">
              <a:spcAft>
                <a:spcPts val="1000"/>
              </a:spcAft>
            </a:pPr>
            <a:r>
              <a:rPr sz="2000" b="1">
                <a:solidFill>
                  <a:srgbClr val="1F3355"/>
                </a:solidFill>
                <a:latin typeface="Meiryo UI"/>
              </a:rPr>
              <a:t>② だから IPoE に変える</a:t>
            </a:r>
          </a:p>
          <a:p>
            <a:pPr lvl="1" algn="l">
              <a:spcAft>
                <a:spcPts val="600"/>
              </a:spcAft>
            </a:pPr>
            <a:r>
              <a:rPr sz="1700" b="0">
                <a:solidFill>
                  <a:srgbClr val="555555"/>
                </a:solidFill>
                <a:latin typeface="Meiryo UI"/>
              </a:rPr>
              <a:t>IPoE = 網終端装置を通らず、網から直接 IPv6 が降ってくる方式</a:t>
            </a:r>
          </a:p>
          <a:p>
            <a:pPr algn="l">
              <a:spcAft>
                <a:spcPts val="1000"/>
              </a:spcAft>
            </a:pPr>
            <a:r>
              <a:rPr sz="2000" b="1">
                <a:solidFill>
                  <a:srgbClr val="1F3355"/>
                </a:solidFill>
                <a:latin typeface="Meiryo UI"/>
              </a:rPr>
              <a:t>③ でも社内は IPv4 のままなので、IPv4 を IPv6 の上に載せて運ぶ</a:t>
            </a:r>
          </a:p>
          <a:p>
            <a:pPr lvl="1" algn="l">
              <a:spcAft>
                <a:spcPts val="600"/>
              </a:spcAft>
            </a:pPr>
            <a:r>
              <a:rPr sz="1700" b="0">
                <a:solidFill>
                  <a:srgbClr val="555555"/>
                </a:solidFill>
                <a:latin typeface="Meiryo UI"/>
              </a:rPr>
              <a:t>その運び方が MAP-E と DS-Lite。この資料の 8 割はここの話です</a:t>
            </a:r>
          </a:p>
          <a:p>
            <a:pPr algn="l">
              <a:spcAft>
                <a:spcPts val="1000"/>
              </a:spcAft>
            </a:pPr>
            <a:r>
              <a:rPr sz="2000" b="0">
                <a:solidFill>
                  <a:srgbClr val="1F3355"/>
                </a:solidFill>
                <a:latin typeface="Meiryo UI"/>
              </a:rPr>
              <a:t/>
            </a:r>
          </a:p>
          <a:p>
            <a:pPr algn="l">
              <a:spcAft>
                <a:spcPts val="1000"/>
              </a:spcAft>
            </a:pPr>
            <a:r>
              <a:rPr sz="2000" b="1">
                <a:solidFill>
                  <a:srgbClr val="C0392B"/>
                </a:solidFill>
                <a:latin typeface="Meiryo UI"/>
              </a:rPr>
              <a:t>ここだけ持ち帰れば十分です。残りは全部この 3 行の詳細でしかありません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なぜ IPv6 に変えるのか — 建前と本音を分ける</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1000"/>
              </a:spcAft>
            </a:pPr>
            <a:r>
              <a:rPr sz="2000" b="1">
                <a:solidFill>
                  <a:srgbClr val="1F3355"/>
                </a:solidFill>
                <a:latin typeface="Meiryo UI"/>
              </a:rPr>
              <a:t>教科書に書いてある理由(建前)</a:t>
            </a:r>
          </a:p>
          <a:p>
            <a:pPr lvl="1" algn="l">
              <a:spcAft>
                <a:spcPts val="600"/>
              </a:spcAft>
            </a:pPr>
            <a:r>
              <a:rPr sz="1700" b="0">
                <a:solidFill>
                  <a:srgbClr val="555555"/>
                </a:solidFill>
                <a:latin typeface="Meiryo UI"/>
              </a:rPr>
              <a:t>IPv4 アドレスが枯渇した。だから IPv6 へ移行する</a:t>
            </a:r>
          </a:p>
          <a:p>
            <a:pPr lvl="1" algn="l">
              <a:spcAft>
                <a:spcPts val="600"/>
              </a:spcAft>
            </a:pPr>
            <a:r>
              <a:rPr sz="1700" b="0">
                <a:solidFill>
                  <a:srgbClr val="555555"/>
                </a:solidFill>
                <a:latin typeface="Meiryo UI"/>
              </a:rPr>
              <a:t>正しいが、これは「きっかけ」であって、お客様が今ハンコを押す理由ではない</a:t>
            </a:r>
          </a:p>
          <a:p>
            <a:pPr algn="l">
              <a:spcAft>
                <a:spcPts val="1000"/>
              </a:spcAft>
            </a:pPr>
            <a:r>
              <a:rPr sz="2000" b="1">
                <a:solidFill>
                  <a:srgbClr val="1F3355"/>
                </a:solidFill>
                <a:latin typeface="Meiryo UI"/>
              </a:rPr>
              <a:t>現場でお金が動く理由(本音)</a:t>
            </a:r>
          </a:p>
          <a:p>
            <a:pPr lvl="1" algn="l">
              <a:spcAft>
                <a:spcPts val="600"/>
              </a:spcAft>
            </a:pPr>
            <a:r>
              <a:rPr sz="1700" b="0">
                <a:solidFill>
                  <a:srgbClr val="555555"/>
                </a:solidFill>
                <a:latin typeface="Meiryo UI"/>
              </a:rPr>
              <a:t>PPPoE が遅いから。「夜だけ遅い」「Web 会議が切れる」で相談が来る</a:t>
            </a:r>
          </a:p>
          <a:p>
            <a:pPr lvl="1" algn="l">
              <a:spcAft>
                <a:spcPts val="600"/>
              </a:spcAft>
            </a:pPr>
            <a:r>
              <a:rPr sz="1700" b="0">
                <a:solidFill>
                  <a:srgbClr val="555555"/>
                </a:solidFill>
                <a:latin typeface="Meiryo UI"/>
              </a:rPr>
              <a:t>IPv6 を使いたいのではなく、速度が欲しくて IPv6 の道を通ることになる</a:t>
            </a:r>
          </a:p>
          <a:p>
            <a:pPr algn="l">
              <a:spcAft>
                <a:spcPts val="1000"/>
              </a:spcAft>
            </a:pPr>
            <a:r>
              <a:rPr sz="2000" b="1">
                <a:solidFill>
                  <a:srgbClr val="1F3355"/>
                </a:solidFill>
                <a:latin typeface="Meiryo UI"/>
              </a:rPr>
              <a:t>この区別が効く場面</a:t>
            </a:r>
          </a:p>
          <a:p>
            <a:pPr lvl="1" algn="l">
              <a:spcAft>
                <a:spcPts val="600"/>
              </a:spcAft>
            </a:pPr>
            <a:r>
              <a:rPr sz="1700" b="0">
                <a:solidFill>
                  <a:srgbClr val="555555"/>
                </a:solidFill>
                <a:latin typeface="Meiryo UI"/>
              </a:rPr>
              <a:t>「社内も IPv6 化しますか?」→ 普通はしません。LAN は IPv4 のまま</a:t>
            </a:r>
          </a:p>
          <a:p>
            <a:pPr lvl="1" algn="l">
              <a:spcAft>
                <a:spcPts val="600"/>
              </a:spcAft>
            </a:pPr>
            <a:r>
              <a:rPr sz="1700" b="0">
                <a:solidFill>
                  <a:srgbClr val="555555"/>
                </a:solidFill>
                <a:latin typeface="Meiryo UI"/>
              </a:rPr>
              <a:t>アドレス再設計・FW 見直し・アプリ検証が発生する。要件でない限りやらない</a:t>
            </a:r>
          </a:p>
          <a:p>
            <a:pPr lvl="1" algn="l">
              <a:spcAft>
                <a:spcPts val="600"/>
              </a:spcAft>
            </a:pPr>
            <a:r>
              <a:rPr sz="1700" b="0">
                <a:solidFill>
                  <a:srgbClr val="555555"/>
                </a:solidFill>
                <a:latin typeface="Meiryo UI"/>
              </a:rPr>
              <a:t>IPv6 は「外を速く通るための道」。社内を作り替える話ではない</a:t>
            </a:r>
          </a:p>
          <a:p>
            <a:pPr algn="l">
              <a:spcAft>
                <a:spcPts val="1000"/>
              </a:spcAft>
            </a:pPr>
            <a:r>
              <a:rPr sz="2000" b="1">
                <a:solidFill>
                  <a:srgbClr val="C0392B"/>
                </a:solidFill>
                <a:latin typeface="Meiryo UI"/>
              </a:rPr>
              <a:t>※ ただし「将来も IPv6 化しない」とは言わないこと。今回やらないだけです</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教科書: 第18章「IPv4 アドレスの枯渇」/ 付録 A「NTT NGN での IPv6」(p.437)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IPv6 の話は 3 層に分かれる(混ぜると分からなくなる)</a:t>
            </a:r>
          </a:p>
        </p:txBody>
      </p:sp>
      <p:sp>
        <p:nvSpPr>
          <p:cNvPr id="3" name="Rounded Rectangle 2"/>
          <p:cNvSpPr/>
          <p:nvPr/>
        </p:nvSpPr>
        <p:spPr>
          <a:xfrm>
            <a:off x="685800" y="2377440"/>
            <a:ext cx="2949244"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① アドレスそのもの</a:t>
            </a:r>
          </a:p>
          <a:p>
            <a:pPr algn="ctr"/>
            <a:r>
              <a:rPr sz="1100" b="0">
                <a:solidFill>
                  <a:srgbClr val="555555"/>
                </a:solidFill>
                <a:latin typeface="Meiryo UI"/>
              </a:rPr>
              <a:t>書き方・種類
128ビット / fe80:: / /64</a:t>
            </a:r>
          </a:p>
        </p:txBody>
      </p:sp>
      <p:sp>
        <p:nvSpPr>
          <p:cNvPr id="4" name="Right Arrow 3"/>
          <p:cNvSpPr/>
          <p:nvPr/>
        </p:nvSpPr>
        <p:spPr>
          <a:xfrm>
            <a:off x="3635044" y="2926080"/>
            <a:ext cx="971092"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06137" y="2377440"/>
            <a:ext cx="2949244"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② アドレスの配り方</a:t>
            </a:r>
          </a:p>
          <a:p>
            <a:pPr algn="ctr"/>
            <a:r>
              <a:rPr sz="1100" b="0">
                <a:solidFill>
                  <a:srgbClr val="555555"/>
                </a:solidFill>
                <a:latin typeface="Meiryo UI"/>
              </a:rPr>
              <a:t>RA(SLAAC)/ DHCPv6-PD
誰が何を配るか</a:t>
            </a:r>
          </a:p>
        </p:txBody>
      </p:sp>
      <p:sp>
        <p:nvSpPr>
          <p:cNvPr id="6" name="Right Arrow 5"/>
          <p:cNvSpPr/>
          <p:nvPr/>
        </p:nvSpPr>
        <p:spPr>
          <a:xfrm>
            <a:off x="7555382" y="2926080"/>
            <a:ext cx="971092"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26475" y="2377440"/>
            <a:ext cx="2949244"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③ IPv4 の運び方</a:t>
            </a:r>
          </a:p>
          <a:p>
            <a:pPr algn="ctr"/>
            <a:r>
              <a:rPr sz="1100" b="0">
                <a:solidFill>
                  <a:srgbClr val="555555"/>
                </a:solidFill>
                <a:latin typeface="Meiryo UI"/>
              </a:rPr>
              <a:t>MAP-E / DS-Lite
IPv4 を IPv6 に載せる</a:t>
            </a:r>
          </a:p>
        </p:txBody>
      </p:sp>
      <p:sp>
        <p:nvSpPr>
          <p:cNvPr id="8" name="TextBox 7"/>
          <p:cNvSpPr txBox="1"/>
          <p:nvPr/>
        </p:nvSpPr>
        <p:spPr>
          <a:xfrm>
            <a:off x="685800" y="4114800"/>
            <a:ext cx="10789920" cy="1828800"/>
          </a:xfrm>
          <a:prstGeom prst="rect">
            <a:avLst/>
          </a:prstGeom>
          <a:noFill/>
        </p:spPr>
        <p:txBody>
          <a:bodyPr wrap="square">
            <a:spAutoFit/>
          </a:bodyPr>
          <a:lstStyle/>
          <a:p>
            <a:pPr algn="l">
              <a:spcAft>
                <a:spcPts val="600"/>
              </a:spcAft>
            </a:pPr>
            <a:r>
              <a:rPr sz="1400" b="0">
                <a:solidFill>
                  <a:srgbClr val="555555"/>
                </a:solidFill>
                <a:latin typeface="Meiryo UI"/>
              </a:rPr>
              <a:t>トラブルの切り分けも、この 3 層のどこで壊れているかを決めるところから始まります。</a:t>
            </a:r>
          </a:p>
          <a:p>
            <a:pPr algn="l">
              <a:spcAft>
                <a:spcPts val="600"/>
              </a:spcAft>
            </a:pPr>
            <a:r>
              <a:rPr sz="1400" b="0">
                <a:solidFill>
                  <a:srgbClr val="555555"/>
                </a:solidFill>
                <a:latin typeface="Meiryo UI"/>
              </a:rPr>
              <a:t>「IPv6 が降りてこない」= ② の話。「IPv6 は降りたが IPv4 が通らない」= ③ の話。</a:t>
            </a:r>
          </a:p>
          <a:p>
            <a:pPr algn="l">
              <a:spcAft>
                <a:spcPts val="600"/>
              </a:spcAft>
            </a:pPr>
            <a:r>
              <a:rPr sz="1400" b="1">
                <a:solidFill>
                  <a:srgbClr val="C0392B"/>
                </a:solidFill>
                <a:latin typeface="Meiryo UI"/>
              </a:rPr>
              <a:t>※ ①② は世界共通の技術。③ だけが日本固有の事情が濃い(共有 IPv4 とポート制限)。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2377440"/>
          </a:xfrm>
          <a:prstGeom prst="rect">
            <a:avLst/>
          </a:prstGeom>
          <a:noFill/>
        </p:spPr>
        <p:txBody>
          <a:bodyPr wrap="square">
            <a:spAutoFit/>
          </a:bodyPr>
          <a:lstStyle/>
          <a:p>
            <a:pPr algn="l"/>
            <a:r>
              <a:rPr sz="2000" b="1">
                <a:solidFill>
                  <a:srgbClr val="7FB8E0"/>
                </a:solidFill>
                <a:latin typeface="Meiryo UI"/>
              </a:rPr>
              <a:t>第1部</a:t>
            </a:r>
          </a:p>
          <a:p>
            <a:pPr algn="l"/>
            <a:r>
              <a:rPr sz="3600" b="1">
                <a:solidFill>
                  <a:srgbClr val="FFFFFF"/>
                </a:solidFill>
                <a:latin typeface="Meiryo UI"/>
              </a:rPr>
              <a:t>IPv6 そのもの — どこの国でも同じ話</a:t>
            </a:r>
          </a:p>
          <a:p>
            <a:pPr algn="l">
              <a:spcBef>
                <a:spcPts val="1600"/>
              </a:spcBef>
            </a:pPr>
            <a:r>
              <a:rPr sz="1600" b="0">
                <a:solidFill>
                  <a:srgbClr val="D5E5F2"/>
                </a:solidFill>
                <a:latin typeface="Meiryo UI"/>
              </a:rPr>
              <a:t>ゴール: アドレスの書き方・種類・決まり方。暗記より「見たことがある」を作る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IPv4 と IPv6 の違い(現場で効くところだけ)</a:t>
            </a:r>
          </a:p>
        </p:txBody>
      </p:sp>
      <p:graphicFrame>
        <p:nvGraphicFramePr>
          <p:cNvPr id="3" name="Table 2"/>
          <p:cNvGraphicFramePr>
            <a:graphicFrameLocks noGrp="1"/>
          </p:cNvGraphicFramePr>
          <p:nvPr/>
        </p:nvGraphicFramePr>
        <p:xfrm>
          <a:off x="502920" y="1143000"/>
          <a:ext cx="10789920" cy="2798064"/>
        </p:xfrm>
        <a:graphic>
          <a:graphicData uri="http://schemas.openxmlformats.org/drawingml/2006/table">
            <a:tbl>
              <a:tblPr>
                <a:tableStyleId>{5C22544A-7EE6-4342-B048-85BDC9FD1C3A}</a:tableStyleId>
              </a:tblPr>
              <a:tblGrid>
                <a:gridCol w="1554480"/>
                <a:gridCol w="1920240"/>
                <a:gridCol w="2103120"/>
                <a:gridCol w="5212080"/>
              </a:tblGrid>
              <a:tr h="310896">
                <a:tc>
                  <a:txBody>
                    <a:bodyPr/>
                    <a:lstStyle/>
                    <a:p>
                      <a:pPr algn="l"/>
                      <a:r>
                        <a:rPr sz="1200" b="1">
                          <a:solidFill>
                            <a:srgbClr val="FFFFFF"/>
                          </a:solidFill>
                          <a:latin typeface="Meiryo UI"/>
                        </a:rPr>
                        <a:t/>
                      </a:r>
                    </a:p>
                  </a:txBody>
                  <a:tcPr>
                    <a:solidFill>
                      <a:srgbClr val="1F3355"/>
                    </a:solidFill>
                  </a:tcPr>
                </a:tc>
                <a:tc>
                  <a:txBody>
                    <a:bodyPr/>
                    <a:lstStyle/>
                    <a:p>
                      <a:pPr algn="l"/>
                      <a:r>
                        <a:rPr sz="1200" b="1">
                          <a:solidFill>
                            <a:srgbClr val="FFFFFF"/>
                          </a:solidFill>
                          <a:latin typeface="Meiryo UI"/>
                        </a:rPr>
                        <a:t>IPv4</a:t>
                      </a:r>
                    </a:p>
                  </a:txBody>
                  <a:tcPr>
                    <a:solidFill>
                      <a:srgbClr val="1F3355"/>
                    </a:solidFill>
                  </a:tcPr>
                </a:tc>
                <a:tc>
                  <a:txBody>
                    <a:bodyPr/>
                    <a:lstStyle/>
                    <a:p>
                      <a:pPr algn="l"/>
                      <a:r>
                        <a:rPr sz="1200" b="1">
                          <a:solidFill>
                            <a:srgbClr val="FFFFFF"/>
                          </a:solidFill>
                          <a:latin typeface="Meiryo UI"/>
                        </a:rPr>
                        <a:t>IPv6</a:t>
                      </a:r>
                    </a:p>
                  </a:txBody>
                  <a:tcPr>
                    <a:solidFill>
                      <a:srgbClr val="1F3355"/>
                    </a:solidFill>
                  </a:tcPr>
                </a:tc>
                <a:tc>
                  <a:txBody>
                    <a:bodyPr/>
                    <a:lstStyle/>
                    <a:p>
                      <a:pPr algn="l"/>
                      <a:r>
                        <a:rPr sz="1200" b="1">
                          <a:solidFill>
                            <a:srgbClr val="FFFFFF"/>
                          </a:solidFill>
                          <a:latin typeface="Meiryo UI"/>
                        </a:rPr>
                        <a:t>現場でどう効くか</a:t>
                      </a:r>
                    </a:p>
                  </a:txBody>
                  <a:tcPr>
                    <a:solidFill>
                      <a:srgbClr val="1F3355"/>
                    </a:solidFill>
                  </a:tcPr>
                </a:tc>
              </a:tr>
              <a:tr h="310896">
                <a:tc>
                  <a:txBody>
                    <a:bodyPr/>
                    <a:lstStyle/>
                    <a:p>
                      <a:pPr algn="l"/>
                      <a:r>
                        <a:rPr sz="1100" b="0">
                          <a:solidFill>
                            <a:srgbClr val="1F3355"/>
                          </a:solidFill>
                          <a:latin typeface="Meiryo UI"/>
                        </a:rPr>
                        <a:t>長さ</a:t>
                      </a:r>
                    </a:p>
                  </a:txBody>
                  <a:tcPr>
                    <a:solidFill>
                      <a:srgbClr val="FFFFFF"/>
                    </a:solidFill>
                  </a:tcPr>
                </a:tc>
                <a:tc>
                  <a:txBody>
                    <a:bodyPr/>
                    <a:lstStyle/>
                    <a:p>
                      <a:pPr algn="l"/>
                      <a:r>
                        <a:rPr sz="1100" b="0">
                          <a:solidFill>
                            <a:srgbClr val="1F3355"/>
                          </a:solidFill>
                          <a:latin typeface="Meiryo UI"/>
                        </a:rPr>
                        <a:t>32 ビット</a:t>
                      </a:r>
                    </a:p>
                  </a:txBody>
                  <a:tcPr>
                    <a:solidFill>
                      <a:srgbClr val="FFFFFF"/>
                    </a:solidFill>
                  </a:tcPr>
                </a:tc>
                <a:tc>
                  <a:txBody>
                    <a:bodyPr/>
                    <a:lstStyle/>
                    <a:p>
                      <a:pPr algn="l"/>
                      <a:r>
                        <a:rPr sz="1100" b="0">
                          <a:solidFill>
                            <a:srgbClr val="1F3355"/>
                          </a:solidFill>
                          <a:latin typeface="Meiryo UI"/>
                        </a:rPr>
                        <a:t>128 ビット</a:t>
                      </a:r>
                    </a:p>
                  </a:txBody>
                  <a:tcPr>
                    <a:solidFill>
                      <a:srgbClr val="FFFFFF"/>
                    </a:solidFill>
                  </a:tcPr>
                </a:tc>
                <a:tc>
                  <a:txBody>
                    <a:bodyPr/>
                    <a:lstStyle/>
                    <a:p>
                      <a:pPr algn="l"/>
                      <a:r>
                        <a:rPr sz="1100" b="0">
                          <a:solidFill>
                            <a:srgbClr val="1F3355"/>
                          </a:solidFill>
                          <a:latin typeface="Meiryo UI"/>
                        </a:rPr>
                        <a:t>枯渇しない。ただし覚えられない → コピペ前提で作業する</a:t>
                      </a:r>
                    </a:p>
                  </a:txBody>
                  <a:tcPr>
                    <a:solidFill>
                      <a:srgbClr val="FFFFFF"/>
                    </a:solidFill>
                  </a:tcPr>
                </a:tc>
              </a:tr>
              <a:tr h="310896">
                <a:tc>
                  <a:txBody>
                    <a:bodyPr/>
                    <a:lstStyle/>
                    <a:p>
                      <a:pPr algn="l"/>
                      <a:r>
                        <a:rPr sz="1100" b="0">
                          <a:solidFill>
                            <a:srgbClr val="1F3355"/>
                          </a:solidFill>
                          <a:latin typeface="Meiryo UI"/>
                        </a:rPr>
                        <a:t>表記</a:t>
                      </a:r>
                    </a:p>
                  </a:txBody>
                  <a:tcPr>
                    <a:solidFill>
                      <a:srgbClr val="F2F6FA"/>
                    </a:solidFill>
                  </a:tcPr>
                </a:tc>
                <a:tc>
                  <a:txBody>
                    <a:bodyPr/>
                    <a:lstStyle/>
                    <a:p>
                      <a:pPr algn="l"/>
                      <a:r>
                        <a:rPr sz="1100" b="0">
                          <a:solidFill>
                            <a:srgbClr val="1F3355"/>
                          </a:solidFill>
                          <a:latin typeface="Meiryo UI"/>
                        </a:rPr>
                        <a:t>192.168.1.1</a:t>
                      </a:r>
                    </a:p>
                  </a:txBody>
                  <a:tcPr>
                    <a:solidFill>
                      <a:srgbClr val="F2F6FA"/>
                    </a:solidFill>
                  </a:tcPr>
                </a:tc>
                <a:tc>
                  <a:txBody>
                    <a:bodyPr/>
                    <a:lstStyle/>
                    <a:p>
                      <a:pPr algn="l"/>
                      <a:r>
                        <a:rPr sz="1100" b="0">
                          <a:solidFill>
                            <a:srgbClr val="1F3355"/>
                          </a:solidFill>
                          <a:latin typeface="Meiryo UI"/>
                        </a:rPr>
                        <a:t>2001:db8::1</a:t>
                      </a:r>
                    </a:p>
                  </a:txBody>
                  <a:tcPr>
                    <a:solidFill>
                      <a:srgbClr val="F2F6FA"/>
                    </a:solidFill>
                  </a:tcPr>
                </a:tc>
                <a:tc>
                  <a:txBody>
                    <a:bodyPr/>
                    <a:lstStyle/>
                    <a:p>
                      <a:pPr algn="l"/>
                      <a:r>
                        <a:rPr sz="1100" b="0">
                          <a:solidFill>
                            <a:srgbClr val="1F3355"/>
                          </a:solidFill>
                          <a:latin typeface="Meiryo UI"/>
                        </a:rPr>
                        <a:t>:: は 0 の連続の省略。1 か所しか使えない</a:t>
                      </a:r>
                    </a:p>
                  </a:txBody>
                  <a:tcPr>
                    <a:solidFill>
                      <a:srgbClr val="F2F6FA"/>
                    </a:solidFill>
                  </a:tcPr>
                </a:tc>
              </a:tr>
              <a:tr h="310896">
                <a:tc>
                  <a:txBody>
                    <a:bodyPr/>
                    <a:lstStyle/>
                    <a:p>
                      <a:pPr algn="l"/>
                      <a:r>
                        <a:rPr sz="1100" b="0">
                          <a:solidFill>
                            <a:srgbClr val="1F3355"/>
                          </a:solidFill>
                          <a:latin typeface="Meiryo UI"/>
                        </a:rPr>
                        <a:t>1 サブネット</a:t>
                      </a:r>
                    </a:p>
                  </a:txBody>
                  <a:tcPr>
                    <a:solidFill>
                      <a:srgbClr val="FFFFFF"/>
                    </a:solidFill>
                  </a:tcPr>
                </a:tc>
                <a:tc>
                  <a:txBody>
                    <a:bodyPr/>
                    <a:lstStyle/>
                    <a:p>
                      <a:pPr algn="l"/>
                      <a:r>
                        <a:rPr sz="1100" b="0">
                          <a:solidFill>
                            <a:srgbClr val="1F3355"/>
                          </a:solidFill>
                          <a:latin typeface="Meiryo UI"/>
                        </a:rPr>
                        <a:t>任意(/24 等)</a:t>
                      </a:r>
                    </a:p>
                  </a:txBody>
                  <a:tcPr>
                    <a:solidFill>
                      <a:srgbClr val="FFFFFF"/>
                    </a:solidFill>
                  </a:tcPr>
                </a:tc>
                <a:tc>
                  <a:txBody>
                    <a:bodyPr/>
                    <a:lstStyle/>
                    <a:p>
                      <a:pPr algn="l"/>
                      <a:r>
                        <a:rPr sz="1100" b="0">
                          <a:solidFill>
                            <a:srgbClr val="1F3355"/>
                          </a:solidFill>
                          <a:latin typeface="Meiryo UI"/>
                        </a:rPr>
                        <a:t>/64 が原則</a:t>
                      </a:r>
                    </a:p>
                  </a:txBody>
                  <a:tcPr>
                    <a:solidFill>
                      <a:srgbClr val="FFFFFF"/>
                    </a:solidFill>
                  </a:tcPr>
                </a:tc>
                <a:tc>
                  <a:txBody>
                    <a:bodyPr/>
                    <a:lstStyle/>
                    <a:p>
                      <a:pPr algn="l"/>
                      <a:r>
                        <a:rPr sz="1100" b="0">
                          <a:solidFill>
                            <a:srgbClr val="1F3355"/>
                          </a:solidFill>
                          <a:latin typeface="Meiryo UI"/>
                        </a:rPr>
                        <a:t>/64 より小さく切ると SLAAC が動かない</a:t>
                      </a:r>
                    </a:p>
                  </a:txBody>
                  <a:tcPr>
                    <a:solidFill>
                      <a:srgbClr val="FFFFFF"/>
                    </a:solidFill>
                  </a:tcPr>
                </a:tc>
              </a:tr>
              <a:tr h="310896">
                <a:tc>
                  <a:txBody>
                    <a:bodyPr/>
                    <a:lstStyle/>
                    <a:p>
                      <a:pPr algn="l"/>
                      <a:r>
                        <a:rPr sz="1100" b="0">
                          <a:solidFill>
                            <a:srgbClr val="1F3355"/>
                          </a:solidFill>
                          <a:latin typeface="Meiryo UI"/>
                        </a:rPr>
                        <a:t>1 IF のアドレス数</a:t>
                      </a:r>
                    </a:p>
                  </a:txBody>
                  <a:tcPr>
                    <a:solidFill>
                      <a:srgbClr val="F2F6FA"/>
                    </a:solidFill>
                  </a:tcPr>
                </a:tc>
                <a:tc>
                  <a:txBody>
                    <a:bodyPr/>
                    <a:lstStyle/>
                    <a:p>
                      <a:pPr algn="l"/>
                      <a:r>
                        <a:rPr sz="1100" b="0">
                          <a:solidFill>
                            <a:srgbClr val="1F3355"/>
                          </a:solidFill>
                          <a:latin typeface="Meiryo UI"/>
                        </a:rPr>
                        <a:t>普通 1 個</a:t>
                      </a:r>
                    </a:p>
                  </a:txBody>
                  <a:tcPr>
                    <a:solidFill>
                      <a:srgbClr val="F2F6FA"/>
                    </a:solidFill>
                  </a:tcPr>
                </a:tc>
                <a:tc>
                  <a:txBody>
                    <a:bodyPr/>
                    <a:lstStyle/>
                    <a:p>
                      <a:pPr algn="l"/>
                      <a:r>
                        <a:rPr sz="1100" b="0">
                          <a:solidFill>
                            <a:srgbClr val="1F3355"/>
                          </a:solidFill>
                          <a:latin typeface="Meiryo UI"/>
                        </a:rPr>
                        <a:t>複数が当たり前</a:t>
                      </a:r>
                    </a:p>
                  </a:txBody>
                  <a:tcPr>
                    <a:solidFill>
                      <a:srgbClr val="F2F6FA"/>
                    </a:solidFill>
                  </a:tcPr>
                </a:tc>
                <a:tc>
                  <a:txBody>
                    <a:bodyPr/>
                    <a:lstStyle/>
                    <a:p>
                      <a:pPr algn="l"/>
                      <a:r>
                        <a:rPr sz="1100" b="0">
                          <a:solidFill>
                            <a:srgbClr val="1F3355"/>
                          </a:solidFill>
                          <a:latin typeface="Meiryo UI"/>
                        </a:rPr>
                        <a:t>リンクローカル + グローバルが同時に付く</a:t>
                      </a:r>
                    </a:p>
                  </a:txBody>
                  <a:tcPr>
                    <a:solidFill>
                      <a:srgbClr val="F2F6FA"/>
                    </a:solidFill>
                  </a:tcPr>
                </a:tc>
              </a:tr>
              <a:tr h="310896">
                <a:tc>
                  <a:txBody>
                    <a:bodyPr/>
                    <a:lstStyle/>
                    <a:p>
                      <a:pPr algn="l"/>
                      <a:r>
                        <a:rPr sz="1100" b="0">
                          <a:solidFill>
                            <a:srgbClr val="1F3355"/>
                          </a:solidFill>
                          <a:latin typeface="Meiryo UI"/>
                        </a:rPr>
                        <a:t>ブロードキャスト</a:t>
                      </a:r>
                    </a:p>
                  </a:txBody>
                  <a:tcPr>
                    <a:solidFill>
                      <a:srgbClr val="FFFFFF"/>
                    </a:solidFill>
                  </a:tcPr>
                </a:tc>
                <a:tc>
                  <a:txBody>
                    <a:bodyPr/>
                    <a:lstStyle/>
                    <a:p>
                      <a:pPr algn="l"/>
                      <a:r>
                        <a:rPr sz="1100" b="0">
                          <a:solidFill>
                            <a:srgbClr val="1F3355"/>
                          </a:solidFill>
                          <a:latin typeface="Meiryo UI"/>
                        </a:rPr>
                        <a:t>あり</a:t>
                      </a:r>
                    </a:p>
                  </a:txBody>
                  <a:tcPr>
                    <a:solidFill>
                      <a:srgbClr val="FFFFFF"/>
                    </a:solidFill>
                  </a:tcPr>
                </a:tc>
                <a:tc>
                  <a:txBody>
                    <a:bodyPr/>
                    <a:lstStyle/>
                    <a:p>
                      <a:pPr algn="l"/>
                      <a:r>
                        <a:rPr sz="1100" b="0">
                          <a:solidFill>
                            <a:srgbClr val="1F3355"/>
                          </a:solidFill>
                          <a:latin typeface="Meiryo UI"/>
                        </a:rPr>
                        <a:t>無い</a:t>
                      </a:r>
                    </a:p>
                  </a:txBody>
                  <a:tcPr>
                    <a:solidFill>
                      <a:srgbClr val="FFFFFF"/>
                    </a:solidFill>
                  </a:tcPr>
                </a:tc>
                <a:tc>
                  <a:txBody>
                    <a:bodyPr/>
                    <a:lstStyle/>
                    <a:p>
                      <a:pPr algn="l"/>
                      <a:r>
                        <a:rPr sz="1100" b="0">
                          <a:solidFill>
                            <a:srgbClr val="1F3355"/>
                          </a:solidFill>
                          <a:latin typeface="Meiryo UI"/>
                        </a:rPr>
                        <a:t>代わりにマルチキャスト。ARP も無い(NDP になる)</a:t>
                      </a:r>
                    </a:p>
                  </a:txBody>
                  <a:tcPr>
                    <a:solidFill>
                      <a:srgbClr val="FFFFFF"/>
                    </a:solidFill>
                  </a:tcPr>
                </a:tc>
              </a:tr>
              <a:tr h="310896">
                <a:tc>
                  <a:txBody>
                    <a:bodyPr/>
                    <a:lstStyle/>
                    <a:p>
                      <a:pPr algn="l"/>
                      <a:r>
                        <a:rPr sz="1100" b="0">
                          <a:solidFill>
                            <a:srgbClr val="1F3355"/>
                          </a:solidFill>
                          <a:latin typeface="Meiryo UI"/>
                        </a:rPr>
                        <a:t>アドレス解決</a:t>
                      </a:r>
                    </a:p>
                  </a:txBody>
                  <a:tcPr>
                    <a:solidFill>
                      <a:srgbClr val="F2F6FA"/>
                    </a:solidFill>
                  </a:tcPr>
                </a:tc>
                <a:tc>
                  <a:txBody>
                    <a:bodyPr/>
                    <a:lstStyle/>
                    <a:p>
                      <a:pPr algn="l"/>
                      <a:r>
                        <a:rPr sz="1100" b="0">
                          <a:solidFill>
                            <a:srgbClr val="1F3355"/>
                          </a:solidFill>
                          <a:latin typeface="Meiryo UI"/>
                        </a:rPr>
                        <a:t>ARP</a:t>
                      </a:r>
                    </a:p>
                  </a:txBody>
                  <a:tcPr>
                    <a:solidFill>
                      <a:srgbClr val="F2F6FA"/>
                    </a:solidFill>
                  </a:tcPr>
                </a:tc>
                <a:tc>
                  <a:txBody>
                    <a:bodyPr/>
                    <a:lstStyle/>
                    <a:p>
                      <a:pPr algn="l"/>
                      <a:r>
                        <a:rPr sz="1100" b="0">
                          <a:solidFill>
                            <a:srgbClr val="1F3355"/>
                          </a:solidFill>
                          <a:latin typeface="Meiryo UI"/>
                        </a:rPr>
                        <a:t>NDP(ICMPv6)</a:t>
                      </a:r>
                    </a:p>
                  </a:txBody>
                  <a:tcPr>
                    <a:solidFill>
                      <a:srgbClr val="F2F6FA"/>
                    </a:solidFill>
                  </a:tcPr>
                </a:tc>
                <a:tc>
                  <a:txBody>
                    <a:bodyPr/>
                    <a:lstStyle/>
                    <a:p>
                      <a:pPr algn="l"/>
                      <a:r>
                        <a:rPr sz="1100" b="0">
                          <a:solidFill>
                            <a:srgbClr val="1F3355"/>
                          </a:solidFill>
                          <a:latin typeface="Meiryo UI"/>
                        </a:rPr>
                        <a:t>ICMPv6 を止めると通信が死ぬ。FW 設計の最頻出事故</a:t>
                      </a:r>
                    </a:p>
                  </a:txBody>
                  <a:tcPr>
                    <a:solidFill>
                      <a:srgbClr val="F2F6FA"/>
                    </a:solidFill>
                  </a:tcPr>
                </a:tc>
              </a:tr>
              <a:tr h="310896">
                <a:tc>
                  <a:txBody>
                    <a:bodyPr/>
                    <a:lstStyle/>
                    <a:p>
                      <a:pPr algn="l"/>
                      <a:r>
                        <a:rPr sz="1100" b="0">
                          <a:solidFill>
                            <a:srgbClr val="1F3355"/>
                          </a:solidFill>
                          <a:latin typeface="Meiryo UI"/>
                        </a:rPr>
                        <a:t>自動設定</a:t>
                      </a:r>
                    </a:p>
                  </a:txBody>
                  <a:tcPr>
                    <a:solidFill>
                      <a:srgbClr val="FFFFFF"/>
                    </a:solidFill>
                  </a:tcPr>
                </a:tc>
                <a:tc>
                  <a:txBody>
                    <a:bodyPr/>
                    <a:lstStyle/>
                    <a:p>
                      <a:pPr algn="l"/>
                      <a:r>
                        <a:rPr sz="1100" b="0">
                          <a:solidFill>
                            <a:srgbClr val="1F3355"/>
                          </a:solidFill>
                          <a:latin typeface="Meiryo UI"/>
                        </a:rPr>
                        <a:t>DHCP</a:t>
                      </a:r>
                    </a:p>
                  </a:txBody>
                  <a:tcPr>
                    <a:solidFill>
                      <a:srgbClr val="FFFFFF"/>
                    </a:solidFill>
                  </a:tcPr>
                </a:tc>
                <a:tc>
                  <a:txBody>
                    <a:bodyPr/>
                    <a:lstStyle/>
                    <a:p>
                      <a:pPr algn="l"/>
                      <a:r>
                        <a:rPr sz="1100" b="0">
                          <a:solidFill>
                            <a:srgbClr val="1F3355"/>
                          </a:solidFill>
                          <a:latin typeface="Meiryo UI"/>
                        </a:rPr>
                        <a:t>RA / DHCPv6</a:t>
                      </a:r>
                    </a:p>
                  </a:txBody>
                  <a:tcPr>
                    <a:solidFill>
                      <a:srgbClr val="FFFFFF"/>
                    </a:solidFill>
                  </a:tcPr>
                </a:tc>
                <a:tc>
                  <a:txBody>
                    <a:bodyPr/>
                    <a:lstStyle/>
                    <a:p>
                      <a:pPr algn="l"/>
                      <a:r>
                        <a:rPr sz="1100" b="0">
                          <a:solidFill>
                            <a:srgbClr val="1F3355"/>
                          </a:solidFill>
                          <a:latin typeface="Meiryo UI"/>
                        </a:rPr>
                        <a:t>ルータが自分から「私がゲートウェイだ」と言いに来る</a:t>
                      </a:r>
                    </a:p>
                  </a:txBody>
                  <a:tcPr>
                    <a:solidFill>
                      <a:srgbClr val="FFFFFF"/>
                    </a:solidFill>
                  </a:tcPr>
                </a:tc>
              </a:tr>
              <a:tr h="310896">
                <a:tc>
                  <a:txBody>
                    <a:bodyPr/>
                    <a:lstStyle/>
                    <a:p>
                      <a:pPr algn="l"/>
                      <a:r>
                        <a:rPr sz="1100" b="0">
                          <a:solidFill>
                            <a:srgbClr val="1F3355"/>
                          </a:solidFill>
                          <a:latin typeface="Meiryo UI"/>
                        </a:rPr>
                        <a:t>フラグメント</a:t>
                      </a:r>
                    </a:p>
                  </a:txBody>
                  <a:tcPr>
                    <a:solidFill>
                      <a:srgbClr val="F2F6FA"/>
                    </a:solidFill>
                  </a:tcPr>
                </a:tc>
                <a:tc>
                  <a:txBody>
                    <a:bodyPr/>
                    <a:lstStyle/>
                    <a:p>
                      <a:pPr algn="l"/>
                      <a:r>
                        <a:rPr sz="1100" b="0">
                          <a:solidFill>
                            <a:srgbClr val="1F3355"/>
                          </a:solidFill>
                          <a:latin typeface="Meiryo UI"/>
                        </a:rPr>
                        <a:t>途中のルータも分割</a:t>
                      </a:r>
                    </a:p>
                  </a:txBody>
                  <a:tcPr>
                    <a:solidFill>
                      <a:srgbClr val="F2F6FA"/>
                    </a:solidFill>
                  </a:tcPr>
                </a:tc>
                <a:tc>
                  <a:txBody>
                    <a:bodyPr/>
                    <a:lstStyle/>
                    <a:p>
                      <a:pPr algn="l"/>
                      <a:r>
                        <a:rPr sz="1100" b="0">
                          <a:solidFill>
                            <a:srgbClr val="1F3355"/>
                          </a:solidFill>
                          <a:latin typeface="Meiryo UI"/>
                        </a:rPr>
                        <a:t>送信元だけ</a:t>
                      </a:r>
                    </a:p>
                  </a:txBody>
                  <a:tcPr>
                    <a:solidFill>
                      <a:srgbClr val="F2F6FA"/>
                    </a:solidFill>
                  </a:tcPr>
                </a:tc>
                <a:tc>
                  <a:txBody>
                    <a:bodyPr/>
                    <a:lstStyle/>
                    <a:p>
                      <a:pPr algn="l"/>
                      <a:r>
                        <a:rPr sz="1100" b="0">
                          <a:solidFill>
                            <a:srgbClr val="1F3355"/>
                          </a:solidFill>
                          <a:latin typeface="Meiryo UI"/>
                        </a:rPr>
                        <a:t>経路 MTU の問題が表に出やすい(後述の 1460)</a:t>
                      </a:r>
                    </a:p>
                  </a:txBody>
                  <a:tcPr>
                    <a:solidFill>
                      <a:srgbClr val="F2F6FA"/>
                    </a:solidFill>
                  </a:tcPr>
                </a:tc>
              </a:tr>
            </a:tbl>
          </a:graphicData>
        </a:graphic>
      </p:graphicFrame>
      <p:sp>
        <p:nvSpPr>
          <p:cNvPr id="4" name="TextBox 3"/>
          <p:cNvSpPr txBox="1"/>
          <p:nvPr/>
        </p:nvSpPr>
        <p:spPr>
          <a:xfrm>
            <a:off x="502920" y="4197096"/>
            <a:ext cx="11155680" cy="548640"/>
          </a:xfrm>
          <a:prstGeom prst="rect">
            <a:avLst/>
          </a:prstGeom>
          <a:noFill/>
        </p:spPr>
        <p:txBody>
          <a:bodyPr wrap="square">
            <a:spAutoFit/>
          </a:bodyPr>
          <a:lstStyle/>
          <a:p>
            <a:pPr algn="l"/>
            <a:r>
              <a:rPr sz="1200" b="0">
                <a:solidFill>
                  <a:srgbClr val="007ACC"/>
                </a:solidFill>
                <a:latin typeface="Meiryo UI"/>
              </a:rPr>
              <a:t>教科書: 2.10「IPv6 と IPv4 の違い」(p.51)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アドレスの読み方と、なぜ /64 なのか</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800"/>
              </a:spcAft>
            </a:pPr>
            <a:r>
              <a:rPr sz="1800" b="1">
                <a:solidFill>
                  <a:srgbClr val="1F3355"/>
                </a:solidFill>
                <a:latin typeface="Meiryo UI"/>
              </a:rPr>
              <a:t>書き方の 3 つのルール</a:t>
            </a:r>
          </a:p>
          <a:p>
            <a:pPr lvl="1" algn="l">
              <a:spcAft>
                <a:spcPts val="400"/>
              </a:spcAft>
            </a:pPr>
            <a:r>
              <a:rPr sz="1500" b="0">
                <a:solidFill>
                  <a:srgbClr val="555555"/>
                </a:solidFill>
                <a:latin typeface="Meiryo UI"/>
              </a:rPr>
              <a:t>各ブロック先頭の 0 は省ける: 2001:0db8:0000:0001 → 2001:db8:0:1</a:t>
            </a:r>
          </a:p>
          <a:p>
            <a:pPr lvl="1" algn="l">
              <a:spcAft>
                <a:spcPts val="400"/>
              </a:spcAft>
            </a:pPr>
            <a:r>
              <a:rPr sz="1500" b="0">
                <a:solidFill>
                  <a:srgbClr val="555555"/>
                </a:solidFill>
                <a:latin typeface="Meiryo UI"/>
              </a:rPr>
              <a:t>0 が続くところは :: で 1 回だけ省ける: 2001:db8:0:0:0:0:0:1 → 2001:db8::1</a:t>
            </a:r>
          </a:p>
          <a:p>
            <a:pPr lvl="1" algn="l">
              <a:spcAft>
                <a:spcPts val="400"/>
              </a:spcAft>
            </a:pPr>
            <a:r>
              <a:rPr sz="1500" b="0">
                <a:solidFill>
                  <a:srgbClr val="555555"/>
                </a:solidFill>
                <a:latin typeface="Meiryo UI"/>
              </a:rPr>
              <a:t>URL に書くときは [] で囲む(忘れると動きません)</a:t>
            </a:r>
          </a:p>
          <a:p>
            <a:pPr lvl="1" algn="l">
              <a:spcAft>
                <a:spcPts val="400"/>
              </a:spcAft>
            </a:pPr>
            <a:r>
              <a:rPr sz="1500" b="0">
                <a:solidFill>
                  <a:srgbClr val="0B6040"/>
                </a:solidFill>
                <a:latin typeface="Consolas"/>
              </a:rPr>
              <a:t>http://[2001:db8::80]/</a:t>
            </a:r>
          </a:p>
          <a:p>
            <a:pPr algn="l">
              <a:spcAft>
                <a:spcPts val="800"/>
              </a:spcAft>
            </a:pPr>
            <a:r>
              <a:rPr sz="1800" b="1">
                <a:solidFill>
                  <a:srgbClr val="1F3355"/>
                </a:solidFill>
                <a:latin typeface="Meiryo UI"/>
              </a:rPr>
              <a:t>/64 が原則である理由</a:t>
            </a:r>
          </a:p>
          <a:p>
            <a:pPr lvl="1" algn="l">
              <a:spcAft>
                <a:spcPts val="400"/>
              </a:spcAft>
            </a:pPr>
            <a:r>
              <a:rPr sz="1500" b="0">
                <a:solidFill>
                  <a:srgbClr val="555555"/>
                </a:solidFill>
                <a:latin typeface="Meiryo UI"/>
              </a:rPr>
              <a:t>後ろの 64 ビットをインタフェース ID に使う、と決まっているため</a:t>
            </a:r>
          </a:p>
          <a:p>
            <a:pPr lvl="1" algn="l">
              <a:spcAft>
                <a:spcPts val="400"/>
              </a:spcAft>
            </a:pPr>
            <a:r>
              <a:rPr sz="1500" b="0">
                <a:solidFill>
                  <a:srgbClr val="555555"/>
                </a:solidFill>
                <a:latin typeface="Meiryo UI"/>
              </a:rPr>
              <a:t>MAC から作る(EUI-64)か、ランダムに作る。つまり下位は端末が勝手に決める</a:t>
            </a:r>
          </a:p>
          <a:p>
            <a:pPr lvl="1" algn="l">
              <a:spcAft>
                <a:spcPts val="400"/>
              </a:spcAft>
            </a:pPr>
            <a:r>
              <a:rPr sz="1500" b="1">
                <a:solidFill>
                  <a:srgbClr val="C0392B"/>
                </a:solidFill>
                <a:latin typeface="Meiryo UI"/>
              </a:rPr>
              <a:t>→ /64 より小さく切ると SLAAC が動かない。IPv4 の感覚をここで捨てる</a:t>
            </a:r>
          </a:p>
          <a:p>
            <a:pPr algn="l">
              <a:spcAft>
                <a:spcPts val="800"/>
              </a:spcAft>
            </a:pPr>
            <a:r>
              <a:rPr sz="1800" b="1">
                <a:solidFill>
                  <a:srgbClr val="1F3355"/>
                </a:solidFill>
                <a:latin typeface="Meiryo UI"/>
              </a:rPr>
              <a:t>実務での見え方(ここが後で効きます)</a:t>
            </a:r>
          </a:p>
          <a:p>
            <a:pPr lvl="1" algn="l">
              <a:spcAft>
                <a:spcPts val="400"/>
              </a:spcAft>
            </a:pPr>
            <a:r>
              <a:rPr sz="1500" b="0">
                <a:solidFill>
                  <a:srgbClr val="555555"/>
                </a:solidFill>
                <a:latin typeface="Meiryo UI"/>
              </a:rPr>
              <a:t>ひかり電話なし = /64 が 1 本だけ来る(RA 方式)</a:t>
            </a:r>
          </a:p>
          <a:p>
            <a:pPr lvl="1" algn="l">
              <a:spcAft>
                <a:spcPts val="400"/>
              </a:spcAft>
            </a:pPr>
            <a:r>
              <a:rPr sz="1500" b="0">
                <a:solidFill>
                  <a:srgbClr val="555555"/>
                </a:solidFill>
                <a:latin typeface="Meiryo UI"/>
              </a:rPr>
              <a:t>ひかり電話あり = /56 が委譲される = /64 が 256 本使える(PD 方式)</a:t>
            </a:r>
          </a:p>
          <a:p>
            <a:pPr lvl="1" algn="l">
              <a:spcAft>
                <a:spcPts val="400"/>
              </a:spcAft>
            </a:pPr>
            <a:r>
              <a:rPr sz="1500" b="0">
                <a:solidFill>
                  <a:srgbClr val="555555"/>
                </a:solidFill>
                <a:latin typeface="Meiryo UI"/>
              </a:rPr>
              <a:t>この違いが効くのは「LAN をいくつのセグメントに切れるか」と「HGW とどちらで終端するか」</a:t>
            </a:r>
          </a:p>
          <a:p>
            <a:pPr lvl="1" algn="l">
              <a:spcAft>
                <a:spcPts val="400"/>
              </a:spcAft>
            </a:pPr>
            <a:r>
              <a:rPr sz="1500" b="1">
                <a:solidFill>
                  <a:srgbClr val="C0392B"/>
                </a:solidFill>
                <a:latin typeface="Meiryo UI"/>
              </a:rPr>
              <a:t>※ MAP-E は /64 (RA 方式) でも組めます。ラボでも RA 方式で 198.51.100.20 / PSID 3 を導出しました</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教科書: 第3章「IPv6 アドレス」/ 第7章「SLAAC」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アドレスの種類 — 1 つの NIC に何本も付く</a:t>
            </a:r>
          </a:p>
        </p:txBody>
      </p:sp>
      <p:graphicFrame>
        <p:nvGraphicFramePr>
          <p:cNvPr id="3" name="Table 2"/>
          <p:cNvGraphicFramePr>
            <a:graphicFrameLocks noGrp="1"/>
          </p:cNvGraphicFramePr>
          <p:nvPr/>
        </p:nvGraphicFramePr>
        <p:xfrm>
          <a:off x="502920" y="1143000"/>
          <a:ext cx="11155680" cy="2581402"/>
        </p:xfrm>
        <a:graphic>
          <a:graphicData uri="http://schemas.openxmlformats.org/drawingml/2006/table">
            <a:tbl>
              <a:tblPr>
                <a:tableStyleId>{5C22544A-7EE6-4342-B048-85BDC9FD1C3A}</a:tableStyleId>
              </a:tblPr>
              <a:tblGrid>
                <a:gridCol w="2377440"/>
                <a:gridCol w="1463040"/>
                <a:gridCol w="1828800"/>
                <a:gridCol w="1920240"/>
                <a:gridCol w="3566160"/>
              </a:tblGrid>
              <a:tr h="322675">
                <a:tc>
                  <a:txBody>
                    <a:bodyPr/>
                    <a:lstStyle/>
                    <a:p>
                      <a:pPr algn="l"/>
                      <a:r>
                        <a:rPr sz="1200" b="1">
                          <a:solidFill>
                            <a:srgbClr val="FFFFFF"/>
                          </a:solidFill>
                          <a:latin typeface="Meiryo UI"/>
                        </a:rPr>
                        <a:t>種類</a:t>
                      </a:r>
                    </a:p>
                  </a:txBody>
                  <a:tcPr>
                    <a:solidFill>
                      <a:srgbClr val="1F3355"/>
                    </a:solidFill>
                  </a:tcPr>
                </a:tc>
                <a:tc>
                  <a:txBody>
                    <a:bodyPr/>
                    <a:lstStyle/>
                    <a:p>
                      <a:pPr algn="l"/>
                      <a:r>
                        <a:rPr sz="1200" b="1">
                          <a:solidFill>
                            <a:srgbClr val="FFFFFF"/>
                          </a:solidFill>
                          <a:latin typeface="Meiryo UI"/>
                        </a:rPr>
                        <a:t>見た目</a:t>
                      </a:r>
                    </a:p>
                  </a:txBody>
                  <a:tcPr>
                    <a:solidFill>
                      <a:srgbClr val="1F3355"/>
                    </a:solidFill>
                  </a:tcPr>
                </a:tc>
                <a:tc>
                  <a:txBody>
                    <a:bodyPr/>
                    <a:lstStyle/>
                    <a:p>
                      <a:pPr algn="l"/>
                      <a:r>
                        <a:rPr sz="1200" b="1">
                          <a:solidFill>
                            <a:srgbClr val="FFFFFF"/>
                          </a:solidFill>
                          <a:latin typeface="Meiryo UI"/>
                        </a:rPr>
                        <a:t>届く範囲</a:t>
                      </a:r>
                    </a:p>
                  </a:txBody>
                  <a:tcPr>
                    <a:solidFill>
                      <a:srgbClr val="1F3355"/>
                    </a:solidFill>
                  </a:tcPr>
                </a:tc>
                <a:tc>
                  <a:txBody>
                    <a:bodyPr/>
                    <a:lstStyle/>
                    <a:p>
                      <a:pPr algn="l"/>
                      <a:r>
                        <a:rPr sz="1200" b="1">
                          <a:solidFill>
                            <a:srgbClr val="FFFFFF"/>
                          </a:solidFill>
                          <a:latin typeface="Meiryo UI"/>
                        </a:rPr>
                        <a:t>誰が決める</a:t>
                      </a:r>
                    </a:p>
                  </a:txBody>
                  <a:tcPr>
                    <a:solidFill>
                      <a:srgbClr val="1F3355"/>
                    </a:solidFill>
                  </a:tcPr>
                </a:tc>
                <a:tc>
                  <a:txBody>
                    <a:bodyPr/>
                    <a:lstStyle/>
                    <a:p>
                      <a:pPr algn="l"/>
                      <a:r>
                        <a:rPr sz="1200" b="1">
                          <a:solidFill>
                            <a:srgbClr val="FFFFFF"/>
                          </a:solidFill>
                          <a:latin typeface="Meiryo UI"/>
                        </a:rPr>
                        <a:t>現場でどこで見るか</a:t>
                      </a:r>
                    </a:p>
                  </a:txBody>
                  <a:tcPr>
                    <a:solidFill>
                      <a:srgbClr val="1F3355"/>
                    </a:solidFill>
                  </a:tcPr>
                </a:tc>
              </a:tr>
              <a:tr h="322675">
                <a:tc>
                  <a:txBody>
                    <a:bodyPr/>
                    <a:lstStyle/>
                    <a:p>
                      <a:pPr algn="l"/>
                      <a:r>
                        <a:rPr sz="1100" b="0">
                          <a:solidFill>
                            <a:srgbClr val="1F3355"/>
                          </a:solidFill>
                          <a:latin typeface="Meiryo UI"/>
                        </a:rPr>
                        <a:t>リンクローカル(LLA)</a:t>
                      </a:r>
                    </a:p>
                  </a:txBody>
                  <a:tcPr>
                    <a:solidFill>
                      <a:srgbClr val="FFFFFF"/>
                    </a:solidFill>
                  </a:tcPr>
                </a:tc>
                <a:tc>
                  <a:txBody>
                    <a:bodyPr/>
                    <a:lstStyle/>
                    <a:p>
                      <a:pPr algn="l"/>
                      <a:r>
                        <a:rPr sz="1100" b="0">
                          <a:solidFill>
                            <a:srgbClr val="1F3355"/>
                          </a:solidFill>
                          <a:latin typeface="Meiryo UI"/>
                        </a:rPr>
                        <a:t>fe80::…</a:t>
                      </a:r>
                    </a:p>
                  </a:txBody>
                  <a:tcPr>
                    <a:solidFill>
                      <a:srgbClr val="FFFFFF"/>
                    </a:solidFill>
                  </a:tcPr>
                </a:tc>
                <a:tc>
                  <a:txBody>
                    <a:bodyPr/>
                    <a:lstStyle/>
                    <a:p>
                      <a:pPr algn="l"/>
                      <a:r>
                        <a:rPr sz="1100" b="0">
                          <a:solidFill>
                            <a:srgbClr val="1F3355"/>
                          </a:solidFill>
                          <a:latin typeface="Meiryo UI"/>
                        </a:rPr>
                        <a:t>同じリンク内だけ</a:t>
                      </a:r>
                    </a:p>
                  </a:txBody>
                  <a:tcPr>
                    <a:solidFill>
                      <a:srgbClr val="FFFFFF"/>
                    </a:solidFill>
                  </a:tcPr>
                </a:tc>
                <a:tc>
                  <a:txBody>
                    <a:bodyPr/>
                    <a:lstStyle/>
                    <a:p>
                      <a:pPr algn="l"/>
                      <a:r>
                        <a:rPr sz="1100" b="0">
                          <a:solidFill>
                            <a:srgbClr val="1F3355"/>
                          </a:solidFill>
                          <a:latin typeface="Meiryo UI"/>
                        </a:rPr>
                        <a:t>自動(必ず付く)</a:t>
                      </a:r>
                    </a:p>
                  </a:txBody>
                  <a:tcPr>
                    <a:solidFill>
                      <a:srgbClr val="FFFFFF"/>
                    </a:solidFill>
                  </a:tcPr>
                </a:tc>
                <a:tc>
                  <a:txBody>
                    <a:bodyPr/>
                    <a:lstStyle/>
                    <a:p>
                      <a:pPr algn="l"/>
                      <a:r>
                        <a:rPr sz="1100" b="0">
                          <a:solidFill>
                            <a:srgbClr val="1F3355"/>
                          </a:solidFill>
                          <a:latin typeface="Meiryo UI"/>
                        </a:rPr>
                        <a:t>NDP と RA の送信元。ルーティングの隣接もこれ</a:t>
                      </a:r>
                    </a:p>
                  </a:txBody>
                  <a:tcPr>
                    <a:solidFill>
                      <a:srgbClr val="FFFFFF"/>
                    </a:solidFill>
                  </a:tcPr>
                </a:tc>
              </a:tr>
              <a:tr h="322675">
                <a:tc>
                  <a:txBody>
                    <a:bodyPr/>
                    <a:lstStyle/>
                    <a:p>
                      <a:pPr algn="l"/>
                      <a:r>
                        <a:rPr sz="1100" b="0">
                          <a:solidFill>
                            <a:srgbClr val="1F3355"/>
                          </a:solidFill>
                          <a:latin typeface="Meiryo UI"/>
                        </a:rPr>
                        <a:t>グローバル(GUA)</a:t>
                      </a:r>
                    </a:p>
                  </a:txBody>
                  <a:tcPr>
                    <a:solidFill>
                      <a:srgbClr val="F2F6FA"/>
                    </a:solidFill>
                  </a:tcPr>
                </a:tc>
                <a:tc>
                  <a:txBody>
                    <a:bodyPr/>
                    <a:lstStyle/>
                    <a:p>
                      <a:pPr algn="l"/>
                      <a:r>
                        <a:rPr sz="1100" b="0">
                          <a:solidFill>
                            <a:srgbClr val="1F3355"/>
                          </a:solidFill>
                          <a:latin typeface="Meiryo UI"/>
                        </a:rPr>
                        <a:t>2000::/3</a:t>
                      </a:r>
                    </a:p>
                  </a:txBody>
                  <a:tcPr>
                    <a:solidFill>
                      <a:srgbClr val="F2F6FA"/>
                    </a:solidFill>
                  </a:tcPr>
                </a:tc>
                <a:tc>
                  <a:txBody>
                    <a:bodyPr/>
                    <a:lstStyle/>
                    <a:p>
                      <a:pPr algn="l"/>
                      <a:r>
                        <a:rPr sz="1100" b="0">
                          <a:solidFill>
                            <a:srgbClr val="1F3355"/>
                          </a:solidFill>
                          <a:latin typeface="Meiryo UI"/>
                        </a:rPr>
                        <a:t>インターネット全体</a:t>
                      </a:r>
                    </a:p>
                  </a:txBody>
                  <a:tcPr>
                    <a:solidFill>
                      <a:srgbClr val="F2F6FA"/>
                    </a:solidFill>
                  </a:tcPr>
                </a:tc>
                <a:tc>
                  <a:txBody>
                    <a:bodyPr/>
                    <a:lstStyle/>
                    <a:p>
                      <a:pPr algn="l"/>
                      <a:r>
                        <a:rPr sz="1100" b="0">
                          <a:solidFill>
                            <a:srgbClr val="1F3355"/>
                          </a:solidFill>
                          <a:latin typeface="Meiryo UI"/>
                        </a:rPr>
                        <a:t>RA か DHCPv6</a:t>
                      </a:r>
                    </a:p>
                  </a:txBody>
                  <a:tcPr>
                    <a:solidFill>
                      <a:srgbClr val="F2F6FA"/>
                    </a:solidFill>
                  </a:tcPr>
                </a:tc>
                <a:tc>
                  <a:txBody>
                    <a:bodyPr/>
                    <a:lstStyle/>
                    <a:p>
                      <a:pPr algn="l"/>
                      <a:r>
                        <a:rPr sz="1100" b="0">
                          <a:solidFill>
                            <a:srgbClr val="1F3355"/>
                          </a:solidFill>
                          <a:latin typeface="Meiryo UI"/>
                        </a:rPr>
                        <a:t>実際の通信に使うアドレス</a:t>
                      </a:r>
                    </a:p>
                  </a:txBody>
                  <a:tcPr>
                    <a:solidFill>
                      <a:srgbClr val="F2F6FA"/>
                    </a:solidFill>
                  </a:tcPr>
                </a:tc>
              </a:tr>
              <a:tr h="322675">
                <a:tc>
                  <a:txBody>
                    <a:bodyPr/>
                    <a:lstStyle/>
                    <a:p>
                      <a:pPr algn="l"/>
                      <a:r>
                        <a:rPr sz="1100" b="0">
                          <a:solidFill>
                            <a:srgbClr val="1F3355"/>
                          </a:solidFill>
                          <a:latin typeface="Meiryo UI"/>
                        </a:rPr>
                        <a:t>ユニークローカル(ULA)</a:t>
                      </a:r>
                    </a:p>
                  </a:txBody>
                  <a:tcPr>
                    <a:solidFill>
                      <a:srgbClr val="FFFFFF"/>
                    </a:solidFill>
                  </a:tcPr>
                </a:tc>
                <a:tc>
                  <a:txBody>
                    <a:bodyPr/>
                    <a:lstStyle/>
                    <a:p>
                      <a:pPr algn="l"/>
                      <a:r>
                        <a:rPr sz="1100" b="0">
                          <a:solidFill>
                            <a:srgbClr val="1F3355"/>
                          </a:solidFill>
                          <a:latin typeface="Meiryo UI"/>
                        </a:rPr>
                        <a:t>fd00::/8</a:t>
                      </a:r>
                    </a:p>
                  </a:txBody>
                  <a:tcPr>
                    <a:solidFill>
                      <a:srgbClr val="FFFFFF"/>
                    </a:solidFill>
                  </a:tcPr>
                </a:tc>
                <a:tc>
                  <a:txBody>
                    <a:bodyPr/>
                    <a:lstStyle/>
                    <a:p>
                      <a:pPr algn="l"/>
                      <a:r>
                        <a:rPr sz="1100" b="0">
                          <a:solidFill>
                            <a:srgbClr val="1F3355"/>
                          </a:solidFill>
                          <a:latin typeface="Meiryo UI"/>
                        </a:rPr>
                        <a:t>組織内だけ</a:t>
                      </a:r>
                    </a:p>
                  </a:txBody>
                  <a:tcPr>
                    <a:solidFill>
                      <a:srgbClr val="FFFFFF"/>
                    </a:solidFill>
                  </a:tcPr>
                </a:tc>
                <a:tc>
                  <a:txBody>
                    <a:bodyPr/>
                    <a:lstStyle/>
                    <a:p>
                      <a:pPr algn="l"/>
                      <a:r>
                        <a:rPr sz="1100" b="0">
                          <a:solidFill>
                            <a:srgbClr val="1F3355"/>
                          </a:solidFill>
                          <a:latin typeface="Meiryo UI"/>
                        </a:rPr>
                        <a:t>自分で決める</a:t>
                      </a:r>
                    </a:p>
                  </a:txBody>
                  <a:tcPr>
                    <a:solidFill>
                      <a:srgbClr val="FFFFFF"/>
                    </a:solidFill>
                  </a:tcPr>
                </a:tc>
                <a:tc>
                  <a:txBody>
                    <a:bodyPr/>
                    <a:lstStyle/>
                    <a:p>
                      <a:pPr algn="l"/>
                      <a:r>
                        <a:rPr sz="1100" b="0">
                          <a:solidFill>
                            <a:srgbClr val="1F3355"/>
                          </a:solidFill>
                          <a:latin typeface="Meiryo UI"/>
                        </a:rPr>
                        <a:t>規格上は fc00::/7。OpenWrt が既定で作る (事故の元)</a:t>
                      </a:r>
                    </a:p>
                  </a:txBody>
                  <a:tcPr>
                    <a:solidFill>
                      <a:srgbClr val="FFFFFF"/>
                    </a:solidFill>
                  </a:tcPr>
                </a:tc>
              </a:tr>
              <a:tr h="322675">
                <a:tc>
                  <a:txBody>
                    <a:bodyPr/>
                    <a:lstStyle/>
                    <a:p>
                      <a:pPr algn="l"/>
                      <a:r>
                        <a:rPr sz="1100" b="0">
                          <a:solidFill>
                            <a:srgbClr val="1F3355"/>
                          </a:solidFill>
                          <a:latin typeface="Meiryo UI"/>
                        </a:rPr>
                        <a:t>マルチキャスト</a:t>
                      </a:r>
                    </a:p>
                  </a:txBody>
                  <a:tcPr>
                    <a:solidFill>
                      <a:srgbClr val="F2F6FA"/>
                    </a:solidFill>
                  </a:tcPr>
                </a:tc>
                <a:tc>
                  <a:txBody>
                    <a:bodyPr/>
                    <a:lstStyle/>
                    <a:p>
                      <a:pPr algn="l"/>
                      <a:r>
                        <a:rPr sz="1100" b="0">
                          <a:solidFill>
                            <a:srgbClr val="1F3355"/>
                          </a:solidFill>
                          <a:latin typeface="Meiryo UI"/>
                        </a:rPr>
                        <a:t>ff00::/8</a:t>
                      </a:r>
                    </a:p>
                  </a:txBody>
                  <a:tcPr>
                    <a:solidFill>
                      <a:srgbClr val="F2F6FA"/>
                    </a:solidFill>
                  </a:tcPr>
                </a:tc>
                <a:tc>
                  <a:txBody>
                    <a:bodyPr/>
                    <a:lstStyle/>
                    <a:p>
                      <a:pPr algn="l"/>
                      <a:r>
                        <a:rPr sz="1100" b="0">
                          <a:solidFill>
                            <a:srgbClr val="1F3355"/>
                          </a:solidFill>
                          <a:latin typeface="Meiryo UI"/>
                        </a:rPr>
                        <a:t>グループ宛</a:t>
                      </a:r>
                    </a:p>
                  </a:txBody>
                  <a:tcPr>
                    <a:solidFill>
                      <a:srgbClr val="F2F6FA"/>
                    </a:solidFill>
                  </a:tcPr>
                </a:tc>
                <a:tc>
                  <a:txBody>
                    <a:bodyPr/>
                    <a:lstStyle/>
                    <a:p>
                      <a:pPr algn="l"/>
                      <a:r>
                        <a:rPr sz="1100" b="0">
                          <a:solidFill>
                            <a:srgbClr val="1F3355"/>
                          </a:solidFill>
                          <a:latin typeface="Meiryo UI"/>
                        </a:rPr>
                        <a:t>規格で決まっている</a:t>
                      </a:r>
                    </a:p>
                  </a:txBody>
                  <a:tcPr>
                    <a:solidFill>
                      <a:srgbClr val="F2F6FA"/>
                    </a:solidFill>
                  </a:tcPr>
                </a:tc>
                <a:tc>
                  <a:txBody>
                    <a:bodyPr/>
                    <a:lstStyle/>
                    <a:p>
                      <a:pPr algn="l"/>
                      <a:r>
                        <a:rPr sz="1100" b="0">
                          <a:solidFill>
                            <a:srgbClr val="1F3355"/>
                          </a:solidFill>
                          <a:latin typeface="Meiryo UI"/>
                        </a:rPr>
                        <a:t>ff02::1 全ノード / ff02::2 全ルータ</a:t>
                      </a:r>
                    </a:p>
                  </a:txBody>
                  <a:tcPr>
                    <a:solidFill>
                      <a:srgbClr val="F2F6FA"/>
                    </a:solidFill>
                  </a:tcPr>
                </a:tc>
              </a:tr>
              <a:tr h="322675">
                <a:tc>
                  <a:txBody>
                    <a:bodyPr/>
                    <a:lstStyle/>
                    <a:p>
                      <a:pPr algn="l"/>
                      <a:r>
                        <a:rPr sz="1100" b="0">
                          <a:solidFill>
                            <a:srgbClr val="1F3355"/>
                          </a:solidFill>
                          <a:latin typeface="Meiryo UI"/>
                        </a:rPr>
                        <a:t>エニーキャスト</a:t>
                      </a:r>
                    </a:p>
                  </a:txBody>
                  <a:tcPr>
                    <a:solidFill>
                      <a:srgbClr val="FFFFFF"/>
                    </a:solidFill>
                  </a:tcPr>
                </a:tc>
                <a:tc>
                  <a:txBody>
                    <a:bodyPr/>
                    <a:lstStyle/>
                    <a:p>
                      <a:pPr algn="l"/>
                      <a:r>
                        <a:rPr sz="1100" b="0">
                          <a:solidFill>
                            <a:srgbClr val="1F3355"/>
                          </a:solidFill>
                          <a:latin typeface="Meiryo UI"/>
                        </a:rPr>
                        <a:t>GUA と同じ</a:t>
                      </a:r>
                    </a:p>
                  </a:txBody>
                  <a:tcPr>
                    <a:solidFill>
                      <a:srgbClr val="FFFFFF"/>
                    </a:solidFill>
                  </a:tcPr>
                </a:tc>
                <a:tc>
                  <a:txBody>
                    <a:bodyPr/>
                    <a:lstStyle/>
                    <a:p>
                      <a:pPr algn="l"/>
                      <a:r>
                        <a:rPr sz="1100" b="0">
                          <a:solidFill>
                            <a:srgbClr val="1F3355"/>
                          </a:solidFill>
                          <a:latin typeface="Meiryo UI"/>
                        </a:rPr>
                        <a:t>一番近い 1 台</a:t>
                      </a:r>
                    </a:p>
                  </a:txBody>
                  <a:tcPr>
                    <a:solidFill>
                      <a:srgbClr val="FFFFFF"/>
                    </a:solidFill>
                  </a:tcPr>
                </a:tc>
                <a:tc>
                  <a:txBody>
                    <a:bodyPr/>
                    <a:lstStyle/>
                    <a:p>
                      <a:pPr algn="l"/>
                      <a:r>
                        <a:rPr sz="1100" b="0">
                          <a:solidFill>
                            <a:srgbClr val="1F3355"/>
                          </a:solidFill>
                          <a:latin typeface="Meiryo UI"/>
                        </a:rPr>
                        <a:t>設計で決める</a:t>
                      </a:r>
                    </a:p>
                  </a:txBody>
                  <a:tcPr>
                    <a:solidFill>
                      <a:srgbClr val="FFFFFF"/>
                    </a:solidFill>
                  </a:tcPr>
                </a:tc>
                <a:tc>
                  <a:txBody>
                    <a:bodyPr/>
                    <a:lstStyle/>
                    <a:p>
                      <a:pPr algn="l"/>
                      <a:r>
                        <a:rPr sz="1100" b="0">
                          <a:solidFill>
                            <a:srgbClr val="1F3355"/>
                          </a:solidFill>
                          <a:latin typeface="Meiryo UI"/>
                        </a:rPr>
                        <a:t>DNS など。見た目では区別できない</a:t>
                      </a:r>
                    </a:p>
                  </a:txBody>
                  <a:tcPr>
                    <a:solidFill>
                      <a:srgbClr val="FFFFFF"/>
                    </a:solidFill>
                  </a:tcPr>
                </a:tc>
              </a:tr>
              <a:tr h="322675">
                <a:tc>
                  <a:txBody>
                    <a:bodyPr/>
                    <a:lstStyle/>
                    <a:p>
                      <a:pPr algn="l"/>
                      <a:r>
                        <a:rPr sz="1100" b="0">
                          <a:solidFill>
                            <a:srgbClr val="1F3355"/>
                          </a:solidFill>
                          <a:latin typeface="Meiryo UI"/>
                        </a:rPr>
                        <a:t>未指定</a:t>
                      </a:r>
                    </a:p>
                  </a:txBody>
                  <a:tcPr>
                    <a:solidFill>
                      <a:srgbClr val="F2F6FA"/>
                    </a:solidFill>
                  </a:tcPr>
                </a:tc>
                <a:tc>
                  <a:txBody>
                    <a:bodyPr/>
                    <a:lstStyle/>
                    <a:p>
                      <a:pPr algn="l"/>
                      <a:r>
                        <a:rPr sz="1100" b="0">
                          <a:solidFill>
                            <a:srgbClr val="1F3355"/>
                          </a:solidFill>
                          <a:latin typeface="Meiryo UI"/>
                        </a:rPr>
                        <a:t>::</a:t>
                      </a:r>
                    </a:p>
                  </a:txBody>
                  <a:tcPr>
                    <a:solidFill>
                      <a:srgbClr val="F2F6FA"/>
                    </a:solidFill>
                  </a:tcPr>
                </a:tc>
                <a:tc>
                  <a:txBody>
                    <a:bodyPr/>
                    <a:lstStyle/>
                    <a:p>
                      <a:pPr algn="l"/>
                      <a:r>
                        <a:rPr sz="1100" b="0">
                          <a:solidFill>
                            <a:srgbClr val="1F3355"/>
                          </a:solidFill>
                          <a:latin typeface="Meiryo UI"/>
                        </a:rPr>
                        <a:t>—</a:t>
                      </a:r>
                    </a:p>
                  </a:txBody>
                  <a:tcPr>
                    <a:solidFill>
                      <a:srgbClr val="F2F6FA"/>
                    </a:solidFill>
                  </a:tcPr>
                </a:tc>
                <a:tc>
                  <a:txBody>
                    <a:bodyPr/>
                    <a:lstStyle/>
                    <a:p>
                      <a:pPr algn="l"/>
                      <a:r>
                        <a:rPr sz="1100" b="0">
                          <a:solidFill>
                            <a:srgbClr val="1F3355"/>
                          </a:solidFill>
                          <a:latin typeface="Meiryo UI"/>
                        </a:rPr>
                        <a:t>—</a:t>
                      </a:r>
                    </a:p>
                  </a:txBody>
                  <a:tcPr>
                    <a:solidFill>
                      <a:srgbClr val="F2F6FA"/>
                    </a:solidFill>
                  </a:tcPr>
                </a:tc>
                <a:tc>
                  <a:txBody>
                    <a:bodyPr/>
                    <a:lstStyle/>
                    <a:p>
                      <a:pPr algn="l"/>
                      <a:r>
                        <a:rPr sz="1100" b="0">
                          <a:solidFill>
                            <a:srgbClr val="1F3355"/>
                          </a:solidFill>
                          <a:latin typeface="Meiryo UI"/>
                        </a:rPr>
                        <a:t>DAD の送信元。「まだ決まっていない」の意味</a:t>
                      </a:r>
                    </a:p>
                  </a:txBody>
                  <a:tcPr>
                    <a:solidFill>
                      <a:srgbClr val="F2F6FA"/>
                    </a:solidFill>
                  </a:tcPr>
                </a:tc>
              </a:tr>
              <a:tr h="322677">
                <a:tc>
                  <a:txBody>
                    <a:bodyPr/>
                    <a:lstStyle/>
                    <a:p>
                      <a:pPr algn="l"/>
                      <a:r>
                        <a:rPr sz="1100" b="0">
                          <a:solidFill>
                            <a:srgbClr val="1F3355"/>
                          </a:solidFill>
                          <a:latin typeface="Meiryo UI"/>
                        </a:rPr>
                        <a:t>ループバック</a:t>
                      </a:r>
                    </a:p>
                  </a:txBody>
                  <a:tcPr>
                    <a:solidFill>
                      <a:srgbClr val="FFFFFF"/>
                    </a:solidFill>
                  </a:tcPr>
                </a:tc>
                <a:tc>
                  <a:txBody>
                    <a:bodyPr/>
                    <a:lstStyle/>
                    <a:p>
                      <a:pPr algn="l"/>
                      <a:r>
                        <a:rPr sz="1100" b="0">
                          <a:solidFill>
                            <a:srgbClr val="1F3355"/>
                          </a:solidFill>
                          <a:latin typeface="Meiryo UI"/>
                        </a:rPr>
                        <a:t>::1</a:t>
                      </a:r>
                    </a:p>
                  </a:txBody>
                  <a:tcPr>
                    <a:solidFill>
                      <a:srgbClr val="FFFFFF"/>
                    </a:solidFill>
                  </a:tcPr>
                </a:tc>
                <a:tc>
                  <a:txBody>
                    <a:bodyPr/>
                    <a:lstStyle/>
                    <a:p>
                      <a:pPr algn="l"/>
                      <a:r>
                        <a:rPr sz="1100" b="0">
                          <a:solidFill>
                            <a:srgbClr val="1F3355"/>
                          </a:solidFill>
                          <a:latin typeface="Meiryo UI"/>
                        </a:rPr>
                        <a:t>自分だけ</a:t>
                      </a:r>
                    </a:p>
                  </a:txBody>
                  <a:tcPr>
                    <a:solidFill>
                      <a:srgbClr val="FFFFFF"/>
                    </a:solidFill>
                  </a:tcPr>
                </a:tc>
                <a:tc>
                  <a:txBody>
                    <a:bodyPr/>
                    <a:lstStyle/>
                    <a:p>
                      <a:pPr algn="l"/>
                      <a:r>
                        <a:rPr sz="1100" b="0">
                          <a:solidFill>
                            <a:srgbClr val="1F3355"/>
                          </a:solidFill>
                          <a:latin typeface="Meiryo UI"/>
                        </a:rPr>
                        <a:t>—</a:t>
                      </a:r>
                    </a:p>
                  </a:txBody>
                  <a:tcPr>
                    <a:solidFill>
                      <a:srgbClr val="FFFFFF"/>
                    </a:solidFill>
                  </a:tcPr>
                </a:tc>
                <a:tc>
                  <a:txBody>
                    <a:bodyPr/>
                    <a:lstStyle/>
                    <a:p>
                      <a:pPr algn="l"/>
                      <a:r>
                        <a:rPr sz="1100" b="0">
                          <a:solidFill>
                            <a:srgbClr val="1F3355"/>
                          </a:solidFill>
                          <a:latin typeface="Meiryo UI"/>
                        </a:rPr>
                        <a:t>IPv4 の 127.0.0.1 に相当</a:t>
                      </a:r>
                    </a:p>
                  </a:txBody>
                  <a:tcPr>
                    <a:solidFill>
                      <a:srgbClr val="FFFFFF"/>
                    </a:solidFill>
                  </a:tcPr>
                </a:tc>
              </a:tr>
            </a:tbl>
          </a:graphicData>
        </a:graphic>
      </p:graphicFrame>
      <p:sp>
        <p:nvSpPr>
          <p:cNvPr id="4" name="TextBox 3"/>
          <p:cNvSpPr txBox="1"/>
          <p:nvPr/>
        </p:nvSpPr>
        <p:spPr>
          <a:xfrm>
            <a:off x="502920" y="3980434"/>
            <a:ext cx="11155680" cy="548640"/>
          </a:xfrm>
          <a:prstGeom prst="rect">
            <a:avLst/>
          </a:prstGeom>
          <a:noFill/>
        </p:spPr>
        <p:txBody>
          <a:bodyPr wrap="square">
            <a:spAutoFit/>
          </a:bodyPr>
          <a:lstStyle/>
          <a:p>
            <a:pPr algn="l"/>
            <a:r>
              <a:rPr sz="1200" b="0">
                <a:solidFill>
                  <a:srgbClr val="007ACC"/>
                </a:solidFill>
                <a:latin typeface="Meiryo UI"/>
              </a:rPr>
              <a:t>資料や検証に使う「ドキュメント用」は 2001:db8::/32。実在アドレスを例に使わないこと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fe80:: が必ず付いている理由 — IPv4 と一番違うところ</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1000"/>
              </a:spcAft>
            </a:pPr>
            <a:r>
              <a:rPr sz="2000" b="1">
                <a:solidFill>
                  <a:srgbClr val="1F3355"/>
                </a:solidFill>
                <a:latin typeface="Meiryo UI"/>
              </a:rPr>
              <a:t>IPv6 は「アドレスをもらう前に通信する」必要がある</a:t>
            </a:r>
          </a:p>
          <a:p>
            <a:pPr lvl="1" algn="l">
              <a:spcAft>
                <a:spcPts val="600"/>
              </a:spcAft>
            </a:pPr>
            <a:r>
              <a:rPr sz="1700" b="0">
                <a:solidFill>
                  <a:srgbClr val="555555"/>
                </a:solidFill>
                <a:latin typeface="Meiryo UI"/>
              </a:rPr>
              <a:t>アドレスをくれるのはルータ。でもルータと話すにはアドレスが要る → 鶏と卵</a:t>
            </a:r>
          </a:p>
          <a:p>
            <a:pPr lvl="1" algn="l">
              <a:spcAft>
                <a:spcPts val="600"/>
              </a:spcAft>
            </a:pPr>
            <a:r>
              <a:rPr sz="1700" b="0">
                <a:solidFill>
                  <a:srgbClr val="555555"/>
                </a:solidFill>
                <a:latin typeface="Meiryo UI"/>
              </a:rPr>
              <a:t>だから NIC が上がった瞬間に自分だけで作れるアドレスが要る。それが fe80::</a:t>
            </a:r>
          </a:p>
          <a:p>
            <a:pPr algn="l">
              <a:spcAft>
                <a:spcPts val="1000"/>
              </a:spcAft>
            </a:pPr>
            <a:r>
              <a:rPr sz="2000" b="1">
                <a:solidFill>
                  <a:srgbClr val="1F3355"/>
                </a:solidFill>
                <a:latin typeface="Meiryo UI"/>
              </a:rPr>
              <a:t>だから、こうなっている</a:t>
            </a:r>
          </a:p>
          <a:p>
            <a:pPr lvl="1" algn="l">
              <a:spcAft>
                <a:spcPts val="600"/>
              </a:spcAft>
            </a:pPr>
            <a:r>
              <a:rPr sz="1700" b="0">
                <a:solidFill>
                  <a:srgbClr val="555555"/>
                </a:solidFill>
                <a:latin typeface="Meiryo UI"/>
              </a:rPr>
              <a:t>RA も DHCPv6 も送信元は fe80::。グローバルは後から付く</a:t>
            </a:r>
          </a:p>
          <a:p>
            <a:pPr lvl="1" algn="l">
              <a:spcAft>
                <a:spcPts val="600"/>
              </a:spcAft>
            </a:pPr>
            <a:r>
              <a:rPr sz="1700" b="0">
                <a:solidFill>
                  <a:srgbClr val="555555"/>
                </a:solidFill>
                <a:latin typeface="Meiryo UI"/>
              </a:rPr>
              <a:t>既定ゲートウェイも fe80:: で指す。IPv4 のように 192.168.1.1 とは書かない</a:t>
            </a:r>
          </a:p>
          <a:p>
            <a:pPr lvl="1" algn="l">
              <a:spcAft>
                <a:spcPts val="600"/>
              </a:spcAft>
            </a:pPr>
            <a:r>
              <a:rPr sz="1700" b="0">
                <a:solidFill>
                  <a:srgbClr val="555555"/>
                </a:solidFill>
                <a:latin typeface="Meiryo UI"/>
              </a:rPr>
              <a:t>OSPFv3 / BGP の隣接も fe80::。「グローバルが無い = 壊れている」ではない</a:t>
            </a:r>
          </a:p>
          <a:p>
            <a:pPr algn="l">
              <a:spcAft>
                <a:spcPts val="1000"/>
              </a:spcAft>
            </a:pPr>
            <a:r>
              <a:rPr sz="2000" b="1">
                <a:solidFill>
                  <a:srgbClr val="1F3355"/>
                </a:solidFill>
                <a:latin typeface="Meiryo UI"/>
              </a:rPr>
              <a:t>現場で効く場面</a:t>
            </a:r>
          </a:p>
          <a:p>
            <a:pPr lvl="1" algn="l">
              <a:spcAft>
                <a:spcPts val="600"/>
              </a:spcAft>
            </a:pPr>
            <a:r>
              <a:rPr sz="1700" b="0">
                <a:solidFill>
                  <a:srgbClr val="555555"/>
                </a:solidFill>
                <a:latin typeface="Meiryo UI"/>
              </a:rPr>
              <a:t>「グローバル IPv6 が無いのに ping6 が通る」→ 正常。LLA で通っています</a:t>
            </a:r>
          </a:p>
          <a:p>
            <a:pPr lvl="1" algn="l">
              <a:spcAft>
                <a:spcPts val="600"/>
              </a:spcAft>
            </a:pPr>
            <a:r>
              <a:rPr sz="1700" b="0">
                <a:solidFill>
                  <a:srgbClr val="555555"/>
                </a:solidFill>
                <a:latin typeface="Meiryo UI"/>
              </a:rPr>
              <a:t>このラボでも、VM に管理 IP を振らず fe80:: だけで SSH して構築しました</a:t>
            </a:r>
          </a:p>
          <a:p>
            <a:pPr lvl="1" algn="l">
              <a:spcAft>
                <a:spcPts val="600"/>
              </a:spcAft>
            </a:pPr>
            <a:r>
              <a:rPr sz="1700" b="1">
                <a:solidFill>
                  <a:srgbClr val="C0392B"/>
                </a:solidFill>
                <a:latin typeface="Meiryo UI"/>
              </a:rPr>
              <a:t>※ fe80:: は どのインタフェース経由か を書かないと使えない(%eth0 / %vmbr0)</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教科書: 第5章「ICMPv6」/ 第6章「近隣探索プロトコル(NDP)」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アドレスはどうやって決まるのか</a:t>
            </a:r>
          </a:p>
        </p:txBody>
      </p:sp>
      <p:sp>
        <p:nvSpPr>
          <p:cNvPr id="3" name="Rounded Rectangle 2"/>
          <p:cNvSpPr/>
          <p:nvPr/>
        </p:nvSpPr>
        <p:spPr>
          <a:xfrm>
            <a:off x="4572000" y="1188720"/>
            <a:ext cx="3017520" cy="914400"/>
          </a:xfrm>
          <a:prstGeom prst="roundRect">
            <a:avLst/>
          </a:prstGeom>
          <a:solidFill>
            <a:srgbClr val="EFF5FA"/>
          </a:solidFill>
          <a:ln w="22225">
            <a:solidFill>
              <a:srgbClr val="1F33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ルータから RA が飛んでくる</a:t>
            </a:r>
          </a:p>
          <a:p>
            <a:pPr algn="ctr"/>
            <a:r>
              <a:rPr sz="1100" b="0">
                <a:solidFill>
                  <a:srgbClr val="555555"/>
                </a:solidFill>
                <a:latin typeface="Meiryo UI"/>
              </a:rPr>
              <a:t>ICMPv6。定期送信 + 要求への応答</a:t>
            </a:r>
          </a:p>
        </p:txBody>
      </p:sp>
      <p:sp>
        <p:nvSpPr>
          <p:cNvPr id="4" name="Rounded Rectangle 3"/>
          <p:cNvSpPr/>
          <p:nvPr/>
        </p:nvSpPr>
        <p:spPr>
          <a:xfrm>
            <a:off x="1188720" y="2926080"/>
            <a:ext cx="4206240" cy="109728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SLAAC(自動設定)</a:t>
            </a:r>
          </a:p>
          <a:p>
            <a:pPr algn="ctr"/>
            <a:r>
              <a:rPr sz="1100" b="0">
                <a:solidFill>
                  <a:srgbClr val="555555"/>
                </a:solidFill>
                <a:latin typeface="Meiryo UI"/>
              </a:rPr>
              <a:t>RA にプレフィックスが入っている
端末が下位 64 ビットを自分で作る</a:t>
            </a:r>
          </a:p>
        </p:txBody>
      </p:sp>
      <p:sp>
        <p:nvSpPr>
          <p:cNvPr id="5" name="Rounded Rectangle 4"/>
          <p:cNvSpPr/>
          <p:nvPr/>
        </p:nvSpPr>
        <p:spPr>
          <a:xfrm>
            <a:off x="6766560" y="2926080"/>
            <a:ext cx="4206240" cy="109728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DHCPv6</a:t>
            </a:r>
          </a:p>
          <a:p>
            <a:pPr algn="ctr"/>
            <a:r>
              <a:rPr sz="1100" b="0">
                <a:solidFill>
                  <a:srgbClr val="555555"/>
                </a:solidFill>
                <a:latin typeface="Meiryo UI"/>
              </a:rPr>
              <a:t>RA は「DHCPv6 を使え」と言うだけ
アドレスは DHCPv6 サーバが配る</a:t>
            </a:r>
          </a:p>
        </p:txBody>
      </p:sp>
      <p:cxnSp>
        <p:nvCxnSpPr>
          <p:cNvPr id="6" name="Connector 5"/>
          <p:cNvCxnSpPr/>
          <p:nvPr/>
        </p:nvCxnSpPr>
        <p:spPr>
          <a:xfrm>
            <a:off x="6080760" y="210312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91840" y="2514600"/>
            <a:ext cx="5577840" cy="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91840" y="251460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869680" y="251460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4343400"/>
            <a:ext cx="10789920" cy="1828800"/>
          </a:xfrm>
          <a:prstGeom prst="rect">
            <a:avLst/>
          </a:prstGeom>
          <a:noFill/>
        </p:spPr>
        <p:txBody>
          <a:bodyPr wrap="square">
            <a:spAutoFit/>
          </a:bodyPr>
          <a:lstStyle/>
          <a:p>
            <a:pPr algn="l">
              <a:spcAft>
                <a:spcPts val="600"/>
              </a:spcAft>
            </a:pPr>
            <a:r>
              <a:rPr sz="1400" b="0">
                <a:solidFill>
                  <a:srgbClr val="555555"/>
                </a:solidFill>
                <a:latin typeface="Meiryo UI"/>
              </a:rPr>
              <a:t>RA の中の 2 つのフラグ(M / O)で、どちらを使うかが決まります。</a:t>
            </a:r>
          </a:p>
          <a:p>
            <a:pPr algn="l">
              <a:spcAft>
                <a:spcPts val="600"/>
              </a:spcAft>
            </a:pPr>
            <a:r>
              <a:rPr sz="1400" b="0">
                <a:solidFill>
                  <a:srgbClr val="555555"/>
                </a:solidFill>
                <a:latin typeface="Meiryo UI"/>
              </a:rPr>
              <a:t>M=0 → DHCPv6 でアドレスはもらわない。M=1 → DHCPv6 でも アドレスをもらう。O=1 → DNS 等だけ DHCPv6 から。</a:t>
            </a:r>
          </a:p>
          <a:p>
            <a:pPr algn="l">
              <a:spcAft>
                <a:spcPts val="600"/>
              </a:spcAft>
            </a:pPr>
            <a:r>
              <a:rPr sz="1400" b="1">
                <a:solidFill>
                  <a:srgbClr val="C0392B"/>
                </a:solidFill>
                <a:latin typeface="Meiryo UI"/>
              </a:rPr>
              <a:t>※ SLAAC するかどうかを決めるのは M ではなく、RA の中のプレフィックス情報にある A フラグです。</a:t>
            </a:r>
          </a:p>
          <a:p>
            <a:pPr algn="l">
              <a:spcAft>
                <a:spcPts val="600"/>
              </a:spcAft>
            </a:pPr>
            <a:r>
              <a:rPr sz="1400" b="0">
                <a:solidFill>
                  <a:srgbClr val="555555"/>
                </a:solidFill>
                <a:latin typeface="Meiryo UI"/>
              </a:rPr>
              <a:t>  M=1 でも A=1 なら SLAAC も併走し、端末にアドレスが 2 本以上付きます。</a:t>
            </a:r>
          </a:p>
          <a:p>
            <a:pPr algn="l">
              <a:spcAft>
                <a:spcPts val="600"/>
              </a:spcAft>
            </a:pPr>
            <a:r>
              <a:rPr sz="1400" b="1">
                <a:solidFill>
                  <a:srgbClr val="C0392B"/>
                </a:solidFill>
                <a:latin typeface="Meiryo UI"/>
              </a:rPr>
              <a:t>※ M/O はルータからの推奨でしかなく、従うかは OS 次第 (Android は DHCPv6 を使いません)。</a:t>
            </a:r>
          </a:p>
          <a:p>
            <a:pPr algn="l">
              <a:spcAft>
                <a:spcPts val="600"/>
              </a:spcAft>
            </a:pPr>
            <a:r>
              <a:rPr sz="1400" b="1">
                <a:solidFill>
                  <a:srgbClr val="C0392B"/>
                </a:solidFill>
                <a:latin typeface="Meiryo UI"/>
              </a:rPr>
              <a:t>※ ルータがもらう /56 は DHCPv6-PD という別枠。アドレスではなくプレフィックスの委譲です。</a:t>
            </a:r>
          </a:p>
          <a:p>
            <a:pPr algn="l">
              <a:spcAft>
                <a:spcPts val="600"/>
              </a:spcAft>
            </a:pPr>
            <a:r>
              <a:rPr sz="1400" b="1">
                <a:solidFill>
                  <a:srgbClr val="C0392B"/>
                </a:solidFill>
                <a:latin typeface="Meiryo UI"/>
              </a:rPr>
              <a:t>※ 日本の小規模案件では「ひかり電話あり = PD、なし = RA だけ」で実務はほぼ回ります。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2377440"/>
          </a:xfrm>
          <a:prstGeom prst="rect">
            <a:avLst/>
          </a:prstGeom>
          <a:noFill/>
        </p:spPr>
        <p:txBody>
          <a:bodyPr wrap="square">
            <a:spAutoFit/>
          </a:bodyPr>
          <a:lstStyle/>
          <a:p>
            <a:pPr algn="l"/>
            <a:r>
              <a:rPr sz="2000" b="1">
                <a:solidFill>
                  <a:srgbClr val="7FB8E0"/>
                </a:solidFill>
                <a:latin typeface="Meiryo UI"/>
              </a:rPr>
              <a:t>第2部</a:t>
            </a:r>
          </a:p>
          <a:p>
            <a:pPr algn="l"/>
            <a:r>
              <a:rPr sz="3600" b="1">
                <a:solidFill>
                  <a:srgbClr val="FFFFFF"/>
                </a:solidFill>
                <a:latin typeface="Meiryo UI"/>
              </a:rPr>
              <a:t>日本の回線 — ここからは日本だけの話</a:t>
            </a:r>
          </a:p>
          <a:p>
            <a:pPr algn="l">
              <a:spcBef>
                <a:spcPts val="1600"/>
              </a:spcBef>
            </a:pPr>
            <a:r>
              <a:rPr sz="1600" b="0">
                <a:solidFill>
                  <a:srgbClr val="D5E5F2"/>
                </a:solidFill>
                <a:latin typeface="Meiryo UI"/>
              </a:rPr>
              <a:t>ゴール: 登場人物と、v6プラス / transix などが結局「どれ」なのかを表で押さえる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登場人物 — 「ISP」と一言で言っても 3 者いる</a:t>
            </a:r>
          </a:p>
        </p:txBody>
      </p:sp>
      <p:sp>
        <p:nvSpPr>
          <p:cNvPr id="3" name="Rounded Rectangle 2"/>
          <p:cNvSpPr/>
          <p:nvPr/>
        </p:nvSpPr>
        <p:spPr>
          <a:xfrm>
            <a:off x="685800"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お客様の CPE</a:t>
            </a:r>
          </a:p>
          <a:p>
            <a:pPr algn="ctr"/>
            <a:r>
              <a:rPr sz="1100" b="0">
                <a:solidFill>
                  <a:srgbClr val="555555"/>
                </a:solidFill>
                <a:latin typeface="Meiryo UI"/>
              </a:rPr>
              <a:t>ルータ
892FJ / RTX / OpenWrt</a:t>
            </a:r>
          </a:p>
        </p:txBody>
      </p:sp>
      <p:sp>
        <p:nvSpPr>
          <p:cNvPr id="4" name="Right Arrow 3"/>
          <p:cNvSpPr/>
          <p:nvPr/>
        </p:nvSpPr>
        <p:spPr>
          <a:xfrm>
            <a:off x="2897733" y="2926080"/>
            <a:ext cx="647395"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545128"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NTT の網(NGN)</a:t>
            </a:r>
          </a:p>
          <a:p>
            <a:pPr algn="ctr"/>
            <a:r>
              <a:rPr sz="1100" b="0">
                <a:solidFill>
                  <a:srgbClr val="555555"/>
                </a:solidFill>
                <a:latin typeface="Meiryo UI"/>
              </a:rPr>
              <a:t>フレッツ光
ここまでは NTT</a:t>
            </a:r>
          </a:p>
        </p:txBody>
      </p:sp>
      <p:sp>
        <p:nvSpPr>
          <p:cNvPr id="6" name="Right Arrow 5"/>
          <p:cNvSpPr/>
          <p:nvPr/>
        </p:nvSpPr>
        <p:spPr>
          <a:xfrm>
            <a:off x="5757062" y="2926080"/>
            <a:ext cx="647395"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4457"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VNE</a:t>
            </a:r>
          </a:p>
          <a:p>
            <a:pPr algn="ctr"/>
            <a:r>
              <a:rPr sz="1100" b="0">
                <a:solidFill>
                  <a:srgbClr val="555555"/>
                </a:solidFill>
                <a:latin typeface="Meiryo UI"/>
              </a:rPr>
              <a:t>IPv6 を実際に流す事業者
JPIX / MF / ドコモビジネス 等</a:t>
            </a:r>
          </a:p>
        </p:txBody>
      </p:sp>
      <p:sp>
        <p:nvSpPr>
          <p:cNvPr id="8" name="Right Arrow 7"/>
          <p:cNvSpPr/>
          <p:nvPr/>
        </p:nvSpPr>
        <p:spPr>
          <a:xfrm>
            <a:off x="8616391" y="2926080"/>
            <a:ext cx="647395"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63786"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ISP</a:t>
            </a:r>
          </a:p>
          <a:p>
            <a:pPr algn="ctr"/>
            <a:r>
              <a:rPr sz="1100" b="0">
                <a:solidFill>
                  <a:srgbClr val="555555"/>
                </a:solidFill>
                <a:latin typeface="Meiryo UI"/>
              </a:rPr>
              <a:t>契約先・課金
VNE とは限らない</a:t>
            </a:r>
          </a:p>
        </p:txBody>
      </p:sp>
      <p:sp>
        <p:nvSpPr>
          <p:cNvPr id="10" name="TextBox 9"/>
          <p:cNvSpPr txBox="1"/>
          <p:nvPr/>
        </p:nvSpPr>
        <p:spPr>
          <a:xfrm>
            <a:off x="685800" y="4114800"/>
            <a:ext cx="10789920" cy="1828800"/>
          </a:xfrm>
          <a:prstGeom prst="rect">
            <a:avLst/>
          </a:prstGeom>
          <a:noFill/>
        </p:spPr>
        <p:txBody>
          <a:bodyPr wrap="square">
            <a:spAutoFit/>
          </a:bodyPr>
          <a:lstStyle/>
          <a:p>
            <a:pPr algn="l">
              <a:spcAft>
                <a:spcPts val="600"/>
              </a:spcAft>
            </a:pPr>
            <a:r>
              <a:rPr sz="1400" b="0">
                <a:solidFill>
                  <a:srgbClr val="555555"/>
                </a:solidFill>
                <a:latin typeface="Meiryo UI"/>
              </a:rPr>
              <a:t>「ISP を変えたのに速度が変わらない」の正体はここ。速度を決めるのは VNE 側です。</a:t>
            </a:r>
          </a:p>
          <a:p>
            <a:pPr algn="l">
              <a:spcAft>
                <a:spcPts val="600"/>
              </a:spcAft>
            </a:pPr>
            <a:r>
              <a:rPr sz="1400" b="0">
                <a:solidFill>
                  <a:srgbClr val="555555"/>
                </a:solidFill>
                <a:latin typeface="Meiryo UI"/>
              </a:rPr>
              <a:t>お客様は ISP としか契約していないつもりでも、裏で VNE が決まっており、</a:t>
            </a:r>
          </a:p>
          <a:p>
            <a:pPr algn="l">
              <a:spcAft>
                <a:spcPts val="600"/>
              </a:spcAft>
            </a:pPr>
            <a:r>
              <a:rPr sz="1400" b="0">
                <a:solidFill>
                  <a:srgbClr val="555555"/>
                </a:solidFill>
                <a:latin typeface="Meiryo UI"/>
              </a:rPr>
              <a:t>その VNE が MAP-E か DS-Lite かを決めています。こちらでは選べません。</a:t>
            </a:r>
          </a:p>
          <a:p>
            <a:pPr algn="l">
              <a:spcAft>
                <a:spcPts val="600"/>
              </a:spcAft>
            </a:pPr>
            <a:r>
              <a:rPr sz="1400" b="1">
                <a:solidFill>
                  <a:srgbClr val="C0392B"/>
                </a:solidFill>
                <a:latin typeface="Meiryo UI"/>
              </a:rPr>
              <a:t>※ 提案・見積の前に「ISP はどこか」ではなく「VNE はどこか」を聞くこと。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分かれ道はまず 1 段目 — PPPoE か IPoE か</a:t>
            </a:r>
          </a:p>
        </p:txBody>
      </p:sp>
      <p:sp>
        <p:nvSpPr>
          <p:cNvPr id="3" name="Rounded Rectangle 2"/>
          <p:cNvSpPr/>
          <p:nvPr/>
        </p:nvSpPr>
        <p:spPr>
          <a:xfrm>
            <a:off x="4572000" y="1188720"/>
            <a:ext cx="3017520" cy="914400"/>
          </a:xfrm>
          <a:prstGeom prst="roundRect">
            <a:avLst/>
          </a:prstGeom>
          <a:solidFill>
            <a:srgbClr val="EFF5FA"/>
          </a:solidFill>
          <a:ln w="22225">
            <a:solidFill>
              <a:srgbClr val="1F33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フレッツ光の契約</a:t>
            </a:r>
          </a:p>
          <a:p>
            <a:pPr algn="ctr"/>
            <a:r>
              <a:rPr sz="1100" b="0">
                <a:solidFill>
                  <a:srgbClr val="555555"/>
                </a:solidFill>
                <a:latin typeface="Meiryo UI"/>
              </a:rPr>
              <a:t>どちらで IPv4/IPv6 を通すか</a:t>
            </a:r>
          </a:p>
        </p:txBody>
      </p:sp>
      <p:sp>
        <p:nvSpPr>
          <p:cNvPr id="4" name="Rounded Rectangle 3"/>
          <p:cNvSpPr/>
          <p:nvPr/>
        </p:nvSpPr>
        <p:spPr>
          <a:xfrm>
            <a:off x="1188720" y="2926080"/>
            <a:ext cx="4206240" cy="109728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PPPoE(従来)</a:t>
            </a:r>
          </a:p>
          <a:p>
            <a:pPr algn="ctr"/>
            <a:r>
              <a:rPr sz="1100" b="0">
                <a:solidFill>
                  <a:srgbClr val="555555"/>
                </a:solidFill>
                <a:latin typeface="Meiryo UI"/>
              </a:rPr>
              <a:t>ID/パスワードで認証
網終端装置を通る = 夜が遅い
IPv4 がそのまま流れる</a:t>
            </a:r>
          </a:p>
        </p:txBody>
      </p:sp>
      <p:sp>
        <p:nvSpPr>
          <p:cNvPr id="5" name="Rounded Rectangle 4"/>
          <p:cNvSpPr/>
          <p:nvPr/>
        </p:nvSpPr>
        <p:spPr>
          <a:xfrm>
            <a:off x="6766560" y="2926080"/>
            <a:ext cx="4206240" cy="109728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IPoE</a:t>
            </a:r>
          </a:p>
          <a:p>
            <a:pPr algn="ctr"/>
            <a:r>
              <a:rPr sz="1100" b="0">
                <a:solidFill>
                  <a:srgbClr val="555555"/>
                </a:solidFill>
                <a:latin typeface="Meiryo UI"/>
              </a:rPr>
              <a:t>認証なし。回線に紐づく
網終端装置を通らない = 速い
IPv4 は別途トンネルが要る</a:t>
            </a:r>
          </a:p>
        </p:txBody>
      </p:sp>
      <p:cxnSp>
        <p:nvCxnSpPr>
          <p:cNvPr id="6" name="Connector 5"/>
          <p:cNvCxnSpPr/>
          <p:nvPr/>
        </p:nvCxnSpPr>
        <p:spPr>
          <a:xfrm>
            <a:off x="6080760" y="210312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91840" y="2514600"/>
            <a:ext cx="5577840" cy="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91840" y="251460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869680" y="251460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4343400"/>
            <a:ext cx="10789920" cy="1828800"/>
          </a:xfrm>
          <a:prstGeom prst="rect">
            <a:avLst/>
          </a:prstGeom>
          <a:noFill/>
        </p:spPr>
        <p:txBody>
          <a:bodyPr wrap="square">
            <a:spAutoFit/>
          </a:bodyPr>
          <a:lstStyle/>
          <a:p>
            <a:pPr algn="l">
              <a:spcAft>
                <a:spcPts val="600"/>
              </a:spcAft>
            </a:pPr>
            <a:r>
              <a:rPr sz="1400" b="0">
                <a:solidFill>
                  <a:srgbClr val="555555"/>
                </a:solidFill>
                <a:latin typeface="Meiryo UI"/>
              </a:rPr>
              <a:t>1 段目はここ。速度の話はこの分岐で決まります。</a:t>
            </a:r>
          </a:p>
          <a:p>
            <a:pPr algn="l">
              <a:spcAft>
                <a:spcPts val="600"/>
              </a:spcAft>
            </a:pPr>
            <a:r>
              <a:rPr sz="1400" b="0">
                <a:solidFill>
                  <a:srgbClr val="555555"/>
                </a:solidFill>
                <a:latin typeface="Meiryo UI"/>
              </a:rPr>
              <a:t>2 段目は「IPoE を選んだあと、IPv4 をどう運ぶか」= MAP-E か DS-Lite か(次ページ)。</a:t>
            </a:r>
          </a:p>
          <a:p>
            <a:pPr algn="l">
              <a:spcAft>
                <a:spcPts val="600"/>
              </a:spcAft>
            </a:pPr>
            <a:r>
              <a:rPr sz="1400" b="1">
                <a:solidFill>
                  <a:srgbClr val="C0392B"/>
                </a:solidFill>
                <a:latin typeface="Meiryo UI"/>
              </a:rPr>
              <a:t>※ 両方同時に使えます。IPv6 は IPoE、IPv4 は PPPoE、という併用は実際によくある構成です。</a:t>
            </a:r>
          </a:p>
          <a:p>
            <a:pPr algn="l">
              <a:spcAft>
                <a:spcPts val="600"/>
              </a:spcAft>
            </a:pPr>
            <a:r>
              <a:rPr sz="1400" b="1">
                <a:solidFill>
                  <a:srgbClr val="C0392B"/>
                </a:solidFill>
                <a:latin typeface="Meiryo UI"/>
              </a:rPr>
              <a:t>※ 切替当日は PPPoE を落としてから IPoE。セッションが残ると原因不明の不通になります。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2 段目 — IPv4 をどう運ぶか(ここは選べません)</a:t>
            </a:r>
          </a:p>
        </p:txBody>
      </p:sp>
      <p:sp>
        <p:nvSpPr>
          <p:cNvPr id="3" name="Rounded Rectangle 2"/>
          <p:cNvSpPr/>
          <p:nvPr/>
        </p:nvSpPr>
        <p:spPr>
          <a:xfrm>
            <a:off x="4572000" y="1188720"/>
            <a:ext cx="3017520" cy="914400"/>
          </a:xfrm>
          <a:prstGeom prst="roundRect">
            <a:avLst/>
          </a:prstGeom>
          <a:solidFill>
            <a:srgbClr val="EFF5FA"/>
          </a:solidFill>
          <a:ln w="22225">
            <a:solidFill>
              <a:srgbClr val="1F33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IPoE にした。ではIPv4 は?</a:t>
            </a:r>
          </a:p>
          <a:p>
            <a:pPr algn="ctr"/>
            <a:r>
              <a:rPr sz="1100" b="0">
                <a:solidFill>
                  <a:srgbClr val="555555"/>
                </a:solidFill>
                <a:latin typeface="Meiryo UI"/>
              </a:rPr>
              <a:t>IPv6 の上に載せて運ぶしかない</a:t>
            </a:r>
          </a:p>
        </p:txBody>
      </p:sp>
      <p:sp>
        <p:nvSpPr>
          <p:cNvPr id="4" name="Rounded Rectangle 3"/>
          <p:cNvSpPr/>
          <p:nvPr/>
        </p:nvSpPr>
        <p:spPr>
          <a:xfrm>
            <a:off x="1188720" y="2926080"/>
            <a:ext cx="4206240" cy="109728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MAP-E</a:t>
            </a:r>
          </a:p>
          <a:p>
            <a:pPr algn="ctr"/>
            <a:r>
              <a:rPr sz="1100" b="0">
                <a:solidFill>
                  <a:srgbClr val="555555"/>
                </a:solidFill>
                <a:latin typeface="Meiryo UI"/>
              </a:rPr>
              <a:t>CPE が IPv4 を IPv6 で包む
共有 IPv4 + 使えるポートが決まる
CPE 側で計算が要る</a:t>
            </a:r>
          </a:p>
        </p:txBody>
      </p:sp>
      <p:sp>
        <p:nvSpPr>
          <p:cNvPr id="5" name="Rounded Rectangle 4"/>
          <p:cNvSpPr/>
          <p:nvPr/>
        </p:nvSpPr>
        <p:spPr>
          <a:xfrm>
            <a:off x="6766560" y="2926080"/>
            <a:ext cx="4206240" cy="109728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DS-Lite</a:t>
            </a:r>
          </a:p>
          <a:p>
            <a:pPr algn="ctr"/>
            <a:r>
              <a:rPr sz="1100" b="0">
                <a:solidFill>
                  <a:srgbClr val="555555"/>
                </a:solidFill>
                <a:latin typeface="Meiryo UI"/>
              </a:rPr>
              <a:t>CPE はただ包むだけ
NAT は網側(AFTR)がやる
CPE の負荷が軽い</a:t>
            </a:r>
          </a:p>
        </p:txBody>
      </p:sp>
      <p:cxnSp>
        <p:nvCxnSpPr>
          <p:cNvPr id="6" name="Connector 5"/>
          <p:cNvCxnSpPr/>
          <p:nvPr/>
        </p:nvCxnSpPr>
        <p:spPr>
          <a:xfrm>
            <a:off x="6080760" y="210312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91840" y="2514600"/>
            <a:ext cx="5577840" cy="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91840" y="251460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869680" y="251460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4343400"/>
            <a:ext cx="10789920" cy="1828800"/>
          </a:xfrm>
          <a:prstGeom prst="rect">
            <a:avLst/>
          </a:prstGeom>
          <a:noFill/>
        </p:spPr>
        <p:txBody>
          <a:bodyPr wrap="square">
            <a:spAutoFit/>
          </a:bodyPr>
          <a:lstStyle/>
          <a:p>
            <a:pPr algn="l">
              <a:spcAft>
                <a:spcPts val="600"/>
              </a:spcAft>
            </a:pPr>
            <a:r>
              <a:rPr sz="1400" b="0">
                <a:solidFill>
                  <a:srgbClr val="555555"/>
                </a:solidFill>
                <a:latin typeface="Meiryo UI"/>
              </a:rPr>
              <a:t>どちらになるかは VNE が決めます。お客様も我々も選べません。</a:t>
            </a:r>
          </a:p>
          <a:p>
            <a:pPr algn="l">
              <a:spcAft>
                <a:spcPts val="600"/>
              </a:spcAft>
            </a:pPr>
            <a:r>
              <a:rPr sz="1400" b="0">
                <a:solidFill>
                  <a:srgbClr val="555555"/>
                </a:solidFill>
                <a:latin typeface="Meiryo UI"/>
              </a:rPr>
              <a:t>違いが一番出るのは「ポート開放できますか?」への答え(第3部で詳しく)。</a:t>
            </a:r>
          </a:p>
          <a:p>
            <a:pPr algn="l">
              <a:spcAft>
                <a:spcPts val="600"/>
              </a:spcAft>
            </a:pPr>
            <a:r>
              <a:rPr sz="1400" b="1">
                <a:solidFill>
                  <a:srgbClr val="C0392B"/>
                </a:solidFill>
                <a:latin typeface="Meiryo UI"/>
              </a:rPr>
              <a:t>※ MAP-E: 使えるポートが数百個に限られる。指定のポートは開けられないことが多い。</a:t>
            </a:r>
          </a:p>
          <a:p>
            <a:pPr algn="l">
              <a:spcAft>
                <a:spcPts val="600"/>
              </a:spcAft>
            </a:pPr>
            <a:r>
              <a:rPr sz="1400" b="1">
                <a:solidFill>
                  <a:srgbClr val="C0392B"/>
                </a:solidFill>
                <a:latin typeface="Meiryo UI"/>
              </a:rPr>
              <a:t>※ DS-Lite: そもそも利用者側に開ける手段がない。固定 IP オプションを買う話になる。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実際のサービスはどれ? — 名前から方式を引く表</a:t>
            </a:r>
          </a:p>
        </p:txBody>
      </p:sp>
      <p:graphicFrame>
        <p:nvGraphicFramePr>
          <p:cNvPr id="3" name="Table 2"/>
          <p:cNvGraphicFramePr>
            <a:graphicFrameLocks noGrp="1"/>
          </p:cNvGraphicFramePr>
          <p:nvPr/>
        </p:nvGraphicFramePr>
        <p:xfrm>
          <a:off x="502920" y="1143000"/>
          <a:ext cx="10972800" cy="2487168"/>
        </p:xfrm>
        <a:graphic>
          <a:graphicData uri="http://schemas.openxmlformats.org/drawingml/2006/table">
            <a:tbl>
              <a:tblPr>
                <a:tableStyleId>{5C22544A-7EE6-4342-B048-85BDC9FD1C3A}</a:tableStyleId>
              </a:tblPr>
              <a:tblGrid>
                <a:gridCol w="3291840"/>
                <a:gridCol w="3291840"/>
                <a:gridCol w="1463040"/>
                <a:gridCol w="2926080"/>
              </a:tblGrid>
              <a:tr h="310896">
                <a:tc>
                  <a:txBody>
                    <a:bodyPr/>
                    <a:lstStyle/>
                    <a:p>
                      <a:pPr algn="l"/>
                      <a:r>
                        <a:rPr sz="1300" b="1">
                          <a:solidFill>
                            <a:srgbClr val="FFFFFF"/>
                          </a:solidFill>
                          <a:latin typeface="Meiryo UI"/>
                        </a:rPr>
                        <a:t>サービス名</a:t>
                      </a:r>
                    </a:p>
                  </a:txBody>
                  <a:tcPr>
                    <a:solidFill>
                      <a:srgbClr val="1F3355"/>
                    </a:solidFill>
                  </a:tcPr>
                </a:tc>
                <a:tc>
                  <a:txBody>
                    <a:bodyPr/>
                    <a:lstStyle/>
                    <a:p>
                      <a:pPr algn="l"/>
                      <a:r>
                        <a:rPr sz="1300" b="1">
                          <a:solidFill>
                            <a:srgbClr val="FFFFFF"/>
                          </a:solidFill>
                          <a:latin typeface="Meiryo UI"/>
                        </a:rPr>
                        <a:t>VNE / 提供</a:t>
                      </a:r>
                    </a:p>
                  </a:txBody>
                  <a:tcPr>
                    <a:solidFill>
                      <a:srgbClr val="1F3355"/>
                    </a:solidFill>
                  </a:tcPr>
                </a:tc>
                <a:tc>
                  <a:txBody>
                    <a:bodyPr/>
                    <a:lstStyle/>
                    <a:p>
                      <a:pPr algn="l"/>
                      <a:r>
                        <a:rPr sz="1300" b="1">
                          <a:solidFill>
                            <a:srgbClr val="FFFFFF"/>
                          </a:solidFill>
                          <a:latin typeface="Meiryo UI"/>
                        </a:rPr>
                        <a:t>方式</a:t>
                      </a:r>
                    </a:p>
                  </a:txBody>
                  <a:tcPr>
                    <a:solidFill>
                      <a:srgbClr val="1F3355"/>
                    </a:solidFill>
                  </a:tcPr>
                </a:tc>
                <a:tc>
                  <a:txBody>
                    <a:bodyPr/>
                    <a:lstStyle/>
                    <a:p>
                      <a:pPr algn="l"/>
                      <a:r>
                        <a:rPr sz="1300" b="1">
                          <a:solidFill>
                            <a:srgbClr val="FFFFFF"/>
                          </a:solidFill>
                          <a:latin typeface="Meiryo UI"/>
                        </a:rPr>
                        <a:t>ポート開放</a:t>
                      </a:r>
                    </a:p>
                  </a:txBody>
                  <a:tcPr>
                    <a:solidFill>
                      <a:srgbClr val="1F3355"/>
                    </a:solidFill>
                  </a:tcPr>
                </a:tc>
              </a:tr>
              <a:tr h="310896">
                <a:tc>
                  <a:txBody>
                    <a:bodyPr/>
                    <a:lstStyle/>
                    <a:p>
                      <a:pPr algn="l"/>
                      <a:r>
                        <a:rPr sz="1200" b="0">
                          <a:solidFill>
                            <a:srgbClr val="1F3355"/>
                          </a:solidFill>
                          <a:latin typeface="Meiryo UI"/>
                        </a:rPr>
                        <a:t>v6プラス</a:t>
                      </a:r>
                    </a:p>
                  </a:txBody>
                  <a:tcPr>
                    <a:solidFill>
                      <a:srgbClr val="FFFFFF"/>
                    </a:solidFill>
                  </a:tcPr>
                </a:tc>
                <a:tc>
                  <a:txBody>
                    <a:bodyPr/>
                    <a:lstStyle/>
                    <a:p>
                      <a:pPr algn="l"/>
                      <a:r>
                        <a:rPr sz="1200" b="0">
                          <a:solidFill>
                            <a:srgbClr val="1F3355"/>
                          </a:solidFill>
                          <a:latin typeface="Meiryo UI"/>
                        </a:rPr>
                        <a:t>JPIX(旧 JPNE)</a:t>
                      </a:r>
                    </a:p>
                  </a:txBody>
                  <a:tcPr>
                    <a:solidFill>
                      <a:srgbClr val="FFFFFF"/>
                    </a:solidFill>
                  </a:tcPr>
                </a:tc>
                <a:tc>
                  <a:txBody>
                    <a:bodyPr/>
                    <a:lstStyle/>
                    <a:p>
                      <a:pPr algn="l"/>
                      <a:r>
                        <a:rPr sz="1200" b="0">
                          <a:solidFill>
                            <a:srgbClr val="1F3355"/>
                          </a:solidFill>
                          <a:latin typeface="Meiryo UI"/>
                        </a:rPr>
                        <a:t>MAP-E</a:t>
                      </a:r>
                    </a:p>
                  </a:txBody>
                  <a:tcPr>
                    <a:solidFill>
                      <a:srgbClr val="FFFFFF"/>
                    </a:solidFill>
                  </a:tcPr>
                </a:tc>
                <a:tc>
                  <a:txBody>
                    <a:bodyPr/>
                    <a:lstStyle/>
                    <a:p>
                      <a:pPr algn="l"/>
                      <a:r>
                        <a:rPr sz="1200" b="0">
                          <a:solidFill>
                            <a:srgbClr val="1F3355"/>
                          </a:solidFill>
                          <a:latin typeface="Meiryo UI"/>
                        </a:rPr>
                        <a:t>限定的(割当ポートのみ)</a:t>
                      </a:r>
                    </a:p>
                  </a:txBody>
                  <a:tcPr>
                    <a:solidFill>
                      <a:srgbClr val="FFFFFF"/>
                    </a:solidFill>
                  </a:tcPr>
                </a:tc>
              </a:tr>
              <a:tr h="310896">
                <a:tc>
                  <a:txBody>
                    <a:bodyPr/>
                    <a:lstStyle/>
                    <a:p>
                      <a:pPr algn="l"/>
                      <a:r>
                        <a:rPr sz="1200" b="0">
                          <a:solidFill>
                            <a:srgbClr val="1F3355"/>
                          </a:solidFill>
                          <a:latin typeface="Meiryo UI"/>
                        </a:rPr>
                        <a:t>OCN バーチャルコネクト</a:t>
                      </a:r>
                    </a:p>
                  </a:txBody>
                  <a:tcPr>
                    <a:solidFill>
                      <a:srgbClr val="F2F6FA"/>
                    </a:solidFill>
                  </a:tcPr>
                </a:tc>
                <a:tc>
                  <a:txBody>
                    <a:bodyPr/>
                    <a:lstStyle/>
                    <a:p>
                      <a:pPr algn="l"/>
                      <a:r>
                        <a:rPr sz="1200" b="0">
                          <a:solidFill>
                            <a:srgbClr val="1F3355"/>
                          </a:solidFill>
                          <a:latin typeface="Meiryo UI"/>
                        </a:rPr>
                        <a:t>NTT ドコモビジネス(旧 NTT Com)</a:t>
                      </a:r>
                    </a:p>
                  </a:txBody>
                  <a:tcPr>
                    <a:solidFill>
                      <a:srgbClr val="F2F6FA"/>
                    </a:solidFill>
                  </a:tcPr>
                </a:tc>
                <a:tc>
                  <a:txBody>
                    <a:bodyPr/>
                    <a:lstStyle/>
                    <a:p>
                      <a:pPr algn="l"/>
                      <a:r>
                        <a:rPr sz="1200" b="0">
                          <a:solidFill>
                            <a:srgbClr val="1F3355"/>
                          </a:solidFill>
                          <a:latin typeface="Meiryo UI"/>
                        </a:rPr>
                        <a:t>MAP-E</a:t>
                      </a:r>
                    </a:p>
                  </a:txBody>
                  <a:tcPr>
                    <a:solidFill>
                      <a:srgbClr val="F2F6FA"/>
                    </a:solidFill>
                  </a:tcPr>
                </a:tc>
                <a:tc>
                  <a:txBody>
                    <a:bodyPr/>
                    <a:lstStyle/>
                    <a:p>
                      <a:pPr algn="l"/>
                      <a:r>
                        <a:rPr sz="1200" b="0">
                          <a:solidFill>
                            <a:srgbClr val="1F3355"/>
                          </a:solidFill>
                          <a:latin typeface="Meiryo UI"/>
                        </a:rPr>
                        <a:t>限定的(割当ポートのみ)</a:t>
                      </a:r>
                    </a:p>
                  </a:txBody>
                  <a:tcPr>
                    <a:solidFill>
                      <a:srgbClr val="F2F6FA"/>
                    </a:solidFill>
                  </a:tcPr>
                </a:tc>
              </a:tr>
              <a:tr h="310896">
                <a:tc>
                  <a:txBody>
                    <a:bodyPr/>
                    <a:lstStyle/>
                    <a:p>
                      <a:pPr algn="l"/>
                      <a:r>
                        <a:rPr sz="1200" b="0">
                          <a:solidFill>
                            <a:srgbClr val="1F3355"/>
                          </a:solidFill>
                          <a:latin typeface="Meiryo UI"/>
                        </a:rPr>
                        <a:t>BIGLOBE IPv6 オプション</a:t>
                      </a:r>
                    </a:p>
                  </a:txBody>
                  <a:tcPr>
                    <a:solidFill>
                      <a:srgbClr val="FFFFFF"/>
                    </a:solidFill>
                  </a:tcPr>
                </a:tc>
                <a:tc>
                  <a:txBody>
                    <a:bodyPr/>
                    <a:lstStyle/>
                    <a:p>
                      <a:pPr algn="l"/>
                      <a:r>
                        <a:rPr sz="1200" b="0">
                          <a:solidFill>
                            <a:srgbClr val="1F3355"/>
                          </a:solidFill>
                          <a:latin typeface="Meiryo UI"/>
                        </a:rPr>
                        <a:t>BIGLOBE 系</a:t>
                      </a:r>
                    </a:p>
                  </a:txBody>
                  <a:tcPr>
                    <a:solidFill>
                      <a:srgbClr val="FFFFFF"/>
                    </a:solidFill>
                  </a:tcPr>
                </a:tc>
                <a:tc>
                  <a:txBody>
                    <a:bodyPr/>
                    <a:lstStyle/>
                    <a:p>
                      <a:pPr algn="l"/>
                      <a:r>
                        <a:rPr sz="1200" b="0">
                          <a:solidFill>
                            <a:srgbClr val="1F3355"/>
                          </a:solidFill>
                          <a:latin typeface="Meiryo UI"/>
                        </a:rPr>
                        <a:t>MAP-E</a:t>
                      </a:r>
                    </a:p>
                  </a:txBody>
                  <a:tcPr>
                    <a:solidFill>
                      <a:srgbClr val="FFFFFF"/>
                    </a:solidFill>
                  </a:tcPr>
                </a:tc>
                <a:tc>
                  <a:txBody>
                    <a:bodyPr/>
                    <a:lstStyle/>
                    <a:p>
                      <a:pPr algn="l"/>
                      <a:r>
                        <a:rPr sz="1200" b="0">
                          <a:solidFill>
                            <a:srgbClr val="1F3355"/>
                          </a:solidFill>
                          <a:latin typeface="Meiryo UI"/>
                        </a:rPr>
                        <a:t>限定的(割当ポートのみ)</a:t>
                      </a:r>
                    </a:p>
                  </a:txBody>
                  <a:tcPr>
                    <a:solidFill>
                      <a:srgbClr val="FFFFFF"/>
                    </a:solidFill>
                  </a:tcPr>
                </a:tc>
              </a:tr>
              <a:tr h="310896">
                <a:tc>
                  <a:txBody>
                    <a:bodyPr/>
                    <a:lstStyle/>
                    <a:p>
                      <a:pPr algn="l"/>
                      <a:r>
                        <a:rPr sz="1200" b="0">
                          <a:solidFill>
                            <a:srgbClr val="1F3355"/>
                          </a:solidFill>
                          <a:latin typeface="Meiryo UI"/>
                        </a:rPr>
                        <a:t>transix</a:t>
                      </a:r>
                    </a:p>
                  </a:txBody>
                  <a:tcPr>
                    <a:solidFill>
                      <a:srgbClr val="F2F6FA"/>
                    </a:solidFill>
                  </a:tcPr>
                </a:tc>
                <a:tc>
                  <a:txBody>
                    <a:bodyPr/>
                    <a:lstStyle/>
                    <a:p>
                      <a:pPr algn="l"/>
                      <a:r>
                        <a:rPr sz="1200" b="0">
                          <a:solidFill>
                            <a:srgbClr val="1F3355"/>
                          </a:solidFill>
                          <a:latin typeface="Meiryo UI"/>
                        </a:rPr>
                        <a:t>インターネットマルチフィード</a:t>
                      </a:r>
                    </a:p>
                  </a:txBody>
                  <a:tcPr>
                    <a:solidFill>
                      <a:srgbClr val="F2F6FA"/>
                    </a:solidFill>
                  </a:tcPr>
                </a:tc>
                <a:tc>
                  <a:txBody>
                    <a:bodyPr/>
                    <a:lstStyle/>
                    <a:p>
                      <a:pPr algn="l"/>
                      <a:r>
                        <a:rPr sz="1200" b="0">
                          <a:solidFill>
                            <a:srgbClr val="1F3355"/>
                          </a:solidFill>
                          <a:latin typeface="Meiryo UI"/>
                        </a:rPr>
                        <a:t>DS-Lite</a:t>
                      </a:r>
                    </a:p>
                  </a:txBody>
                  <a:tcPr>
                    <a:solidFill>
                      <a:srgbClr val="F2F6FA"/>
                    </a:solidFill>
                  </a:tcPr>
                </a:tc>
                <a:tc>
                  <a:txBody>
                    <a:bodyPr/>
                    <a:lstStyle/>
                    <a:p>
                      <a:pPr algn="l"/>
                      <a:r>
                        <a:rPr sz="1200" b="0">
                          <a:solidFill>
                            <a:srgbClr val="1F3355"/>
                          </a:solidFill>
                          <a:latin typeface="Meiryo UI"/>
                        </a:rPr>
                        <a:t>不可(固定 IP 契約が別途必要)</a:t>
                      </a:r>
                    </a:p>
                  </a:txBody>
                  <a:tcPr>
                    <a:solidFill>
                      <a:srgbClr val="F2F6FA"/>
                    </a:solidFill>
                  </a:tcPr>
                </a:tc>
              </a:tr>
              <a:tr h="310896">
                <a:tc>
                  <a:txBody>
                    <a:bodyPr/>
                    <a:lstStyle/>
                    <a:p>
                      <a:pPr algn="l"/>
                      <a:r>
                        <a:rPr sz="1200" b="0">
                          <a:solidFill>
                            <a:srgbClr val="1F3355"/>
                          </a:solidFill>
                          <a:latin typeface="Meiryo UI"/>
                        </a:rPr>
                        <a:t>クロスパス(Xpass)</a:t>
                      </a:r>
                    </a:p>
                  </a:txBody>
                  <a:tcPr>
                    <a:solidFill>
                      <a:srgbClr val="FFFFFF"/>
                    </a:solidFill>
                  </a:tcPr>
                </a:tc>
                <a:tc>
                  <a:txBody>
                    <a:bodyPr/>
                    <a:lstStyle/>
                    <a:p>
                      <a:pPr algn="l"/>
                      <a:r>
                        <a:rPr sz="1200" b="0">
                          <a:solidFill>
                            <a:srgbClr val="1F3355"/>
                          </a:solidFill>
                          <a:latin typeface="Meiryo UI"/>
                        </a:rPr>
                        <a:t>アルテリア・ネットワークス</a:t>
                      </a:r>
                    </a:p>
                  </a:txBody>
                  <a:tcPr>
                    <a:solidFill>
                      <a:srgbClr val="FFFFFF"/>
                    </a:solidFill>
                  </a:tcPr>
                </a:tc>
                <a:tc>
                  <a:txBody>
                    <a:bodyPr/>
                    <a:lstStyle/>
                    <a:p>
                      <a:pPr algn="l"/>
                      <a:r>
                        <a:rPr sz="1200" b="0">
                          <a:solidFill>
                            <a:srgbClr val="1F3355"/>
                          </a:solidFill>
                          <a:latin typeface="Meiryo UI"/>
                        </a:rPr>
                        <a:t>DS-Lite</a:t>
                      </a:r>
                    </a:p>
                  </a:txBody>
                  <a:tcPr>
                    <a:solidFill>
                      <a:srgbClr val="FFFFFF"/>
                    </a:solidFill>
                  </a:tcPr>
                </a:tc>
                <a:tc>
                  <a:txBody>
                    <a:bodyPr/>
                    <a:lstStyle/>
                    <a:p>
                      <a:pPr algn="l"/>
                      <a:r>
                        <a:rPr sz="1200" b="0">
                          <a:solidFill>
                            <a:srgbClr val="1F3355"/>
                          </a:solidFill>
                          <a:latin typeface="Meiryo UI"/>
                        </a:rPr>
                        <a:t>不可(固定 IP 契約が別途必要)</a:t>
                      </a:r>
                    </a:p>
                  </a:txBody>
                  <a:tcPr>
                    <a:solidFill>
                      <a:srgbClr val="FFFFFF"/>
                    </a:solidFill>
                  </a:tcPr>
                </a:tc>
              </a:tr>
              <a:tr h="310896">
                <a:tc>
                  <a:txBody>
                    <a:bodyPr/>
                    <a:lstStyle/>
                    <a:p>
                      <a:pPr algn="l"/>
                      <a:r>
                        <a:rPr sz="1200" b="0">
                          <a:solidFill>
                            <a:srgbClr val="1F3355"/>
                          </a:solidFill>
                          <a:latin typeface="Meiryo UI"/>
                        </a:rPr>
                        <a:t>v6 コネクト</a:t>
                      </a:r>
                    </a:p>
                  </a:txBody>
                  <a:tcPr>
                    <a:solidFill>
                      <a:srgbClr val="F2F6FA"/>
                    </a:solidFill>
                  </a:tcPr>
                </a:tc>
                <a:tc>
                  <a:txBody>
                    <a:bodyPr/>
                    <a:lstStyle/>
                    <a:p>
                      <a:pPr algn="l"/>
                      <a:r>
                        <a:rPr sz="1200" b="0">
                          <a:solidFill>
                            <a:srgbClr val="1F3355"/>
                          </a:solidFill>
                          <a:latin typeface="Meiryo UI"/>
                        </a:rPr>
                        <a:t>朝日ネット</a:t>
                      </a:r>
                    </a:p>
                  </a:txBody>
                  <a:tcPr>
                    <a:solidFill>
                      <a:srgbClr val="F2F6FA"/>
                    </a:solidFill>
                  </a:tcPr>
                </a:tc>
                <a:tc>
                  <a:txBody>
                    <a:bodyPr/>
                    <a:lstStyle/>
                    <a:p>
                      <a:pPr algn="l"/>
                      <a:r>
                        <a:rPr sz="1200" b="0">
                          <a:solidFill>
                            <a:srgbClr val="1F3355"/>
                          </a:solidFill>
                          <a:latin typeface="Meiryo UI"/>
                        </a:rPr>
                        <a:t>DS-Lite</a:t>
                      </a:r>
                    </a:p>
                  </a:txBody>
                  <a:tcPr>
                    <a:solidFill>
                      <a:srgbClr val="F2F6FA"/>
                    </a:solidFill>
                  </a:tcPr>
                </a:tc>
                <a:tc>
                  <a:txBody>
                    <a:bodyPr/>
                    <a:lstStyle/>
                    <a:p>
                      <a:pPr algn="l"/>
                      <a:r>
                        <a:rPr sz="1200" b="0">
                          <a:solidFill>
                            <a:srgbClr val="1F3355"/>
                          </a:solidFill>
                          <a:latin typeface="Meiryo UI"/>
                        </a:rPr>
                        <a:t>不可(固定 IP 契約が別途必要)</a:t>
                      </a:r>
                    </a:p>
                  </a:txBody>
                  <a:tcPr>
                    <a:solidFill>
                      <a:srgbClr val="F2F6FA"/>
                    </a:solidFill>
                  </a:tcPr>
                </a:tc>
              </a:tr>
              <a:tr h="310896">
                <a:tc>
                  <a:txBody>
                    <a:bodyPr/>
                    <a:lstStyle/>
                    <a:p>
                      <a:pPr algn="l"/>
                      <a:r>
                        <a:rPr sz="1200" b="0">
                          <a:solidFill>
                            <a:srgbClr val="1F3355"/>
                          </a:solidFill>
                          <a:latin typeface="Meiryo UI"/>
                        </a:rPr>
                        <a:t>ソフトバンク光 IPv6 高速ハイブリッド</a:t>
                      </a:r>
                    </a:p>
                  </a:txBody>
                  <a:tcPr>
                    <a:solidFill>
                      <a:srgbClr val="FFFFFF"/>
                    </a:solidFill>
                  </a:tcPr>
                </a:tc>
                <a:tc>
                  <a:txBody>
                    <a:bodyPr/>
                    <a:lstStyle/>
                    <a:p>
                      <a:pPr algn="l"/>
                      <a:r>
                        <a:rPr sz="1200" b="0">
                          <a:solidFill>
                            <a:srgbClr val="1F3355"/>
                          </a:solidFill>
                          <a:latin typeface="Meiryo UI"/>
                        </a:rPr>
                        <a:t>BBIX</a:t>
                      </a:r>
                    </a:p>
                  </a:txBody>
                  <a:tcPr>
                    <a:solidFill>
                      <a:srgbClr val="FFFFFF"/>
                    </a:solidFill>
                  </a:tcPr>
                </a:tc>
                <a:tc>
                  <a:txBody>
                    <a:bodyPr/>
                    <a:lstStyle/>
                    <a:p>
                      <a:pPr algn="l"/>
                      <a:r>
                        <a:rPr sz="1200" b="0">
                          <a:solidFill>
                            <a:srgbClr val="1F3355"/>
                          </a:solidFill>
                          <a:latin typeface="Meiryo UI"/>
                        </a:rPr>
                        <a:t>独自方式</a:t>
                      </a:r>
                    </a:p>
                  </a:txBody>
                  <a:tcPr>
                    <a:solidFill>
                      <a:srgbClr val="FFFFFF"/>
                    </a:solidFill>
                  </a:tcPr>
                </a:tc>
                <a:tc>
                  <a:txBody>
                    <a:bodyPr/>
                    <a:lstStyle/>
                    <a:p>
                      <a:pPr algn="l"/>
                      <a:r>
                        <a:rPr sz="1200" b="0">
                          <a:solidFill>
                            <a:srgbClr val="1F3355"/>
                          </a:solidFill>
                          <a:latin typeface="Meiryo UI"/>
                        </a:rPr>
                        <a:t>光BBユニット前提。本資料の対象外</a:t>
                      </a:r>
                    </a:p>
                  </a:txBody>
                  <a:tcPr>
                    <a:solidFill>
                      <a:srgbClr val="FFFFFF"/>
                    </a:solidFill>
                  </a:tcPr>
                </a:tc>
              </a:tr>
            </a:tbl>
          </a:graphicData>
        </a:graphic>
      </p:graphicFrame>
      <p:sp>
        <p:nvSpPr>
          <p:cNvPr id="4" name="TextBox 3"/>
          <p:cNvSpPr txBox="1"/>
          <p:nvPr/>
        </p:nvSpPr>
        <p:spPr>
          <a:xfrm>
            <a:off x="502920" y="3886200"/>
            <a:ext cx="11155680" cy="548640"/>
          </a:xfrm>
          <a:prstGeom prst="rect">
            <a:avLst/>
          </a:prstGeom>
          <a:noFill/>
        </p:spPr>
        <p:txBody>
          <a:bodyPr wrap="square">
            <a:spAutoFit/>
          </a:bodyPr>
          <a:lstStyle/>
          <a:p>
            <a:pPr algn="l"/>
            <a:r>
              <a:rPr sz="1200" b="0">
                <a:solidFill>
                  <a:srgbClr val="007ACC"/>
                </a:solidFill>
                <a:latin typeface="Meiryo UI"/>
              </a:rPr>
              <a:t>出典: ヤマハ RTpro「動作確認済み IPv6 IPoE + IPv4 over IPv6 接続サービス」ほか各社資料。案件では必ず最新版を確認すること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この表の使い方と、使うときの注意</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ヒアリングでこの順に聞く</a:t>
            </a:r>
          </a:p>
          <a:p>
            <a:pPr lvl="1" algn="l">
              <a:spcAft>
                <a:spcPts val="600"/>
              </a:spcAft>
            </a:pPr>
            <a:r>
              <a:rPr sz="1700" b="0">
                <a:solidFill>
                  <a:srgbClr val="555555"/>
                </a:solidFill>
                <a:latin typeface="Meiryo UI"/>
              </a:rPr>
              <a:t>① ひかり電話はありますか → /64 か /56 かが決まる(= PD 方式かどうか)</a:t>
            </a:r>
          </a:p>
          <a:p>
            <a:pPr lvl="1" algn="l">
              <a:spcAft>
                <a:spcPts val="600"/>
              </a:spcAft>
            </a:pPr>
            <a:r>
              <a:rPr sz="1700" b="0">
                <a:solidFill>
                  <a:srgbClr val="555555"/>
                </a:solidFill>
                <a:latin typeface="Meiryo UI"/>
              </a:rPr>
              <a:t>② 契約は ISP どこですか → その裏の VNE を調べる</a:t>
            </a:r>
          </a:p>
          <a:p>
            <a:pPr lvl="1" algn="l">
              <a:spcAft>
                <a:spcPts val="600"/>
              </a:spcAft>
            </a:pPr>
            <a:r>
              <a:rPr sz="1700" b="0">
                <a:solidFill>
                  <a:srgbClr val="555555"/>
                </a:solidFill>
                <a:latin typeface="Meiryo UI"/>
              </a:rPr>
              <a:t>③ VNE が決まれば方式が決まる → ポート開放の可否が言える</a:t>
            </a:r>
          </a:p>
          <a:p>
            <a:pPr algn="l">
              <a:spcAft>
                <a:spcPts val="1000"/>
              </a:spcAft>
            </a:pPr>
            <a:r>
              <a:rPr sz="2000" b="1">
                <a:solidFill>
                  <a:srgbClr val="C0392B"/>
                </a:solidFill>
                <a:latin typeface="Meiryo UI"/>
              </a:rPr>
              <a:t>注意 1: 同じ ISP でもプランで VNE が違うことがある</a:t>
            </a:r>
          </a:p>
          <a:p>
            <a:pPr lvl="1" algn="l">
              <a:spcAft>
                <a:spcPts val="600"/>
              </a:spcAft>
            </a:pPr>
            <a:r>
              <a:rPr sz="1700" b="0">
                <a:solidFill>
                  <a:srgbClr val="555555"/>
                </a:solidFill>
                <a:latin typeface="Meiryo UI"/>
              </a:rPr>
              <a:t>「◯◯光」は再販が多く、同じ名前でも中身が別 VNE ということが起きる</a:t>
            </a:r>
          </a:p>
          <a:p>
            <a:pPr lvl="1" algn="l">
              <a:spcAft>
                <a:spcPts val="600"/>
              </a:spcAft>
            </a:pPr>
            <a:r>
              <a:rPr sz="1700" b="0">
                <a:solidFill>
                  <a:srgbClr val="555555"/>
                </a:solidFill>
                <a:latin typeface="Meiryo UI"/>
              </a:rPr>
              <a:t>机上で決めつけず、開通後に実測で確かめること(第4部の run-checks)</a:t>
            </a:r>
          </a:p>
          <a:p>
            <a:pPr algn="l">
              <a:spcAft>
                <a:spcPts val="1000"/>
              </a:spcAft>
            </a:pPr>
            <a:r>
              <a:rPr sz="2000" b="1">
                <a:solidFill>
                  <a:srgbClr val="C0392B"/>
                </a:solidFill>
                <a:latin typeface="Meiryo UI"/>
              </a:rPr>
              <a:t>注意 2: 事業者名が変わっている</a:t>
            </a:r>
          </a:p>
          <a:p>
            <a:pPr lvl="1" algn="l">
              <a:spcAft>
                <a:spcPts val="600"/>
              </a:spcAft>
            </a:pPr>
            <a:r>
              <a:rPr sz="1700" b="0">
                <a:solidFill>
                  <a:srgbClr val="555555"/>
                </a:solidFill>
                <a:latin typeface="Meiryo UI"/>
              </a:rPr>
              <a:t>JPNE は JPIX に、NTT コミュニケーションズは NTT ドコモビジネスに</a:t>
            </a:r>
          </a:p>
          <a:p>
            <a:pPr lvl="1" algn="l">
              <a:spcAft>
                <a:spcPts val="600"/>
              </a:spcAft>
            </a:pPr>
            <a:r>
              <a:rPr sz="1700" b="0">
                <a:solidFill>
                  <a:srgbClr val="555555"/>
                </a:solidFill>
                <a:latin typeface="Meiryo UI"/>
              </a:rPr>
              <a:t>古い資料と名前が食い違うので、社内 wiki の記述は更新すること</a:t>
            </a:r>
          </a:p>
          <a:p>
            <a:pPr algn="l">
              <a:spcAft>
                <a:spcPts val="1000"/>
              </a:spcAft>
            </a:pPr>
            <a:r>
              <a:rPr sz="2000" b="1">
                <a:solidFill>
                  <a:srgbClr val="C0392B"/>
                </a:solidFill>
                <a:latin typeface="Meiryo UI"/>
              </a:rPr>
              <a:t>注意 3: 方式が分かっても「動く」とは限らない</a:t>
            </a:r>
          </a:p>
          <a:p>
            <a:pPr lvl="1" algn="l">
              <a:spcAft>
                <a:spcPts val="600"/>
              </a:spcAft>
            </a:pPr>
            <a:r>
              <a:rPr sz="1700" b="0">
                <a:solidFill>
                  <a:srgbClr val="555555"/>
                </a:solidFill>
                <a:latin typeface="Meiryo UI"/>
              </a:rPr>
              <a:t>CPE 側が対応している必要があります。次のページが実測結果です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2377440"/>
          </a:xfrm>
          <a:prstGeom prst="rect">
            <a:avLst/>
          </a:prstGeom>
          <a:noFill/>
        </p:spPr>
        <p:txBody>
          <a:bodyPr wrap="square">
            <a:spAutoFit/>
          </a:bodyPr>
          <a:lstStyle/>
          <a:p>
            <a:pPr algn="l"/>
            <a:r>
              <a:rPr sz="2000" b="1">
                <a:solidFill>
                  <a:srgbClr val="7FB8E0"/>
                </a:solidFill>
                <a:latin typeface="Meiryo UI"/>
              </a:rPr>
              <a:t>第1回</a:t>
            </a:r>
          </a:p>
          <a:p>
            <a:pPr algn="l"/>
            <a:r>
              <a:rPr sz="3600" b="1">
                <a:solidFill>
                  <a:srgbClr val="FFFFFF"/>
                </a:solidFill>
                <a:latin typeface="Meiryo UI"/>
              </a:rPr>
              <a:t>なんで IPv6 に変えなきゃいけないの?</a:t>
            </a:r>
          </a:p>
          <a:p>
            <a:pPr algn="l">
              <a:spcBef>
                <a:spcPts val="1600"/>
              </a:spcBef>
            </a:pPr>
            <a:r>
              <a:rPr sz="1600" b="0">
                <a:solidFill>
                  <a:srgbClr val="D5E5F2"/>
                </a:solidFill>
                <a:latin typeface="Meiryo UI"/>
              </a:rPr>
              <a:t>ゴール: 登場人物を絵で描ける。fe80:: とグローバルの違いが言える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1-0. 登場人物と略語(まずこれを覚える)</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800"/>
              </a:spcAft>
            </a:pPr>
            <a:r>
              <a:rPr sz="1800" b="1">
                <a:solidFill>
                  <a:srgbClr val="1F3355"/>
                </a:solidFill>
                <a:latin typeface="Meiryo UI"/>
              </a:rPr>
              <a:t>お客様PC ─ CPE ─ [ NGN ] ─ VNE ─ ISP ─ インターネット</a:t>
            </a:r>
          </a:p>
          <a:p>
            <a:pPr lvl="1" algn="l">
              <a:spcAft>
                <a:spcPts val="400"/>
              </a:spcAft>
            </a:pPr>
            <a:r>
              <a:rPr sz="1500" b="0">
                <a:solidFill>
                  <a:srgbClr val="555555"/>
                </a:solidFill>
                <a:latin typeface="Meiryo UI"/>
              </a:rPr>
              <a:t>ひかり電話ありなら CPE の位置に HGW が入る</a:t>
            </a:r>
          </a:p>
          <a:p>
            <a:pPr algn="l">
              <a:spcAft>
                <a:spcPts val="800"/>
              </a:spcAft>
            </a:pPr>
            <a:r>
              <a:rPr sz="1800" b="0">
                <a:solidFill>
                  <a:srgbClr val="1F3355"/>
                </a:solidFill>
                <a:latin typeface="Meiryo UI"/>
              </a:rPr>
              <a:t>CPE … Customer Premises Equipment = お客様側に置くルータ</a:t>
            </a:r>
          </a:p>
          <a:p>
            <a:pPr algn="l">
              <a:spcAft>
                <a:spcPts val="800"/>
              </a:spcAft>
            </a:pPr>
            <a:r>
              <a:rPr sz="1800" b="1">
                <a:solidFill>
                  <a:srgbClr val="C0392B"/>
                </a:solidFill>
                <a:latin typeface="Meiryo UI"/>
              </a:rPr>
              <a:t>HGW … ひかり電話ルータ。機種により IPoE を自分で終端してしまう</a:t>
            </a:r>
          </a:p>
          <a:p>
            <a:pPr algn="l">
              <a:spcAft>
                <a:spcPts val="800"/>
              </a:spcAft>
            </a:pPr>
            <a:r>
              <a:rPr sz="1800" b="0">
                <a:solidFill>
                  <a:srgbClr val="1F3355"/>
                </a:solidFill>
                <a:latin typeface="Meiryo UI"/>
              </a:rPr>
              <a:t>NGN … NTT東西の IP 網。ISP とは別の会社の設備</a:t>
            </a:r>
          </a:p>
          <a:p>
            <a:pPr algn="l">
              <a:spcAft>
                <a:spcPts val="800"/>
              </a:spcAft>
            </a:pPr>
            <a:r>
              <a:rPr sz="1800" b="0">
                <a:solidFill>
                  <a:srgbClr val="1F3355"/>
                </a:solidFill>
                <a:latin typeface="Meiryo UI"/>
              </a:rPr>
              <a:t>VNE … NGN 上の IPv6 (IPoE) 接続を ISP に卸す事業者。多くは IPv4 over IPv6 もセットで提供</a:t>
            </a:r>
          </a:p>
          <a:p>
            <a:pPr lvl="1" algn="l">
              <a:spcAft>
                <a:spcPts val="400"/>
              </a:spcAft>
            </a:pPr>
            <a:r>
              <a:rPr sz="1500" b="0">
                <a:solidFill>
                  <a:srgbClr val="555555"/>
                </a:solidFill>
                <a:latin typeface="Meiryo UI"/>
              </a:rPr>
              <a:t>JPIX (旧 JPNE) / インターネットマルチフィード / NTT ドコモビジネス (旧 NTT Com) 等</a:t>
            </a:r>
          </a:p>
          <a:p>
            <a:pPr algn="l">
              <a:spcAft>
                <a:spcPts val="800"/>
              </a:spcAft>
            </a:pPr>
            <a:r>
              <a:rPr sz="1800" b="0">
                <a:solidFill>
                  <a:srgbClr val="1F3355"/>
                </a:solidFill>
                <a:latin typeface="Meiryo UI"/>
              </a:rPr>
              <a:t>BRAS … PPPoE を終端する ISP 側の装置</a:t>
            </a:r>
          </a:p>
          <a:p>
            <a:pPr algn="l">
              <a:spcAft>
                <a:spcPts val="800"/>
              </a:spcAft>
            </a:pPr>
            <a:r>
              <a:rPr sz="1800" b="0">
                <a:solidFill>
                  <a:srgbClr val="1F3355"/>
                </a:solidFill>
                <a:latin typeface="Meiryo UI"/>
              </a:rPr>
              <a:t>NTE … 網終端装置。PPPoE が必ず通る箱で、ここが夕方混む</a:t>
            </a:r>
          </a:p>
          <a:p>
            <a:pPr algn="l">
              <a:spcAft>
                <a:spcPts val="800"/>
              </a:spcAft>
            </a:pPr>
            <a:r>
              <a:rPr sz="1800" b="1">
                <a:solidFill>
                  <a:srgbClr val="1F3355"/>
                </a:solidFill>
                <a:latin typeface="Meiryo UI"/>
              </a:rPr>
              <a:t>ラボの VM との対応</a:t>
            </a:r>
          </a:p>
          <a:p>
            <a:pPr lvl="1" algn="l">
              <a:spcAft>
                <a:spcPts val="400"/>
              </a:spcAft>
            </a:pPr>
            <a:r>
              <a:rPr sz="1500" b="0">
                <a:solidFill>
                  <a:srgbClr val="555555"/>
                </a:solidFill>
                <a:latin typeface="Meiryo UI"/>
              </a:rPr>
              <a:t>NGN-SIM = NGN / BRAS = BRAS / VNE = VNE (BR と AFTR 兼用) / INET-SIM = インターネット</a:t>
            </a:r>
          </a:p>
          <a:p>
            <a:pPr lvl="1" algn="l">
              <a:spcAft>
                <a:spcPts val="400"/>
              </a:spcAft>
            </a:pPr>
            <a:r>
              <a:rPr sz="1500" b="0">
                <a:solidFill>
                  <a:srgbClr val="555555"/>
                </a:solidFill>
                <a:latin typeface="Meiryo UI"/>
              </a:rPr>
              <a:t>OpenWrt-CE または実機 = CPE。ラボに NTE は無く、BRAS が代役</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略語の全量は study-guide.md §1.4。ここが分からないと以降ずっと分からない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1-1. まず事実: IPv4 アドレスは在庫が尽きた</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0">
                <a:solidFill>
                  <a:srgbClr val="1F3355"/>
                </a:solidFill>
                <a:latin typeface="Meiryo UI"/>
              </a:rPr>
              <a:t>IPv4 は約 43 億個。世界人口より少ない。スマホ 1 人 1 台で足りない</a:t>
            </a:r>
          </a:p>
          <a:p>
            <a:pPr algn="l">
              <a:spcAft>
                <a:spcPts val="1000"/>
              </a:spcAft>
            </a:pPr>
            <a:r>
              <a:rPr sz="2000" b="1">
                <a:solidFill>
                  <a:srgbClr val="1F3355"/>
                </a:solidFill>
                <a:latin typeface="Meiryo UI"/>
              </a:rPr>
              <a:t>だから 3 つの対策が同時に走っている</a:t>
            </a:r>
          </a:p>
          <a:p>
            <a:pPr lvl="1" algn="l">
              <a:spcAft>
                <a:spcPts val="600"/>
              </a:spcAft>
            </a:pPr>
            <a:r>
              <a:rPr sz="1700" b="0">
                <a:solidFill>
                  <a:srgbClr val="555555"/>
                </a:solidFill>
                <a:latin typeface="Meiryo UI"/>
              </a:rPr>
              <a:t>① NAT で共有する → 家庭内では昔からやっている</a:t>
            </a:r>
          </a:p>
          <a:p>
            <a:pPr lvl="1" algn="l">
              <a:spcAft>
                <a:spcPts val="600"/>
              </a:spcAft>
            </a:pPr>
            <a:r>
              <a:rPr sz="1700" b="0">
                <a:solidFill>
                  <a:srgbClr val="555555"/>
                </a:solidFill>
                <a:latin typeface="Meiryo UI"/>
              </a:rPr>
              <a:t>② アドレスを売買・移転する → 実際に市場がある</a:t>
            </a:r>
          </a:p>
          <a:p>
            <a:pPr lvl="1" algn="l">
              <a:spcAft>
                <a:spcPts val="600"/>
              </a:spcAft>
            </a:pPr>
            <a:r>
              <a:rPr sz="1700" b="0">
                <a:solidFill>
                  <a:srgbClr val="555555"/>
                </a:solidFill>
                <a:latin typeface="Meiryo UI"/>
              </a:rPr>
              <a:t>③ IPv6 に移る → 本命</a:t>
            </a:r>
          </a:p>
          <a:p>
            <a:pPr algn="l">
              <a:spcAft>
                <a:spcPts val="1000"/>
              </a:spcAft>
            </a:pPr>
            <a:r>
              <a:rPr sz="2000" b="1">
                <a:solidFill>
                  <a:srgbClr val="C0392B"/>
                </a:solidFill>
                <a:latin typeface="Meiryo UI"/>
              </a:rPr>
              <a:t>IPoE への切替は ③ の話。「速いから」は結果であって理由ではない</a:t>
            </a:r>
          </a:p>
          <a:p>
            <a:pPr algn="l">
              <a:spcAft>
                <a:spcPts val="1000"/>
              </a:spcAft>
            </a:pPr>
            <a:r>
              <a:rPr sz="2000" b="0">
                <a:solidFill>
                  <a:srgbClr val="1F3355"/>
                </a:solidFill>
                <a:latin typeface="Meiryo UI"/>
              </a:rPr>
              <a:t>教科書: 18.1 在庫枯渇はどのような問題なのか (p.335) / 18.2 影響 (p.336)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1-2. IPv6 アドレスの書き方 (ここで演習)</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1000"/>
              </a:spcAft>
            </a:pPr>
            <a:r>
              <a:rPr sz="2000" b="0">
                <a:solidFill>
                  <a:srgbClr val="1F3355"/>
                </a:solidFill>
                <a:latin typeface="Meiryo UI"/>
              </a:rPr>
              <a:t>128 ビット。16 進 4 桁を 8 ブロック、コロン区切り</a:t>
            </a:r>
          </a:p>
          <a:p>
            <a:pPr lvl="1" algn="l">
              <a:spcAft>
                <a:spcPts val="600"/>
              </a:spcAft>
            </a:pPr>
            <a:r>
              <a:rPr sz="1700" b="0">
                <a:solidFill>
                  <a:srgbClr val="0B6040"/>
                </a:solidFill>
                <a:latin typeface="Consolas"/>
              </a:rPr>
              <a:t>2001:0db8:1014:0300:0000:0000:0000:0001</a:t>
            </a:r>
          </a:p>
          <a:p>
            <a:pPr algn="l">
              <a:spcAft>
                <a:spcPts val="1000"/>
              </a:spcAft>
            </a:pPr>
            <a:r>
              <a:rPr sz="2000" b="1">
                <a:solidFill>
                  <a:srgbClr val="1F3355"/>
                </a:solidFill>
                <a:latin typeface="Meiryo UI"/>
              </a:rPr>
              <a:t>省略ルールは 2 つだけ</a:t>
            </a:r>
          </a:p>
          <a:p>
            <a:pPr lvl="1" algn="l">
              <a:spcAft>
                <a:spcPts val="600"/>
              </a:spcAft>
            </a:pPr>
            <a:r>
              <a:rPr sz="1700" b="0">
                <a:solidFill>
                  <a:srgbClr val="555555"/>
                </a:solidFill>
                <a:latin typeface="Meiryo UI"/>
              </a:rPr>
              <a:t>① 各ブロック先頭の 0 は省略できる → 0db8 は db8、0300 は 300</a:t>
            </a:r>
          </a:p>
          <a:p>
            <a:pPr lvl="1" algn="l">
              <a:spcAft>
                <a:spcPts val="600"/>
              </a:spcAft>
            </a:pPr>
            <a:r>
              <a:rPr sz="1700" b="0">
                <a:solidFill>
                  <a:srgbClr val="555555"/>
                </a:solidFill>
                <a:latin typeface="Meiryo UI"/>
              </a:rPr>
              <a:t>② 連続する 0 のブロックは :: に潰せる。ただし 1 箇所だけ</a:t>
            </a:r>
          </a:p>
          <a:p>
            <a:pPr lvl="1" algn="l">
              <a:spcAft>
                <a:spcPts val="600"/>
              </a:spcAft>
            </a:pPr>
            <a:r>
              <a:rPr sz="1700" b="0">
                <a:solidFill>
                  <a:srgbClr val="0B6040"/>
                </a:solidFill>
                <a:latin typeface="Consolas"/>
              </a:rPr>
              <a:t>2001:db8:1014:300::1</a:t>
            </a:r>
          </a:p>
          <a:p>
            <a:pPr algn="l">
              <a:spcAft>
                <a:spcPts val="1000"/>
              </a:spcAft>
            </a:pPr>
            <a:r>
              <a:rPr sz="2000" b="1">
                <a:solidFill>
                  <a:srgbClr val="1F3355"/>
                </a:solidFill>
                <a:latin typeface="Meiryo UI"/>
              </a:rPr>
              <a:t>演習: 次を省略形にせよ (紙に書く。答え合わせまで含めて 20 分)</a:t>
            </a:r>
          </a:p>
          <a:p>
            <a:pPr lvl="1" algn="l">
              <a:spcAft>
                <a:spcPts val="600"/>
              </a:spcAft>
            </a:pPr>
            <a:r>
              <a:rPr sz="1700" b="0">
                <a:solidFill>
                  <a:srgbClr val="0B6040"/>
                </a:solidFill>
                <a:latin typeface="Consolas"/>
              </a:rPr>
              <a:t>fe80:0000:0000:0000:0200:5eff:fe00:5301</a:t>
            </a:r>
          </a:p>
          <a:p>
            <a:pPr lvl="1" algn="l">
              <a:spcAft>
                <a:spcPts val="600"/>
              </a:spcAft>
            </a:pPr>
            <a:r>
              <a:rPr sz="1700" b="0">
                <a:solidFill>
                  <a:srgbClr val="0B6040"/>
                </a:solidFill>
                <a:latin typeface="Consolas"/>
              </a:rPr>
              <a:t>2001:0db8:0000:0000:0000:0000:8888:0001</a:t>
            </a:r>
          </a:p>
          <a:p>
            <a:pPr lvl="1" algn="l">
              <a:spcAft>
                <a:spcPts val="600"/>
              </a:spcAft>
            </a:pPr>
            <a:r>
              <a:rPr sz="1700" b="0">
                <a:solidFill>
                  <a:srgbClr val="0B6040"/>
                </a:solidFill>
                <a:latin typeface="Consolas"/>
              </a:rPr>
              <a:t>2001:0db8:100a:0500:0000:0000:0000:0000</a:t>
            </a:r>
          </a:p>
          <a:p>
            <a:pPr algn="l">
              <a:spcAft>
                <a:spcPts val="1000"/>
              </a:spcAft>
            </a:pPr>
            <a:r>
              <a:rPr sz="2000" b="0">
                <a:solidFill>
                  <a:srgbClr val="1F3355"/>
                </a:solidFill>
                <a:latin typeface="Meiryo UI"/>
              </a:rPr>
              <a:t>教科書: 2.2 IPv6 アドレスのテキスト表記 (p.38)</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アドレスの読み書きは、この先ずっと使います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1-3. IPv6 と IPv4 は「別のインターネット」</a:t>
            </a:r>
          </a:p>
        </p:txBody>
      </p:sp>
      <p:sp>
        <p:nvSpPr>
          <p:cNvPr id="3" name="Rounded Rectangle 2"/>
          <p:cNvSpPr/>
          <p:nvPr/>
        </p:nvSpPr>
        <p:spPr>
          <a:xfrm>
            <a:off x="685800" y="2377440"/>
            <a:ext cx="2949244"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IPv4 の世界</a:t>
            </a:r>
          </a:p>
          <a:p>
            <a:pPr algn="ctr"/>
            <a:r>
              <a:rPr sz="1100" b="0">
                <a:solidFill>
                  <a:srgbClr val="555555"/>
                </a:solidFill>
                <a:latin typeface="Meiryo UI"/>
              </a:rPr>
              <a:t>203.0.113.x</a:t>
            </a:r>
          </a:p>
        </p:txBody>
      </p:sp>
      <p:sp>
        <p:nvSpPr>
          <p:cNvPr id="4" name="Right Arrow 3"/>
          <p:cNvSpPr/>
          <p:nvPr/>
        </p:nvSpPr>
        <p:spPr>
          <a:xfrm>
            <a:off x="3635044" y="2926080"/>
            <a:ext cx="971092"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06137" y="2377440"/>
            <a:ext cx="2949244"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互換性なし</a:t>
            </a:r>
          </a:p>
          <a:p>
            <a:pPr algn="ctr"/>
            <a:r>
              <a:rPr sz="1100" b="0">
                <a:solidFill>
                  <a:srgbClr val="555555"/>
                </a:solidFill>
                <a:latin typeface="Meiryo UI"/>
              </a:rPr>
              <a:t>直接は話せない</a:t>
            </a:r>
          </a:p>
        </p:txBody>
      </p:sp>
      <p:sp>
        <p:nvSpPr>
          <p:cNvPr id="6" name="Right Arrow 5"/>
          <p:cNvSpPr/>
          <p:nvPr/>
        </p:nvSpPr>
        <p:spPr>
          <a:xfrm>
            <a:off x="7555382" y="2926080"/>
            <a:ext cx="971092"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26475" y="2377440"/>
            <a:ext cx="2949244"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IPv6 の世界</a:t>
            </a:r>
          </a:p>
          <a:p>
            <a:pPr algn="ctr"/>
            <a:r>
              <a:rPr sz="1100" b="0">
                <a:solidFill>
                  <a:srgbClr val="555555"/>
                </a:solidFill>
                <a:latin typeface="Meiryo UI"/>
              </a:rPr>
              <a:t>2001:db8::x</a:t>
            </a:r>
          </a:p>
        </p:txBody>
      </p:sp>
      <p:sp>
        <p:nvSpPr>
          <p:cNvPr id="8" name="TextBox 7"/>
          <p:cNvSpPr txBox="1"/>
          <p:nvPr/>
        </p:nvSpPr>
        <p:spPr>
          <a:xfrm>
            <a:off x="685800" y="4114800"/>
            <a:ext cx="10789920" cy="1828800"/>
          </a:xfrm>
          <a:prstGeom prst="rect">
            <a:avLst/>
          </a:prstGeom>
          <a:noFill/>
        </p:spPr>
        <p:txBody>
          <a:bodyPr wrap="square">
            <a:spAutoFit/>
          </a:bodyPr>
          <a:lstStyle/>
          <a:p>
            <a:pPr algn="l">
              <a:spcAft>
                <a:spcPts val="600"/>
              </a:spcAft>
            </a:pPr>
            <a:r>
              <a:rPr sz="1400" b="0">
                <a:solidFill>
                  <a:srgbClr val="555555"/>
                </a:solidFill>
                <a:latin typeface="Meiryo UI"/>
              </a:rPr>
              <a:t>IPv4 と IPv6 の間に自動変換はない。だから両方を同時に使う (デュアルスタック) か、</a:t>
            </a:r>
          </a:p>
          <a:p>
            <a:pPr algn="l">
              <a:spcAft>
                <a:spcPts val="600"/>
              </a:spcAft>
            </a:pPr>
            <a:r>
              <a:rPr sz="1400" b="0">
                <a:solidFill>
                  <a:srgbClr val="555555"/>
                </a:solidFill>
                <a:latin typeface="Meiryo UI"/>
              </a:rPr>
              <a:t>どちらかを他方の上で運ぶ (共存技術) しかない。IPoE がやっているのは後者。</a:t>
            </a:r>
          </a:p>
          <a:p>
            <a:pPr algn="l">
              <a:spcAft>
                <a:spcPts val="600"/>
              </a:spcAft>
            </a:pPr>
            <a:r>
              <a:rPr sz="1400" b="1">
                <a:solidFill>
                  <a:srgbClr val="C0392B"/>
                </a:solidFill>
                <a:latin typeface="Meiryo UI"/>
              </a:rPr>
              <a:t>※ 「IPv6 にしたら IPv4 が使えなくなる」は誤り。IPv6 のトンネルの中を通って使える。</a:t>
            </a:r>
          </a:p>
          <a:p>
            <a:pPr algn="l">
              <a:spcAft>
                <a:spcPts val="600"/>
              </a:spcAft>
            </a:pPr>
            <a:r>
              <a:rPr sz="1400" b="0">
                <a:solidFill>
                  <a:srgbClr val="555555"/>
                </a:solidFill>
                <a:latin typeface="Meiryo UI"/>
              </a:rPr>
              <a:t>教科書: 2.10 IPv6 と IPv4 の違い (p.51) / 2.12 同時に使う (p.58) / 2.13 共存技術 (p.61)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1-4. 演習 1-A: CPE の WAN に何が付いているか  (手順は実測済み)</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900"/>
              </a:spcAft>
            </a:pPr>
            <a:r>
              <a:rPr sz="1900" b="1">
                <a:solidFill>
                  <a:srgbClr val="1F3355"/>
                </a:solidFill>
                <a:latin typeface="Meiryo UI"/>
              </a:rPr>
              <a:t>手順</a:t>
            </a:r>
          </a:p>
          <a:p>
            <a:pPr lvl="1" algn="l">
              <a:spcAft>
                <a:spcPts val="500"/>
              </a:spcAft>
            </a:pPr>
            <a:r>
              <a:rPr sz="1600" b="0">
                <a:solidFill>
                  <a:srgbClr val="555555"/>
                </a:solidFill>
                <a:latin typeface="Meiryo UI"/>
              </a:rPr>
              <a:t>1. CPE (OpenWrt-CE または実機。クライアント VM ではない) で PPPoE 接続</a:t>
            </a:r>
          </a:p>
          <a:p>
            <a:pPr lvl="1" algn="l">
              <a:spcAft>
                <a:spcPts val="500"/>
              </a:spcAft>
            </a:pPr>
            <a:r>
              <a:rPr sz="1600" b="0">
                <a:solidFill>
                  <a:srgbClr val="0B6040"/>
                </a:solidFill>
                <a:latin typeface="Consolas"/>
              </a:rPr>
              <a:t>   認証: user1@isp-a.example / pass1 / サービス名 lab-isp</a:t>
            </a:r>
          </a:p>
          <a:p>
            <a:pPr lvl="1" algn="l">
              <a:spcAft>
                <a:spcPts val="500"/>
              </a:spcAft>
            </a:pPr>
            <a:r>
              <a:rPr sz="1600" b="0">
                <a:solidFill>
                  <a:srgbClr val="0B6040"/>
                </a:solidFill>
                <a:latin typeface="Consolas"/>
              </a:rPr>
              <a:t>2. CPE の WAN 側で  ip -6 addr show  (実機なら show ipv6 interface brief)</a:t>
            </a:r>
          </a:p>
          <a:p>
            <a:pPr lvl="1" algn="l">
              <a:spcAft>
                <a:spcPts val="500"/>
              </a:spcAft>
            </a:pPr>
            <a:r>
              <a:rPr sz="1600" b="0">
                <a:solidFill>
                  <a:srgbClr val="555555"/>
                </a:solidFill>
                <a:latin typeface="Meiryo UI"/>
              </a:rPr>
              <a:t>3. 出てきたアドレスを 1 個ずつ「これは何か」に分類する</a:t>
            </a:r>
          </a:p>
          <a:p>
            <a:pPr algn="l">
              <a:spcAft>
                <a:spcPts val="900"/>
              </a:spcAft>
            </a:pPr>
            <a:r>
              <a:rPr sz="1900" b="1">
                <a:solidFill>
                  <a:srgbClr val="1F3355"/>
                </a:solidFill>
                <a:latin typeface="Meiryo UI"/>
              </a:rPr>
              <a:t>ラボの仕掛け — ここが今日の山場</a:t>
            </a:r>
          </a:p>
          <a:p>
            <a:pPr lvl="1" algn="l">
              <a:spcAft>
                <a:spcPts val="500"/>
              </a:spcAft>
            </a:pPr>
            <a:r>
              <a:rPr sz="1600" b="0">
                <a:solidFill>
                  <a:srgbClr val="555555"/>
                </a:solidFill>
                <a:latin typeface="Meiryo UI"/>
              </a:rPr>
              <a:t>ラボの BRAS は ipv6=deny。PPPoE セッション自体では IPv6 は降りない</a:t>
            </a:r>
          </a:p>
          <a:p>
            <a:pPr lvl="1" algn="l">
              <a:spcAft>
                <a:spcPts val="500"/>
              </a:spcAft>
            </a:pPr>
            <a:r>
              <a:rPr sz="1600" b="0">
                <a:solidFill>
                  <a:srgbClr val="555555"/>
                </a:solidFill>
                <a:latin typeface="Meiryo UI"/>
              </a:rPr>
              <a:t>(= IPv6 非対応の PPPoE 契約の再現)</a:t>
            </a:r>
          </a:p>
          <a:p>
            <a:pPr lvl="1" algn="l">
              <a:spcAft>
                <a:spcPts val="500"/>
              </a:spcAft>
            </a:pPr>
            <a:r>
              <a:rPr sz="1600" b="0">
                <a:solidFill>
                  <a:srgbClr val="555555"/>
                </a:solidFill>
                <a:latin typeface="Meiryo UI"/>
              </a:rPr>
              <a:t>しかし CPE の WAN は NGN アクセス網の L2 に直結していて、NGN-SIM の radvd は</a:t>
            </a:r>
          </a:p>
          <a:p>
            <a:pPr lvl="1" algn="l">
              <a:spcAft>
                <a:spcPts val="500"/>
              </a:spcAft>
            </a:pPr>
            <a:r>
              <a:rPr sz="1600" b="0">
                <a:solidFill>
                  <a:srgbClr val="555555"/>
                </a:solidFill>
                <a:latin typeface="Meiryo UI"/>
              </a:rPr>
              <a:t>ra/pd どちらのモードでも常時 RA を流している</a:t>
            </a:r>
          </a:p>
          <a:p>
            <a:pPr algn="l">
              <a:spcAft>
                <a:spcPts val="900"/>
              </a:spcAft>
            </a:pPr>
            <a:r>
              <a:rPr sz="1900" b="1">
                <a:solidFill>
                  <a:srgbClr val="C0392B"/>
                </a:solidFill>
                <a:latin typeface="Meiryo UI"/>
              </a:rPr>
              <a:t>つまり PPPoE とは無関係に、NGN 由来のグローバル IPv6 が来ている可能性がある</a:t>
            </a:r>
          </a:p>
          <a:p>
            <a:pPr lvl="1" algn="l">
              <a:spcAft>
                <a:spcPts val="500"/>
              </a:spcAft>
            </a:pPr>
            <a:r>
              <a:rPr sz="1600" b="0">
                <a:solidFill>
                  <a:srgbClr val="555555"/>
                </a:solidFill>
                <a:latin typeface="Meiryo UI"/>
              </a:rPr>
              <a:t>これが 付録 A.1 フォールバック問題 / A.2 マルチプレフィックス問題 の正体</a:t>
            </a:r>
          </a:p>
          <a:p>
            <a:pPr lvl="1" algn="l">
              <a:spcAft>
                <a:spcPts val="500"/>
              </a:spcAft>
            </a:pPr>
            <a:r>
              <a:rPr sz="1600" b="0">
                <a:solidFill>
                  <a:srgbClr val="555555"/>
                </a:solidFill>
                <a:latin typeface="Meiryo UI"/>
              </a:rPr>
              <a:t>「ISP の契約とは別に NGN の IPv6 が勝手に来ている」を最初に体感させる</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手順はラボで実走済み。GUA がどのプレフィックスで付くかは受講者の環境によって変わります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1-5. リンクローカルとグローバル / 宿題</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fe80:: で始まる = リンクローカル。同じリンク内専用。消すと全部死ぬ</a:t>
            </a:r>
          </a:p>
          <a:p>
            <a:pPr lvl="1" algn="l">
              <a:spcAft>
                <a:spcPts val="600"/>
              </a:spcAft>
            </a:pPr>
            <a:r>
              <a:rPr sz="1700" b="0">
                <a:solidFill>
                  <a:srgbClr val="555555"/>
                </a:solidFill>
                <a:latin typeface="Meiryo UI"/>
              </a:rPr>
              <a:t>IPv6 のルーティングも近隣探索もこれを使って動く。RA の送信元も fe80::</a:t>
            </a:r>
          </a:p>
          <a:p>
            <a:pPr lvl="1" algn="l">
              <a:spcAft>
                <a:spcPts val="600"/>
              </a:spcAft>
            </a:pPr>
            <a:r>
              <a:rPr sz="1700" b="0">
                <a:solidFill>
                  <a:srgbClr val="555555"/>
                </a:solidFill>
                <a:latin typeface="Meiryo UI"/>
              </a:rPr>
              <a:t>IPv4 の 169.254.x.x とは役割が違う (あっちは DHCP 失敗時の敗戦処理)</a:t>
            </a:r>
          </a:p>
          <a:p>
            <a:pPr algn="l">
              <a:spcAft>
                <a:spcPts val="1000"/>
              </a:spcAft>
            </a:pPr>
            <a:r>
              <a:rPr sz="2000" b="1">
                <a:solidFill>
                  <a:srgbClr val="1F3355"/>
                </a:solidFill>
                <a:latin typeface="Meiryo UI"/>
              </a:rPr>
              <a:t>2001: で始まる = グローバル。外と話せる</a:t>
            </a:r>
          </a:p>
          <a:p>
            <a:pPr algn="l">
              <a:spcAft>
                <a:spcPts val="1000"/>
              </a:spcAft>
            </a:pPr>
            <a:r>
              <a:rPr sz="2000" b="1">
                <a:solidFill>
                  <a:srgbClr val="1F3355"/>
                </a:solidFill>
                <a:latin typeface="Meiryo UI"/>
              </a:rPr>
              <a:t>Temporary (プライバシー拡張) について</a:t>
            </a:r>
          </a:p>
          <a:p>
            <a:pPr lvl="1" algn="l">
              <a:spcAft>
                <a:spcPts val="600"/>
              </a:spcAft>
            </a:pPr>
            <a:r>
              <a:rPr sz="1700" b="0">
                <a:solidFill>
                  <a:srgbClr val="555555"/>
                </a:solidFill>
                <a:latin typeface="Meiryo UI"/>
              </a:rPr>
              <a:t>lab-client (Ubuntu Server) では既定で生成されない</a:t>
            </a:r>
          </a:p>
          <a:p>
            <a:pPr lvl="1" algn="l">
              <a:spcAft>
                <a:spcPts val="600"/>
              </a:spcAft>
            </a:pPr>
            <a:r>
              <a:rPr sz="1700" b="0">
                <a:solidFill>
                  <a:srgbClr val="0B6040"/>
                </a:solidFill>
                <a:latin typeface="Consolas"/>
              </a:rPr>
              <a:t>見せたい場合: sudo sysctl -w net.ipv6.conf.&lt;if&gt;.use_tempaddr=2</a:t>
            </a:r>
          </a:p>
          <a:p>
            <a:pPr algn="l">
              <a:spcAft>
                <a:spcPts val="1000"/>
              </a:spcAft>
            </a:pPr>
            <a:r>
              <a:rPr sz="2000" b="1">
                <a:solidFill>
                  <a:srgbClr val="1F3355"/>
                </a:solidFill>
                <a:latin typeface="Meiryo UI"/>
              </a:rPr>
              <a:t>宿題: 自宅の PC で IPv6 アドレスを見て、種類を数えてくる</a:t>
            </a:r>
          </a:p>
          <a:p>
            <a:pPr lvl="1" algn="l">
              <a:spcAft>
                <a:spcPts val="600"/>
              </a:spcAft>
            </a:pPr>
            <a:r>
              <a:rPr sz="1700" b="0">
                <a:solidFill>
                  <a:srgbClr val="0B6040"/>
                </a:solidFill>
                <a:latin typeface="Consolas"/>
              </a:rPr>
              <a:t>Windows: ipconfig /all   /   Mac・Linux: ip -6 addr</a:t>
            </a:r>
          </a:p>
          <a:p>
            <a:pPr lvl="1" algn="l">
              <a:spcAft>
                <a:spcPts val="600"/>
              </a:spcAft>
            </a:pPr>
            <a:r>
              <a:rPr sz="1700" b="0">
                <a:solidFill>
                  <a:srgbClr val="555555"/>
                </a:solidFill>
                <a:latin typeface="Meiryo UI"/>
              </a:rPr>
              <a:t>自宅が IPv6 非対応・管理画面に入れない場合はスマホのテザリングで代替可</a:t>
            </a:r>
          </a:p>
          <a:p>
            <a:pPr algn="l">
              <a:spcAft>
                <a:spcPts val="1000"/>
              </a:spcAft>
            </a:pPr>
            <a:r>
              <a:rPr sz="2000" b="0">
                <a:solidFill>
                  <a:srgbClr val="1F3355"/>
                </a:solidFill>
                <a:latin typeface="Meiryo UI"/>
              </a:rPr>
              <a:t>教科書: 3.5 リンクローカル (p.74) / 2.9 複数のアドレスが付く (p.48) / 7.5 Temporary (p.166)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2377440"/>
          </a:xfrm>
          <a:prstGeom prst="rect">
            <a:avLst/>
          </a:prstGeom>
          <a:noFill/>
        </p:spPr>
        <p:txBody>
          <a:bodyPr wrap="square">
            <a:spAutoFit/>
          </a:bodyPr>
          <a:lstStyle/>
          <a:p>
            <a:pPr algn="l"/>
            <a:r>
              <a:rPr sz="2000" b="1">
                <a:solidFill>
                  <a:srgbClr val="7FB8E0"/>
                </a:solidFill>
                <a:latin typeface="Meiryo UI"/>
              </a:rPr>
              <a:t>第2回</a:t>
            </a:r>
          </a:p>
          <a:p>
            <a:pPr algn="l"/>
            <a:r>
              <a:rPr sz="3600" b="1">
                <a:solidFill>
                  <a:srgbClr val="FFFFFF"/>
                </a:solidFill>
                <a:latin typeface="Meiryo UI"/>
              </a:rPr>
              <a:t>アドレスはどうやって降ってくるのか</a:t>
            </a:r>
          </a:p>
          <a:p>
            <a:pPr algn="l">
              <a:spcBef>
                <a:spcPts val="1600"/>
              </a:spcBef>
            </a:pPr>
            <a:r>
              <a:rPr sz="1600" b="0">
                <a:solidFill>
                  <a:srgbClr val="D5E5F2"/>
                </a:solidFill>
                <a:latin typeface="Meiryo UI"/>
              </a:rPr>
              <a:t>ゴール: ひかり電話の有無と「どこで終端するか」の 2 段で方式を決められる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2-1. IPoE とは何か (用語の整理から)</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IPoE = IP over Ethernet。PPP を挟まずに Ethernet に直接 IP を載せる方式</a:t>
            </a:r>
          </a:p>
          <a:p>
            <a:pPr lvl="1" algn="l">
              <a:spcAft>
                <a:spcPts val="600"/>
              </a:spcAft>
            </a:pPr>
            <a:r>
              <a:rPr sz="1700" b="1">
                <a:solidFill>
                  <a:srgbClr val="C0392B"/>
                </a:solidFill>
                <a:latin typeface="Meiryo UI"/>
              </a:rPr>
              <a:t>NTT の商品名ではない。接続方式の名前</a:t>
            </a:r>
          </a:p>
          <a:p>
            <a:pPr algn="l">
              <a:spcAft>
                <a:spcPts val="1000"/>
              </a:spcAft>
            </a:pPr>
            <a:r>
              <a:rPr sz="2000" b="1">
                <a:solidFill>
                  <a:srgbClr val="1F3355"/>
                </a:solidFill>
                <a:latin typeface="Meiryo UI"/>
              </a:rPr>
              <a:t>PPPoE との違い</a:t>
            </a:r>
          </a:p>
          <a:p>
            <a:pPr lvl="1" algn="l">
              <a:spcAft>
                <a:spcPts val="600"/>
              </a:spcAft>
            </a:pPr>
            <a:r>
              <a:rPr sz="1700" b="0">
                <a:solidFill>
                  <a:srgbClr val="555555"/>
                </a:solidFill>
                <a:latin typeface="Meiryo UI"/>
              </a:rPr>
              <a:t>PPPoE: ID/パスワードでセッションを張る → 網終端装置 (NTE) を必ず通る</a:t>
            </a:r>
          </a:p>
          <a:p>
            <a:pPr lvl="1" algn="l">
              <a:spcAft>
                <a:spcPts val="600"/>
              </a:spcAft>
            </a:pPr>
            <a:r>
              <a:rPr sz="1700" b="0">
                <a:solidFill>
                  <a:srgbClr val="555555"/>
                </a:solidFill>
                <a:latin typeface="Meiryo UI"/>
              </a:rPr>
              <a:t>IPoE: つないだらアドレスが降ってくる → NTE を通らない</a:t>
            </a:r>
          </a:p>
          <a:p>
            <a:pPr algn="l">
              <a:spcAft>
                <a:spcPts val="1000"/>
              </a:spcAft>
            </a:pPr>
            <a:r>
              <a:rPr sz="2000" b="1">
                <a:solidFill>
                  <a:srgbClr val="1F3355"/>
                </a:solidFill>
                <a:latin typeface="Meiryo UI"/>
              </a:rPr>
              <a:t>「IPoE は速い」の正体</a:t>
            </a:r>
          </a:p>
          <a:p>
            <a:pPr lvl="1" algn="l">
              <a:spcAft>
                <a:spcPts val="600"/>
              </a:spcAft>
            </a:pPr>
            <a:r>
              <a:rPr sz="1700" b="0">
                <a:solidFill>
                  <a:srgbClr val="555555"/>
                </a:solidFill>
                <a:latin typeface="Meiryo UI"/>
              </a:rPr>
              <a:t>プロトコルが速いのではなく、混雑する箱 (NTE) を通らないから</a:t>
            </a:r>
          </a:p>
          <a:p>
            <a:pPr lvl="1" algn="l">
              <a:spcAft>
                <a:spcPts val="600"/>
              </a:spcAft>
            </a:pPr>
            <a:r>
              <a:rPr sz="1700" b="1">
                <a:solidFill>
                  <a:srgbClr val="C0392B"/>
                </a:solidFill>
                <a:latin typeface="Meiryo UI"/>
              </a:rPr>
              <a:t>※ VNE 側が混んでいれば普通に遅い。「速くなります」と客に約束しない</a:t>
            </a:r>
          </a:p>
          <a:p>
            <a:pPr algn="l">
              <a:spcAft>
                <a:spcPts val="1000"/>
              </a:spcAft>
            </a:pPr>
            <a:r>
              <a:rPr sz="2000" b="0">
                <a:solidFill>
                  <a:srgbClr val="1F3355"/>
                </a:solidFill>
                <a:latin typeface="Meiryo UI"/>
              </a:rPr>
              <a:t>教科書: 付録 A.3 IPv6 PPPoE と IPv6 IPoE (p.443) ← 付箋を貼る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2-2. 近隣探索プロトコル — IPv6 の心臓部</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IPv6 に ARP はない。代わりに ICMPv6 の 4 兄弟が働く (ほかに Redirect もある)</a:t>
            </a:r>
          </a:p>
          <a:p>
            <a:pPr lvl="1" algn="l">
              <a:spcAft>
                <a:spcPts val="600"/>
              </a:spcAft>
            </a:pPr>
            <a:r>
              <a:rPr sz="1700" b="0">
                <a:solidFill>
                  <a:srgbClr val="555555"/>
                </a:solidFill>
                <a:latin typeface="Meiryo UI"/>
              </a:rPr>
              <a:t>RS (Router Solicitation): 「ルータいますか?」</a:t>
            </a:r>
          </a:p>
          <a:p>
            <a:pPr lvl="1" algn="l">
              <a:spcAft>
                <a:spcPts val="600"/>
              </a:spcAft>
            </a:pPr>
            <a:r>
              <a:rPr sz="1700" b="0">
                <a:solidFill>
                  <a:srgbClr val="555555"/>
                </a:solidFill>
                <a:latin typeface="Meiryo UI"/>
              </a:rPr>
              <a:t>RA (Router Advertisement): 「ここにいる。プレフィックスはこれ」</a:t>
            </a:r>
          </a:p>
          <a:p>
            <a:pPr lvl="1" algn="l">
              <a:spcAft>
                <a:spcPts val="600"/>
              </a:spcAft>
            </a:pPr>
            <a:r>
              <a:rPr sz="1700" b="0">
                <a:solidFill>
                  <a:srgbClr val="555555"/>
                </a:solidFill>
                <a:latin typeface="Meiryo UI"/>
              </a:rPr>
              <a:t>NS (Neighbor Solicitation): 「このアドレスの MAC 教えて」= ARP 相当</a:t>
            </a:r>
          </a:p>
          <a:p>
            <a:pPr lvl="1" algn="l">
              <a:spcAft>
                <a:spcPts val="600"/>
              </a:spcAft>
            </a:pPr>
            <a:r>
              <a:rPr sz="1700" b="0">
                <a:solidFill>
                  <a:srgbClr val="555555"/>
                </a:solidFill>
                <a:latin typeface="Meiryo UI"/>
              </a:rPr>
              <a:t>NA (Neighbor Advertisement): 「私です」</a:t>
            </a:r>
          </a:p>
          <a:p>
            <a:pPr algn="l">
              <a:spcAft>
                <a:spcPts val="1000"/>
              </a:spcAft>
            </a:pPr>
            <a:r>
              <a:rPr sz="2000" b="1">
                <a:solidFill>
                  <a:srgbClr val="C0392B"/>
                </a:solidFill>
                <a:latin typeface="Meiryo UI"/>
              </a:rPr>
              <a:t>全部 ICMPv6。だから ICMPv6 を全 deny すると IPv6 は動かない</a:t>
            </a:r>
          </a:p>
          <a:p>
            <a:pPr lvl="1" algn="l">
              <a:spcAft>
                <a:spcPts val="600"/>
              </a:spcAft>
            </a:pPr>
            <a:r>
              <a:rPr sz="1700" b="0">
                <a:solidFill>
                  <a:srgbClr val="555555"/>
                </a:solidFill>
                <a:latin typeface="Meiryo UI"/>
              </a:rPr>
              <a:t>教科書 14.9「ICMPv6 を無条件にすべてフィルタリングすべきではない」(p.279)</a:t>
            </a:r>
          </a:p>
          <a:p>
            <a:pPr lvl="1" algn="l">
              <a:spcAft>
                <a:spcPts val="600"/>
              </a:spcAft>
            </a:pPr>
            <a:r>
              <a:rPr sz="1700" b="0">
                <a:solidFill>
                  <a:srgbClr val="555555"/>
                </a:solidFill>
                <a:latin typeface="Meiryo UI"/>
              </a:rPr>
              <a:t>対立意見: では全許可か? それも違う。RFC 4890 相当の選別が必要</a:t>
            </a:r>
          </a:p>
          <a:p>
            <a:pPr algn="l">
              <a:spcAft>
                <a:spcPts val="1000"/>
              </a:spcAft>
            </a:pPr>
            <a:r>
              <a:rPr sz="2000" b="0">
                <a:solidFill>
                  <a:srgbClr val="1F3355"/>
                </a:solidFill>
                <a:latin typeface="Meiryo UI"/>
              </a:rPr>
              <a:t>教科書: 6.1 機能と利用するメッセージ (p.128) / 6.2 ルータとプレフィックス情報の発見 (p.129)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2-3. 2 つの方式 — RA 方式と PD 方式</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RA 方式 (SLAAC)</a:t>
            </a:r>
          </a:p>
          <a:p>
            <a:pPr lvl="1" algn="l">
              <a:spcAft>
                <a:spcPts val="600"/>
              </a:spcAft>
            </a:pPr>
            <a:r>
              <a:rPr sz="1700" b="0">
                <a:solidFill>
                  <a:srgbClr val="555555"/>
                </a:solidFill>
                <a:latin typeface="Meiryo UI"/>
              </a:rPr>
              <a:t>ルータ広告のプレフィックス情報から端末が自分でアドレスを作る</a:t>
            </a:r>
          </a:p>
          <a:p>
            <a:pPr lvl="1" algn="l">
              <a:spcAft>
                <a:spcPts val="600"/>
              </a:spcAft>
            </a:pPr>
            <a:r>
              <a:rPr sz="1700" b="0">
                <a:solidFill>
                  <a:srgbClr val="555555"/>
                </a:solidFill>
                <a:latin typeface="Meiryo UI"/>
              </a:rPr>
              <a:t>降りてくるのは /64 が 1 個。LAN を複数セグメントには分けられない</a:t>
            </a:r>
          </a:p>
          <a:p>
            <a:pPr algn="l">
              <a:spcAft>
                <a:spcPts val="1000"/>
              </a:spcAft>
            </a:pPr>
            <a:r>
              <a:rPr sz="2000" b="1">
                <a:solidFill>
                  <a:srgbClr val="1F3355"/>
                </a:solidFill>
                <a:latin typeface="Meiryo UI"/>
              </a:rPr>
              <a:t>PD 方式 (DHCPv6-PD)</a:t>
            </a:r>
          </a:p>
          <a:p>
            <a:pPr lvl="1" algn="l">
              <a:spcAft>
                <a:spcPts val="600"/>
              </a:spcAft>
            </a:pPr>
            <a:r>
              <a:rPr sz="1700" b="0">
                <a:solidFill>
                  <a:srgbClr val="555555"/>
                </a:solidFill>
                <a:latin typeface="Meiryo UI"/>
              </a:rPr>
              <a:t>DHCPv6 で「プレフィックスそのもの」が委任される</a:t>
            </a:r>
          </a:p>
          <a:p>
            <a:pPr lvl="1" algn="l">
              <a:spcAft>
                <a:spcPts val="600"/>
              </a:spcAft>
            </a:pPr>
            <a:r>
              <a:rPr sz="1700" b="0">
                <a:solidFill>
                  <a:srgbClr val="555555"/>
                </a:solidFill>
                <a:latin typeface="Meiryo UI"/>
              </a:rPr>
              <a:t>/56 なら /64 が 256 個作れる。これが PD 方式の価値</a:t>
            </a:r>
          </a:p>
          <a:p>
            <a:pPr algn="l">
              <a:spcAft>
                <a:spcPts val="1000"/>
              </a:spcAft>
            </a:pPr>
            <a:r>
              <a:rPr sz="2000" b="1">
                <a:solidFill>
                  <a:srgbClr val="1F3355"/>
                </a:solidFill>
                <a:latin typeface="Meiryo UI"/>
              </a:rPr>
              <a:t>IPv4 との感覚の違い</a:t>
            </a:r>
          </a:p>
          <a:p>
            <a:pPr lvl="1" algn="l">
              <a:spcAft>
                <a:spcPts val="600"/>
              </a:spcAft>
            </a:pPr>
            <a:r>
              <a:rPr sz="1700" b="0">
                <a:solidFill>
                  <a:srgbClr val="555555"/>
                </a:solidFill>
                <a:latin typeface="Meiryo UI"/>
              </a:rPr>
              <a:t>IPv4 は「アドレスを 1 個もらう」、IPv6 は「プレフィックスをもらって中を自分で切る」</a:t>
            </a:r>
          </a:p>
          <a:p>
            <a:pPr lvl="1" algn="l">
              <a:spcAft>
                <a:spcPts val="600"/>
              </a:spcAft>
            </a:pPr>
            <a:r>
              <a:rPr sz="1700" b="0">
                <a:solidFill>
                  <a:srgbClr val="555555"/>
                </a:solidFill>
                <a:latin typeface="Meiryo UI"/>
              </a:rPr>
              <a:t>SLAAC を使う限りホスト部は 64 ビット。だから /64 より細かくは切らない</a:t>
            </a:r>
          </a:p>
          <a:p>
            <a:pPr algn="l">
              <a:spcAft>
                <a:spcPts val="1000"/>
              </a:spcAft>
            </a:pPr>
            <a:r>
              <a:rPr sz="2000" b="0">
                <a:solidFill>
                  <a:srgbClr val="1F3355"/>
                </a:solidFill>
                <a:latin typeface="Meiryo UI"/>
              </a:rPr>
              <a:t>教科書: 7.1 SLAAC の流れ (p.160) / 8.1 DHCP と DHCPv6 の違い (p.180) / 8.7 PD (p.201)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2-4. 方式判定は 2 段。1 段で決めると事故る</a:t>
            </a:r>
          </a:p>
        </p:txBody>
      </p:sp>
      <p:sp>
        <p:nvSpPr>
          <p:cNvPr id="3" name="Rounded Rectangle 2"/>
          <p:cNvSpPr/>
          <p:nvPr/>
        </p:nvSpPr>
        <p:spPr>
          <a:xfrm>
            <a:off x="4572000" y="1188720"/>
            <a:ext cx="3017520" cy="914400"/>
          </a:xfrm>
          <a:prstGeom prst="roundRect">
            <a:avLst/>
          </a:prstGeom>
          <a:solidFill>
            <a:srgbClr val="EFF5FA"/>
          </a:solidFill>
          <a:ln w="22225">
            <a:solidFill>
              <a:srgbClr val="1F33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① ひかり電話は?</a:t>
            </a:r>
          </a:p>
          <a:p>
            <a:pPr algn="ctr"/>
            <a:r>
              <a:rPr sz="1100" b="0">
                <a:solidFill>
                  <a:srgbClr val="555555"/>
                </a:solidFill>
                <a:latin typeface="Meiryo UI"/>
              </a:rPr>
              <a:t>ヒアリングシート #1</a:t>
            </a:r>
          </a:p>
        </p:txBody>
      </p:sp>
      <p:sp>
        <p:nvSpPr>
          <p:cNvPr id="4" name="Rounded Rectangle 3"/>
          <p:cNvSpPr/>
          <p:nvPr/>
        </p:nvSpPr>
        <p:spPr>
          <a:xfrm>
            <a:off x="1188720" y="2926080"/>
            <a:ext cx="4206240" cy="109728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なし → RA 方式 (/64)</a:t>
            </a:r>
          </a:p>
          <a:p>
            <a:pPr algn="ctr"/>
            <a:r>
              <a:rPr sz="1100" b="0">
                <a:solidFill>
                  <a:srgbClr val="555555"/>
                </a:solidFill>
                <a:latin typeface="Meiryo UI"/>
              </a:rPr>
              <a:t>配下ルータで終端</a:t>
            </a:r>
          </a:p>
        </p:txBody>
      </p:sp>
      <p:sp>
        <p:nvSpPr>
          <p:cNvPr id="5" name="Rounded Rectangle 4"/>
          <p:cNvSpPr/>
          <p:nvPr/>
        </p:nvSpPr>
        <p:spPr>
          <a:xfrm>
            <a:off x="6766560" y="2926080"/>
            <a:ext cx="4206240" cy="109728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あり → HGW が来る → ② へ</a:t>
            </a:r>
          </a:p>
          <a:p>
            <a:pPr algn="ctr"/>
            <a:r>
              <a:rPr sz="1100" b="0">
                <a:solidFill>
                  <a:srgbClr val="555555"/>
                </a:solidFill>
                <a:latin typeface="Meiryo UI"/>
              </a:rPr>
              <a:t>HGW 型番の確認が必須 (#2)</a:t>
            </a:r>
          </a:p>
        </p:txBody>
      </p:sp>
      <p:cxnSp>
        <p:nvCxnSpPr>
          <p:cNvPr id="6" name="Connector 5"/>
          <p:cNvCxnSpPr/>
          <p:nvPr/>
        </p:nvCxnSpPr>
        <p:spPr>
          <a:xfrm>
            <a:off x="6080760" y="210312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91840" y="2514600"/>
            <a:ext cx="5577840" cy="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91840" y="251460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869680" y="2514600"/>
            <a:ext cx="0" cy="411480"/>
          </a:xfrm>
          <a:prstGeom prst="line">
            <a:avLst/>
          </a:prstGeom>
          <a:ln w="31750">
            <a:solidFill>
              <a:srgbClr val="007A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4343400"/>
            <a:ext cx="10789920" cy="1828800"/>
          </a:xfrm>
          <a:prstGeom prst="rect">
            <a:avLst/>
          </a:prstGeom>
          <a:noFill/>
        </p:spPr>
        <p:txBody>
          <a:bodyPr wrap="square">
            <a:spAutoFit/>
          </a:bodyPr>
          <a:lstStyle/>
          <a:p>
            <a:pPr algn="l">
              <a:spcAft>
                <a:spcPts val="600"/>
              </a:spcAft>
            </a:pPr>
            <a:r>
              <a:rPr sz="1400" b="0">
                <a:solidFill>
                  <a:srgbClr val="555555"/>
                </a:solidFill>
                <a:latin typeface="Meiryo UI"/>
              </a:rPr>
              <a:t>② 終端するのはどっち?   HGW で終端 → 配下ルータは PD を要求しない (ブリッジ/ルータモード)</a:t>
            </a:r>
          </a:p>
          <a:p>
            <a:pPr algn="l">
              <a:spcAft>
                <a:spcPts val="600"/>
              </a:spcAft>
            </a:pPr>
            <a:r>
              <a:rPr sz="1400" b="0">
                <a:solidFill>
                  <a:srgbClr val="555555"/>
                </a:solidFill>
                <a:latin typeface="Meiryo UI"/>
              </a:rPr>
              <a:t>                        配下ルータで終端 → HGW 側の IPoE を止める</a:t>
            </a:r>
          </a:p>
          <a:p>
            <a:pPr algn="l">
              <a:spcAft>
                <a:spcPts val="600"/>
              </a:spcAft>
            </a:pPr>
            <a:r>
              <a:rPr sz="1400" b="1">
                <a:solidFill>
                  <a:srgbClr val="C0392B"/>
                </a:solidFill>
                <a:latin typeface="Meiryo UI"/>
              </a:rPr>
              <a:t>※ 「ひかり電話あり = 配下ルータに PD を設定」は誤り。HGW が PD を取るので二重終端 (R7) になる。</a:t>
            </a:r>
          </a:p>
          <a:p>
            <a:pPr algn="l">
              <a:spcAft>
                <a:spcPts val="600"/>
              </a:spcAft>
            </a:pPr>
            <a:r>
              <a:rPr sz="1400" b="0">
                <a:solidFill>
                  <a:srgbClr val="555555"/>
                </a:solidFill>
                <a:latin typeface="Meiryo UI"/>
              </a:rPr>
              <a:t>教科書: 付録 A.3 (p.443) / 付録 B ND Proxy (p.455) / 13.2 マルチプレフィックスの問題 (p.251)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2-5. NGN と VNE はセットで切り替える  (実測済み)</a:t>
            </a:r>
          </a:p>
        </p:txBody>
      </p:sp>
      <p:graphicFrame>
        <p:nvGraphicFramePr>
          <p:cNvPr id="3" name="Table 2"/>
          <p:cNvGraphicFramePr>
            <a:graphicFrameLocks noGrp="1"/>
          </p:cNvGraphicFramePr>
          <p:nvPr/>
        </p:nvGraphicFramePr>
        <p:xfrm>
          <a:off x="502920" y="1143000"/>
          <a:ext cx="11155680" cy="932688"/>
        </p:xfrm>
        <a:graphic>
          <a:graphicData uri="http://schemas.openxmlformats.org/drawingml/2006/table">
            <a:tbl>
              <a:tblPr>
                <a:tableStyleId>{5C22544A-7EE6-4342-B048-85BDC9FD1C3A}</a:tableStyleId>
              </a:tblPr>
              <a:tblGrid>
                <a:gridCol w="2377440"/>
                <a:gridCol w="3200400"/>
                <a:gridCol w="2286000"/>
                <a:gridCol w="3291840"/>
              </a:tblGrid>
              <a:tr h="310896">
                <a:tc>
                  <a:txBody>
                    <a:bodyPr/>
                    <a:lstStyle/>
                    <a:p>
                      <a:pPr algn="l"/>
                      <a:r>
                        <a:rPr sz="1300" b="1">
                          <a:solidFill>
                            <a:srgbClr val="FFFFFF"/>
                          </a:solidFill>
                          <a:latin typeface="Meiryo UI"/>
                        </a:rPr>
                        <a:t>NGN-SIM モード</a:t>
                      </a:r>
                    </a:p>
                  </a:txBody>
                  <a:tcPr>
                    <a:solidFill>
                      <a:srgbClr val="1F3355"/>
                    </a:solidFill>
                  </a:tcPr>
                </a:tc>
                <a:tc>
                  <a:txBody>
                    <a:bodyPr/>
                    <a:lstStyle/>
                    <a:p>
                      <a:pPr algn="l"/>
                      <a:r>
                        <a:rPr sz="1300" b="1">
                          <a:solidFill>
                            <a:srgbClr val="FFFFFF"/>
                          </a:solidFill>
                          <a:latin typeface="Meiryo UI"/>
                        </a:rPr>
                        <a:t>ユーザプレフィックス</a:t>
                      </a:r>
                    </a:p>
                  </a:txBody>
                  <a:tcPr>
                    <a:solidFill>
                      <a:srgbClr val="1F3355"/>
                    </a:solidFill>
                  </a:tcPr>
                </a:tc>
                <a:tc>
                  <a:txBody>
                    <a:bodyPr/>
                    <a:lstStyle/>
                    <a:p>
                      <a:pPr algn="l"/>
                      <a:r>
                        <a:rPr sz="1300" b="1">
                          <a:solidFill>
                            <a:srgbClr val="FFFFFF"/>
                          </a:solidFill>
                          <a:latin typeface="Meiryo UI"/>
                        </a:rPr>
                        <a:t>共有 IPv4 / PSID</a:t>
                      </a:r>
                    </a:p>
                  </a:txBody>
                  <a:tcPr>
                    <a:solidFill>
                      <a:srgbClr val="1F3355"/>
                    </a:solidFill>
                  </a:tcPr>
                </a:tc>
                <a:tc>
                  <a:txBody>
                    <a:bodyPr/>
                    <a:lstStyle/>
                    <a:p>
                      <a:pPr algn="l"/>
                      <a:r>
                        <a:rPr sz="1300" b="1">
                          <a:solidFill>
                            <a:srgbClr val="FFFFFF"/>
                          </a:solidFill>
                          <a:latin typeface="Meiryo UI"/>
                        </a:rPr>
                        <a:t>VNE 側 (BR) の実行方法</a:t>
                      </a:r>
                    </a:p>
                  </a:txBody>
                  <a:tcPr>
                    <a:solidFill>
                      <a:srgbClr val="1F3355"/>
                    </a:solidFill>
                  </a:tcPr>
                </a:tc>
              </a:tr>
              <a:tr h="310896">
                <a:tc>
                  <a:txBody>
                    <a:bodyPr/>
                    <a:lstStyle/>
                    <a:p>
                      <a:pPr algn="l"/>
                      <a:r>
                        <a:rPr sz="1200" b="0">
                          <a:solidFill>
                            <a:srgbClr val="1F3355"/>
                          </a:solidFill>
                          <a:latin typeface="Meiryo UI"/>
                        </a:rPr>
                        <a:t>pd (ひかり電話あり)</a:t>
                      </a:r>
                    </a:p>
                  </a:txBody>
                  <a:tcPr>
                    <a:solidFill>
                      <a:srgbClr val="FFFFFF"/>
                    </a:solidFill>
                  </a:tcPr>
                </a:tc>
                <a:tc>
                  <a:txBody>
                    <a:bodyPr/>
                    <a:lstStyle/>
                    <a:p>
                      <a:pPr algn="l"/>
                      <a:r>
                        <a:rPr sz="1200" b="0">
                          <a:solidFill>
                            <a:srgbClr val="1F3355"/>
                          </a:solidFill>
                          <a:latin typeface="Meiryo UI"/>
                        </a:rPr>
                        <a:t>2001:db8:100a:500::/56</a:t>
                      </a:r>
                    </a:p>
                  </a:txBody>
                  <a:tcPr>
                    <a:solidFill>
                      <a:srgbClr val="FFFFFF"/>
                    </a:solidFill>
                  </a:tcPr>
                </a:tc>
                <a:tc>
                  <a:txBody>
                    <a:bodyPr/>
                    <a:lstStyle/>
                    <a:p>
                      <a:pPr algn="l"/>
                      <a:r>
                        <a:rPr sz="1200" b="0">
                          <a:solidFill>
                            <a:srgbClr val="1F3355"/>
                          </a:solidFill>
                          <a:latin typeface="Meiryo UI"/>
                        </a:rPr>
                        <a:t>198.51.100.10 / 5</a:t>
                      </a:r>
                    </a:p>
                  </a:txBody>
                  <a:tcPr>
                    <a:solidFill>
                      <a:srgbClr val="FFFFFF"/>
                    </a:solidFill>
                  </a:tcPr>
                </a:tc>
                <a:tc>
                  <a:txBody>
                    <a:bodyPr/>
                    <a:lstStyle/>
                    <a:p>
                      <a:pPr algn="l"/>
                      <a:r>
                        <a:rPr sz="1200" b="0">
                          <a:solidFill>
                            <a:srgbClr val="1F3355"/>
                          </a:solidFill>
                          <a:latin typeface="Meiryo UI"/>
                        </a:rPr>
                        <a:t>sudo ./setup-map-br.sh</a:t>
                      </a:r>
                    </a:p>
                  </a:txBody>
                  <a:tcPr>
                    <a:solidFill>
                      <a:srgbClr val="FFFFFF"/>
                    </a:solidFill>
                  </a:tcPr>
                </a:tc>
              </a:tr>
              <a:tr h="310896">
                <a:tc>
                  <a:txBody>
                    <a:bodyPr/>
                    <a:lstStyle/>
                    <a:p>
                      <a:pPr algn="l"/>
                      <a:r>
                        <a:rPr sz="1200" b="0">
                          <a:solidFill>
                            <a:srgbClr val="1F3355"/>
                          </a:solidFill>
                          <a:latin typeface="Meiryo UI"/>
                        </a:rPr>
                        <a:t>ra (ひかり電話なし)</a:t>
                      </a:r>
                    </a:p>
                  </a:txBody>
                  <a:tcPr>
                    <a:solidFill>
                      <a:srgbClr val="F2F6FA"/>
                    </a:solidFill>
                  </a:tcPr>
                </a:tc>
                <a:tc>
                  <a:txBody>
                    <a:bodyPr/>
                    <a:lstStyle/>
                    <a:p>
                      <a:pPr algn="l"/>
                      <a:r>
                        <a:rPr sz="1200" b="0">
                          <a:solidFill>
                            <a:srgbClr val="1F3355"/>
                          </a:solidFill>
                          <a:latin typeface="Meiryo UI"/>
                        </a:rPr>
                        <a:t>2001:db8:1014:300::/64</a:t>
                      </a:r>
                    </a:p>
                  </a:txBody>
                  <a:tcPr>
                    <a:solidFill>
                      <a:srgbClr val="F2F6FA"/>
                    </a:solidFill>
                  </a:tcPr>
                </a:tc>
                <a:tc>
                  <a:txBody>
                    <a:bodyPr/>
                    <a:lstStyle/>
                    <a:p>
                      <a:pPr algn="l"/>
                      <a:r>
                        <a:rPr sz="1200" b="0">
                          <a:solidFill>
                            <a:srgbClr val="1F3355"/>
                          </a:solidFill>
                          <a:latin typeface="Meiryo UI"/>
                        </a:rPr>
                        <a:t>198.51.100.20 / 3</a:t>
                      </a:r>
                    </a:p>
                  </a:txBody>
                  <a:tcPr>
                    <a:solidFill>
                      <a:srgbClr val="F2F6FA"/>
                    </a:solidFill>
                  </a:tcPr>
                </a:tc>
                <a:tc>
                  <a:txBody>
                    <a:bodyPr/>
                    <a:lstStyle/>
                    <a:p>
                      <a:pPr algn="l"/>
                      <a:r>
                        <a:rPr sz="1200" b="1">
                          <a:solidFill>
                            <a:srgbClr val="C0392B"/>
                          </a:solidFill>
                          <a:latin typeface="Meiryo UI"/>
                        </a:rPr>
                        <a:t>環境変数を付けて再実行 (下記)</a:t>
                      </a:r>
                    </a:p>
                  </a:txBody>
                  <a:tcPr>
                    <a:solidFill>
                      <a:srgbClr val="F2F6FA"/>
                    </a:solidFill>
                  </a:tcPr>
                </a:tc>
              </a:tr>
            </a:tbl>
          </a:graphicData>
        </a:graphic>
      </p:graphicFrame>
      <p:sp>
        <p:nvSpPr>
          <p:cNvPr id="4" name="TextBox 3"/>
          <p:cNvSpPr txBox="1"/>
          <p:nvPr/>
        </p:nvSpPr>
        <p:spPr>
          <a:xfrm>
            <a:off x="502920" y="2331720"/>
            <a:ext cx="11155680" cy="548640"/>
          </a:xfrm>
          <a:prstGeom prst="rect">
            <a:avLst/>
          </a:prstGeom>
          <a:noFill/>
        </p:spPr>
        <p:txBody>
          <a:bodyPr wrap="square">
            <a:spAutoFit/>
          </a:bodyPr>
          <a:lstStyle/>
          <a:p>
            <a:pPr algn="l"/>
            <a:r>
              <a:rPr sz="1200" b="0">
                <a:solidFill>
                  <a:srgbClr val="007ACC"/>
                </a:solidFill>
                <a:latin typeface="Meiryo UI"/>
              </a:rPr>
              <a:t>ra に切り替えたら → sudo CE_MAP_ADDR=2001:db8:1014:300:0:c633:6414:3 CE_SHARED_V4=198.51.100.20 ./setup-map-br.sh
※ NGN 側だけ切り替えて BR を再実行しないと IPv4 が全断する (build.md §3)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2-6. 演習 2-A: 4 兄弟をキャプチャする  (実測済み)</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手順 (root 必須。sudo を付ける)</a:t>
            </a:r>
          </a:p>
          <a:p>
            <a:pPr lvl="1" algn="l">
              <a:spcAft>
                <a:spcPts val="600"/>
              </a:spcAft>
            </a:pPr>
            <a:r>
              <a:rPr sz="1700" b="0">
                <a:solidFill>
                  <a:srgbClr val="0B6040"/>
                </a:solidFill>
                <a:latin typeface="Consolas"/>
              </a:rPr>
              <a:t>sudo ./lab/ipoe/ngn/setup-ngn.sh ra      # ひかり電話なし相当</a:t>
            </a:r>
          </a:p>
          <a:p>
            <a:pPr lvl="1" algn="l">
              <a:spcAft>
                <a:spcPts val="600"/>
              </a:spcAft>
            </a:pPr>
            <a:r>
              <a:rPr sz="1700" b="1">
                <a:solidFill>
                  <a:srgbClr val="C0392B"/>
                </a:solidFill>
                <a:latin typeface="Meiryo UI"/>
              </a:rPr>
              <a:t>↑ 切り替えたら VNE でも必ず setup-map-br.sh を再実行 (前ページの表)</a:t>
            </a:r>
          </a:p>
          <a:p>
            <a:pPr lvl="1" algn="l">
              <a:spcAft>
                <a:spcPts val="600"/>
              </a:spcAft>
            </a:pPr>
            <a:r>
              <a:rPr sz="1700" b="0">
                <a:solidFill>
                  <a:srgbClr val="0B6040"/>
                </a:solidFill>
                <a:latin typeface="Consolas"/>
              </a:rPr>
              <a:t>sudo tcpdump -nn -i &lt;ACCESS_IF&gt; 'icmp6 or udp port 546 or udp port 547'</a:t>
            </a:r>
          </a:p>
          <a:p>
            <a:pPr algn="l">
              <a:spcAft>
                <a:spcPts val="1000"/>
              </a:spcAft>
            </a:pPr>
            <a:r>
              <a:rPr sz="2000" b="1">
                <a:solidFill>
                  <a:srgbClr val="1F3355"/>
                </a:solidFill>
                <a:latin typeface="Meiryo UI"/>
              </a:rPr>
              <a:t>見てほしいこと</a:t>
            </a:r>
          </a:p>
          <a:p>
            <a:pPr lvl="1" algn="l">
              <a:spcAft>
                <a:spcPts val="600"/>
              </a:spcAft>
            </a:pPr>
            <a:r>
              <a:rPr sz="1700" b="0">
                <a:solidFill>
                  <a:srgbClr val="555555"/>
                </a:solidFill>
                <a:latin typeface="Meiryo UI"/>
              </a:rPr>
              <a:t>RS → RA が飛ぶか。PD なら Solicit → Advertise → Request → Reply の 4 メッセージ (2 往復)</a:t>
            </a:r>
          </a:p>
          <a:p>
            <a:pPr lvl="1" algn="l">
              <a:spcAft>
                <a:spcPts val="600"/>
              </a:spcAft>
            </a:pPr>
            <a:r>
              <a:rPr sz="1700" b="0">
                <a:solidFill>
                  <a:srgbClr val="0B6040"/>
                </a:solidFill>
                <a:latin typeface="Consolas"/>
              </a:rPr>
              <a:t>ip -6 route と CPE の LAN 側アドレスを比べる</a:t>
            </a:r>
          </a:p>
          <a:p>
            <a:pPr lvl="1" algn="l">
              <a:spcAft>
                <a:spcPts val="600"/>
              </a:spcAft>
            </a:pPr>
            <a:r>
              <a:rPr sz="1700" b="0">
                <a:solidFill>
                  <a:srgbClr val="555555"/>
                </a:solidFill>
                <a:latin typeface="Meiryo UI"/>
              </a:rPr>
              <a:t>RA 方式だと LAN に配れる /64 が無い ← だから PD が必要 (ラボは odhcpd relay で回避)</a:t>
            </a:r>
          </a:p>
          <a:p>
            <a:pPr algn="l">
              <a:spcAft>
                <a:spcPts val="1000"/>
              </a:spcAft>
            </a:pPr>
            <a:r>
              <a:rPr sz="2000" b="1">
                <a:solidFill>
                  <a:srgbClr val="C0392B"/>
                </a:solidFill>
                <a:latin typeface="Meiryo UI"/>
              </a:rPr>
              <a:t>先に済ませておくこと(当日ハマる)</a:t>
            </a:r>
          </a:p>
          <a:p>
            <a:pPr lvl="1" algn="l">
              <a:spcAft>
                <a:spcPts val="600"/>
              </a:spcAft>
            </a:pPr>
            <a:r>
              <a:rPr sz="1700" b="0">
                <a:solidFill>
                  <a:srgbClr val="555555"/>
                </a:solidFill>
                <a:latin typeface="Meiryo UI"/>
              </a:rPr>
              <a:t>インターフェース名を確定しておく (detect-ifs.sh が MAC から解決する)</a:t>
            </a:r>
          </a:p>
          <a:p>
            <a:pPr lvl="1" algn="l">
              <a:spcAft>
                <a:spcPts val="600"/>
              </a:spcAft>
            </a:pPr>
            <a:r>
              <a:rPr sz="1700" b="0">
                <a:solidFill>
                  <a:srgbClr val="555555"/>
                </a:solidFill>
                <a:latin typeface="Meiryo UI"/>
              </a:rPr>
              <a:t>OpenWrt の wan は論理名。tcpdump には実体名 (eth1 等) が必要</a:t>
            </a:r>
          </a:p>
          <a:p>
            <a:pPr lvl="1" algn="l">
              <a:spcAft>
                <a:spcPts val="600"/>
              </a:spcAft>
            </a:pPr>
            <a:r>
              <a:rPr sz="1700" b="0">
                <a:solidFill>
                  <a:srgbClr val="555555"/>
                </a:solidFill>
                <a:latin typeface="Meiryo UI"/>
              </a:rPr>
              <a:t>OpenWrt に tcpdump は既定で入っていない。ラボ内にインターネットは無い</a:t>
            </a:r>
          </a:p>
          <a:p>
            <a:pPr lvl="1" algn="l">
              <a:spcAft>
                <a:spcPts val="600"/>
              </a:spcAft>
            </a:pPr>
            <a:r>
              <a:rPr sz="1700" b="0">
                <a:solidFill>
                  <a:srgbClr val="555555"/>
                </a:solidFill>
                <a:latin typeface="Meiryo UI"/>
              </a:rPr>
              <a:t>setup-ngn.sh は毎回 apt-get する。管理経路が出られないと演習中に落ちる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2-7. 演習 2-B: DUID の罠</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900"/>
              </a:spcAft>
            </a:pPr>
            <a:r>
              <a:rPr sz="1900" b="1">
                <a:solidFill>
                  <a:srgbClr val="C0392B"/>
                </a:solidFill>
                <a:latin typeface="Meiryo UI"/>
              </a:rPr>
              <a:t>OpenWrt は DUID-LL を送るので DROP を素通りする (サイクル 5 実測)</a:t>
            </a:r>
          </a:p>
          <a:p>
            <a:pPr lvl="1" algn="l">
              <a:spcAft>
                <a:spcPts val="500"/>
              </a:spcAft>
            </a:pPr>
            <a:r>
              <a:rPr sz="1600" b="0">
                <a:solidFill>
                  <a:srgbClr val="555555"/>
                </a:solidFill>
                <a:latin typeface="Meiryo UI"/>
              </a:rPr>
              <a:t>README.md / test-matrix.md §3 Phase 1 手順 5</a:t>
            </a:r>
          </a:p>
          <a:p>
            <a:pPr algn="l">
              <a:spcAft>
                <a:spcPts val="900"/>
              </a:spcAft>
            </a:pPr>
            <a:r>
              <a:rPr sz="1900" b="1">
                <a:solidFill>
                  <a:srgbClr val="1F3355"/>
                </a:solidFill>
                <a:latin typeface="Meiryo UI"/>
              </a:rPr>
              <a:t>見せる手順</a:t>
            </a:r>
          </a:p>
          <a:p>
            <a:pPr lvl="1" algn="l">
              <a:spcAft>
                <a:spcPts val="500"/>
              </a:spcAft>
            </a:pPr>
            <a:r>
              <a:rPr sz="1600" b="0">
                <a:solidFill>
                  <a:srgbClr val="555555"/>
                </a:solidFill>
                <a:latin typeface="Meiryo UI"/>
              </a:rPr>
              <a:t>1. kea-dhcp6.conf の client-classes (DROP クラス) のコメントを外す</a:t>
            </a:r>
          </a:p>
          <a:p>
            <a:pPr lvl="1" algn="l">
              <a:spcAft>
                <a:spcPts val="500"/>
              </a:spcAft>
            </a:pPr>
            <a:r>
              <a:rPr sz="1600" b="0">
                <a:solidFill>
                  <a:srgbClr val="555555"/>
                </a:solidFill>
                <a:latin typeface="Meiryo UI"/>
              </a:rPr>
              <a:t>2. Kea を再起動 → CPE から Solicit</a:t>
            </a:r>
          </a:p>
          <a:p>
            <a:pPr lvl="1" algn="l">
              <a:spcAft>
                <a:spcPts val="500"/>
              </a:spcAft>
            </a:pPr>
            <a:r>
              <a:rPr sz="1600" b="0">
                <a:solidFill>
                  <a:srgbClr val="555555"/>
                </a:solidFill>
                <a:latin typeface="Meiryo UI"/>
              </a:rPr>
              <a:t>3. エラーではなく完全な無応答になることを見せる</a:t>
            </a:r>
          </a:p>
          <a:p>
            <a:pPr lvl="1" algn="l">
              <a:spcAft>
                <a:spcPts val="500"/>
              </a:spcAft>
            </a:pPr>
            <a:r>
              <a:rPr sz="1600" b="0">
                <a:solidFill>
                  <a:srgbClr val="555555"/>
                </a:solidFill>
                <a:latin typeface="Meiryo UI"/>
              </a:rPr>
              <a:t>4. 終わったら戻す</a:t>
            </a:r>
          </a:p>
          <a:p>
            <a:pPr algn="l">
              <a:spcAft>
                <a:spcPts val="900"/>
              </a:spcAft>
            </a:pPr>
            <a:r>
              <a:rPr sz="1900" b="1">
                <a:solidFill>
                  <a:srgbClr val="1F3355"/>
                </a:solidFill>
                <a:latin typeface="Meiryo UI"/>
              </a:rPr>
              <a:t>用語</a:t>
            </a:r>
          </a:p>
          <a:p>
            <a:pPr lvl="1" algn="l">
              <a:spcAft>
                <a:spcPts val="500"/>
              </a:spcAft>
            </a:pPr>
            <a:r>
              <a:rPr sz="1600" b="0">
                <a:solidFill>
                  <a:srgbClr val="555555"/>
                </a:solidFill>
                <a:latin typeface="Meiryo UI"/>
              </a:rPr>
              <a:t>DUID-LL  = MAC アドレスベース (type 0003)</a:t>
            </a:r>
          </a:p>
          <a:p>
            <a:pPr lvl="1" algn="l">
              <a:spcAft>
                <a:spcPts val="500"/>
              </a:spcAft>
            </a:pPr>
            <a:r>
              <a:rPr sz="1600" b="0">
                <a:solidFill>
                  <a:srgbClr val="555555"/>
                </a:solidFill>
                <a:latin typeface="Meiryo UI"/>
              </a:rPr>
              <a:t>DUID-LLT = MAC + 生成時刻</a:t>
            </a:r>
          </a:p>
          <a:p>
            <a:pPr algn="l">
              <a:spcAft>
                <a:spcPts val="900"/>
              </a:spcAft>
            </a:pPr>
            <a:r>
              <a:rPr sz="1900" b="1">
                <a:solidFill>
                  <a:srgbClr val="C0392B"/>
                </a:solidFill>
                <a:latin typeface="Meiryo UI"/>
              </a:rPr>
              <a:t>NGN は LL しか受けないという報告が多い。ただし公開仕様では確認できていない</a:t>
            </a:r>
          </a:p>
          <a:p>
            <a:pPr lvl="1" algn="l">
              <a:spcAft>
                <a:spcPts val="500"/>
              </a:spcAft>
            </a:pPr>
            <a:r>
              <a:rPr sz="1600" b="0">
                <a:solidFill>
                  <a:srgbClr val="555555"/>
                </a:solidFill>
                <a:latin typeface="Meiryo UI"/>
              </a:rPr>
              <a:t>断定せず「そういう報告が多いので DUID-LL で試す」と伝えるのが安全</a:t>
            </a:r>
          </a:p>
          <a:p>
            <a:pPr algn="l">
              <a:spcAft>
                <a:spcPts val="900"/>
              </a:spcAft>
            </a:pPr>
            <a:r>
              <a:rPr sz="1900" b="0">
                <a:solidFill>
                  <a:srgbClr val="1F3355"/>
                </a:solidFill>
                <a:latin typeface="Meiryo UI"/>
              </a:rPr>
              <a:t>教科書: 8.4 DUID (p.191)。知らないと「なぜか PD だけ来ない」で数時間溶ける</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2377440"/>
          </a:xfrm>
          <a:prstGeom prst="rect">
            <a:avLst/>
          </a:prstGeom>
          <a:noFill/>
        </p:spPr>
        <p:txBody>
          <a:bodyPr wrap="square">
            <a:spAutoFit/>
          </a:bodyPr>
          <a:lstStyle/>
          <a:p>
            <a:pPr algn="l"/>
            <a:r>
              <a:rPr sz="2000" b="1">
                <a:solidFill>
                  <a:srgbClr val="7FB8E0"/>
                </a:solidFill>
                <a:latin typeface="Meiryo UI"/>
              </a:rPr>
              <a:t>第3回</a:t>
            </a:r>
          </a:p>
          <a:p>
            <a:pPr algn="l"/>
            <a:r>
              <a:rPr sz="3600" b="1">
                <a:solidFill>
                  <a:srgbClr val="FFFFFF"/>
                </a:solidFill>
                <a:latin typeface="Meiryo UI"/>
              </a:rPr>
              <a:t>IPv4 を IPv6 の上で運ぶ</a:t>
            </a:r>
          </a:p>
          <a:p>
            <a:pPr algn="l">
              <a:spcBef>
                <a:spcPts val="1600"/>
              </a:spcBef>
            </a:pPr>
            <a:r>
              <a:rPr sz="1600" b="0">
                <a:solidFill>
                  <a:srgbClr val="D5E5F2"/>
                </a:solidFill>
                <a:latin typeface="Meiryo UI"/>
              </a:rPr>
              <a:t>ゴール: 「ポート開放したい」に、方式を聞いて可否を即答できる</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3-0. この回は分量オーバー。絞る</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この 3 つは資料を配るだけにします (今日は扱いません)</a:t>
            </a:r>
          </a:p>
          <a:p>
            <a:pPr lvl="1" algn="l">
              <a:spcAft>
                <a:spcPts val="600"/>
              </a:spcAft>
            </a:pPr>
            <a:r>
              <a:rPr sz="1700" b="0">
                <a:solidFill>
                  <a:srgbClr val="555555"/>
                </a:solidFill>
                <a:latin typeface="Meiryo UI"/>
              </a:rPr>
              <a:t>共存技術の分類 (トンネル / 変換 / プロキシ) … 21.1 (p.381)</a:t>
            </a:r>
          </a:p>
          <a:p>
            <a:pPr lvl="1" algn="l">
              <a:spcAft>
                <a:spcPts val="600"/>
              </a:spcAft>
            </a:pPr>
            <a:r>
              <a:rPr sz="1700" b="0">
                <a:solidFill>
                  <a:srgbClr val="555555"/>
                </a:solidFill>
                <a:latin typeface="Meiryo UI"/>
              </a:rPr>
              <a:t>6to4 / Teredo / ISATAP / 6rd / 4rd の系譜 … 第22章 (p.385)</a:t>
            </a:r>
          </a:p>
          <a:p>
            <a:pPr lvl="1" algn="l">
              <a:spcAft>
                <a:spcPts val="600"/>
              </a:spcAft>
            </a:pPr>
            <a:r>
              <a:rPr sz="1700" b="0">
                <a:solidFill>
                  <a:srgbClr val="555555"/>
                </a:solidFill>
                <a:latin typeface="Meiryo UI"/>
              </a:rPr>
              <a:t>SIIT / NAT64+DNS64 / 464XLAT … 第23章 (p.407)。モバイル系で固定回線では少ない</a:t>
            </a:r>
          </a:p>
          <a:p>
            <a:pPr algn="l">
              <a:spcAft>
                <a:spcPts val="1000"/>
              </a:spcAft>
            </a:pPr>
            <a:r>
              <a:rPr sz="2000" b="1">
                <a:solidFill>
                  <a:srgbClr val="1F3355"/>
                </a:solidFill>
                <a:latin typeface="Meiryo UI"/>
              </a:rPr>
              <a:t>この 90 分でやること</a:t>
            </a:r>
          </a:p>
          <a:p>
            <a:pPr lvl="1" algn="l">
              <a:spcAft>
                <a:spcPts val="600"/>
              </a:spcAft>
            </a:pPr>
            <a:r>
              <a:rPr sz="1700" b="0">
                <a:solidFill>
                  <a:srgbClr val="555555"/>
                </a:solidFill>
                <a:latin typeface="Meiryo UI"/>
              </a:rPr>
              <a:t>なぜ IPv6 プレフィックスの中に IPv4 が埋まっているのか (第2回からの橋)</a:t>
            </a:r>
          </a:p>
          <a:p>
            <a:pPr lvl="1" algn="l">
              <a:spcAft>
                <a:spcPts val="600"/>
              </a:spcAft>
            </a:pPr>
            <a:r>
              <a:rPr sz="1700" b="0">
                <a:solidFill>
                  <a:srgbClr val="555555"/>
                </a:solidFill>
                <a:latin typeface="Meiryo UI"/>
              </a:rPr>
              <a:t>MAP-E: EA bits と PSID を手で計算する</a:t>
            </a:r>
          </a:p>
          <a:p>
            <a:pPr lvl="1" algn="l">
              <a:spcAft>
                <a:spcPts val="600"/>
              </a:spcAft>
            </a:pPr>
            <a:r>
              <a:rPr sz="1700" b="0">
                <a:solidFill>
                  <a:srgbClr val="555555"/>
                </a:solidFill>
                <a:latin typeface="Meiryo UI"/>
              </a:rPr>
              <a:t>DS-Lite: NAT を網側に置く。だからポート開放できない</a:t>
            </a:r>
          </a:p>
          <a:p>
            <a:pPr lvl="1" algn="l">
              <a:spcAft>
                <a:spcPts val="600"/>
              </a:spcAft>
            </a:pPr>
            <a:r>
              <a:rPr sz="1700" b="0">
                <a:solidFill>
                  <a:srgbClr val="555555"/>
                </a:solidFill>
                <a:latin typeface="Meiryo UI"/>
              </a:rPr>
              <a:t>MTU の引き算</a:t>
            </a:r>
          </a:p>
          <a:p>
            <a:pPr lvl="1" algn="l">
              <a:spcAft>
                <a:spcPts val="600"/>
              </a:spcAft>
            </a:pPr>
            <a:r>
              <a:rPr sz="1700" b="0">
                <a:solidFill>
                  <a:srgbClr val="555555"/>
                </a:solidFill>
                <a:latin typeface="Meiryo UI"/>
              </a:rPr>
              <a:t>演習 3-A: ポートを数える / R3 / R4 / R5</a:t>
            </a:r>
          </a:p>
          <a:p>
            <a:pPr algn="l">
              <a:spcAft>
                <a:spcPts val="1000"/>
              </a:spcAft>
            </a:pPr>
            <a:r>
              <a:rPr sz="2000" b="1">
                <a:solidFill>
                  <a:srgbClr val="1F3355"/>
                </a:solidFill>
                <a:latin typeface="Meiryo UI"/>
              </a:rPr>
              <a:t>教科書で読むのは 24 章だけでよい (p.421-)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3-1. サービス名と方式名を混同しない (最重要の実務知識)</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C0392B"/>
                </a:solidFill>
                <a:latin typeface="Meiryo UI"/>
              </a:rPr>
              <a:t>これは全部サービス名 (商品名)。教科書には出てこない</a:t>
            </a:r>
          </a:p>
          <a:p>
            <a:pPr lvl="1" algn="l">
              <a:spcAft>
                <a:spcPts val="600"/>
              </a:spcAft>
            </a:pPr>
            <a:r>
              <a:rPr sz="1700" b="0">
                <a:solidFill>
                  <a:srgbClr val="555555"/>
                </a:solidFill>
                <a:latin typeface="Meiryo UI"/>
              </a:rPr>
              <a:t>v6 プラス / transix / クロスパス / IPv6 オプション / v6 コネクト …</a:t>
            </a:r>
          </a:p>
          <a:p>
            <a:pPr algn="l">
              <a:spcAft>
                <a:spcPts val="1000"/>
              </a:spcAft>
            </a:pPr>
            <a:r>
              <a:rPr sz="2000" b="1">
                <a:solidFill>
                  <a:srgbClr val="1F3355"/>
                </a:solidFill>
                <a:latin typeface="Meiryo UI"/>
              </a:rPr>
              <a:t>方式名はこの 2 つ (固定回線の日本の IPoE では実質これだけ)</a:t>
            </a:r>
          </a:p>
          <a:p>
            <a:pPr lvl="1" algn="l">
              <a:spcAft>
                <a:spcPts val="600"/>
              </a:spcAft>
            </a:pPr>
            <a:r>
              <a:rPr sz="1700" b="0">
                <a:solidFill>
                  <a:srgbClr val="555555"/>
                </a:solidFill>
                <a:latin typeface="Meiryo UI"/>
              </a:rPr>
              <a:t>MAP-E … CE (お客様のルータ) 側で NAT する。ポートが制限される</a:t>
            </a:r>
          </a:p>
          <a:p>
            <a:pPr lvl="1" algn="l">
              <a:spcAft>
                <a:spcPts val="600"/>
              </a:spcAft>
            </a:pPr>
            <a:r>
              <a:rPr sz="1700" b="0">
                <a:solidFill>
                  <a:srgbClr val="555555"/>
                </a:solidFill>
                <a:latin typeface="Meiryo UI"/>
              </a:rPr>
              <a:t>DS-Lite … 網側 (AFTR) で NAT する。利用者にポート開放の手段がない</a:t>
            </a:r>
          </a:p>
          <a:p>
            <a:pPr algn="l">
              <a:spcAft>
                <a:spcPts val="1000"/>
              </a:spcAft>
            </a:pPr>
            <a:r>
              <a:rPr sz="2000" b="1">
                <a:solidFill>
                  <a:srgbClr val="1F3355"/>
                </a:solidFill>
                <a:latin typeface="Meiryo UI"/>
              </a:rPr>
              <a:t>案件で最初に確認すること</a:t>
            </a:r>
          </a:p>
          <a:p>
            <a:pPr lvl="1" algn="l">
              <a:spcAft>
                <a:spcPts val="600"/>
              </a:spcAft>
            </a:pPr>
            <a:r>
              <a:rPr sz="1700" b="0">
                <a:solidFill>
                  <a:srgbClr val="555555"/>
                </a:solidFill>
                <a:latin typeface="Meiryo UI"/>
              </a:rPr>
              <a:t>「その商品の中身は MAP-E ですか DS-Lite ですか」</a:t>
            </a:r>
          </a:p>
          <a:p>
            <a:pPr lvl="1" algn="l">
              <a:spcAft>
                <a:spcPts val="600"/>
              </a:spcAft>
            </a:pPr>
            <a:r>
              <a:rPr sz="1700" b="1">
                <a:solidFill>
                  <a:srgbClr val="C0392B"/>
                </a:solidFill>
                <a:latin typeface="Meiryo UI"/>
              </a:rPr>
              <a:t>サービス名だけで設定を始めると、CPE のテンプレを間違える</a:t>
            </a:r>
          </a:p>
          <a:p>
            <a:pPr algn="l">
              <a:spcAft>
                <a:spcPts val="1000"/>
              </a:spcAft>
            </a:pPr>
            <a:r>
              <a:rPr sz="2000" b="0">
                <a:solidFill>
                  <a:srgbClr val="1F3355"/>
                </a:solidFill>
                <a:latin typeface="Meiryo UI"/>
              </a:rPr>
              <a:t>実サービスとの対応表: 第2部の早見表 / study-guide.md §1.35</a:t>
            </a:r>
          </a:p>
          <a:p>
            <a:pPr algn="l">
              <a:spcAft>
                <a:spcPts val="1000"/>
              </a:spcAft>
            </a:pPr>
            <a:r>
              <a:rPr sz="2000" b="1">
                <a:solidFill>
                  <a:srgbClr val="C0392B"/>
                </a:solidFill>
                <a:latin typeface="Meiryo UI"/>
              </a:rPr>
              <a:t>※ ソフトバンク光は例外です</a:t>
            </a:r>
          </a:p>
          <a:p>
            <a:pPr lvl="1" algn="l">
              <a:spcAft>
                <a:spcPts val="600"/>
              </a:spcAft>
            </a:pPr>
            <a:r>
              <a:rPr sz="1700" b="0">
                <a:solidFill>
                  <a:srgbClr val="555555"/>
                </a:solidFill>
                <a:latin typeface="Meiryo UI"/>
              </a:rPr>
              <a:t>BBIX の独自方式 (IPv6 高速ハイブリッド。4rd/SAM 系) で、光BBユニット前提</a:t>
            </a:r>
          </a:p>
          <a:p>
            <a:pPr lvl="1" algn="l">
              <a:spcAft>
                <a:spcPts val="600"/>
              </a:spcAft>
            </a:pPr>
            <a:r>
              <a:rPr sz="1700" b="0">
                <a:solidFill>
                  <a:srgbClr val="555555"/>
                </a:solidFill>
                <a:latin typeface="Meiryo UI"/>
              </a:rPr>
              <a:t>MAP-E でも DS-Lite でもないので、本資料の設計対象外として扱ってください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3-2. MAP-E のポート数はこう決まる(計算する)</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ラボのルール (build.md §3)</a:t>
            </a:r>
          </a:p>
          <a:p>
            <a:pPr lvl="1" algn="l">
              <a:spcAft>
                <a:spcPts val="600"/>
              </a:spcAft>
            </a:pPr>
            <a:r>
              <a:rPr sz="1700" b="0">
                <a:solidFill>
                  <a:srgbClr val="0B6040"/>
                </a:solidFill>
                <a:latin typeface="Consolas"/>
              </a:rPr>
              <a:t>rule-ipv6-prefix 2001:db8:1000::/40 / rule-ipv4-prefix 198.51.100.0/24</a:t>
            </a:r>
          </a:p>
          <a:p>
            <a:pPr lvl="1" algn="l">
              <a:spcAft>
                <a:spcPts val="600"/>
              </a:spcAft>
            </a:pPr>
            <a:r>
              <a:rPr sz="1700" b="0">
                <a:solidFill>
                  <a:srgbClr val="0B6040"/>
                </a:solidFill>
                <a:latin typeface="Consolas"/>
              </a:rPr>
              <a:t>ea-len 16 / psid-offset 4</a:t>
            </a:r>
          </a:p>
          <a:p>
            <a:pPr algn="l">
              <a:spcAft>
                <a:spcPts val="1000"/>
              </a:spcAft>
            </a:pPr>
            <a:r>
              <a:rPr sz="2000" b="1">
                <a:solidFill>
                  <a:srgbClr val="1F3355"/>
                </a:solidFill>
                <a:latin typeface="Meiryo UI"/>
              </a:rPr>
              <a:t>式</a:t>
            </a:r>
          </a:p>
          <a:p>
            <a:pPr lvl="1" algn="l">
              <a:spcAft>
                <a:spcPts val="600"/>
              </a:spcAft>
            </a:pPr>
            <a:r>
              <a:rPr sz="1700" b="0">
                <a:solidFill>
                  <a:srgbClr val="0B6040"/>
                </a:solidFill>
                <a:latin typeface="Consolas"/>
              </a:rPr>
              <a:t>psid-len = ea-len − (32 − v4プレフィックス長) = 16 − (32 − 24) = 8</a:t>
            </a:r>
          </a:p>
          <a:p>
            <a:pPr lvl="1" algn="l">
              <a:spcAft>
                <a:spcPts val="600"/>
              </a:spcAft>
            </a:pPr>
            <a:r>
              <a:rPr sz="1700" b="0">
                <a:solidFill>
                  <a:srgbClr val="0B6040"/>
                </a:solidFill>
                <a:latin typeface="Consolas"/>
              </a:rPr>
              <a:t>1ブロックのポート数 = 2^(16 − offset − psid-len) = 2^4 = 16</a:t>
            </a:r>
          </a:p>
          <a:p>
            <a:pPr lvl="1" algn="l">
              <a:spcAft>
                <a:spcPts val="600"/>
              </a:spcAft>
            </a:pPr>
            <a:r>
              <a:rPr sz="1700" b="0">
                <a:solidFill>
                  <a:srgbClr val="0B6040"/>
                </a:solidFill>
                <a:latin typeface="Consolas"/>
              </a:rPr>
              <a:t>ブロック数 = 2^offset − 1 = 15   ← ブロック 0 (ポート 0〜4095) は使わない</a:t>
            </a:r>
          </a:p>
          <a:p>
            <a:pPr lvl="1" algn="l">
              <a:spcAft>
                <a:spcPts val="600"/>
              </a:spcAft>
            </a:pPr>
            <a:r>
              <a:rPr sz="1700" b="0">
                <a:solidFill>
                  <a:srgbClr val="0B6040"/>
                </a:solidFill>
                <a:latin typeface="Consolas"/>
              </a:rPr>
              <a:t>使えるポート数 = 16 × 15 = 240</a:t>
            </a:r>
          </a:p>
          <a:p>
            <a:pPr algn="l">
              <a:spcAft>
                <a:spcPts val="1000"/>
              </a:spcAft>
            </a:pPr>
            <a:r>
              <a:rPr sz="2000" b="1">
                <a:solidFill>
                  <a:srgbClr val="1F3355"/>
                </a:solidFill>
                <a:latin typeface="Meiryo UI"/>
              </a:rPr>
              <a:t>実サービスの実績値 (research-notes.md §2)</a:t>
            </a:r>
          </a:p>
          <a:p>
            <a:pPr lvl="1" algn="l">
              <a:spcAft>
                <a:spcPts val="600"/>
              </a:spcAft>
            </a:pPr>
            <a:r>
              <a:rPr sz="1700" b="0">
                <a:solidFill>
                  <a:srgbClr val="555555"/>
                </a:solidFill>
                <a:latin typeface="Meiryo UI"/>
              </a:rPr>
              <a:t>v6プラス (JPIX) = 240 ポート / OCN バーチャルコネクト (NTT ドコモビジネス) = 1008 ポート</a:t>
            </a:r>
          </a:p>
          <a:p>
            <a:pPr algn="l">
              <a:spcAft>
                <a:spcPts val="1000"/>
              </a:spcAft>
            </a:pPr>
            <a:r>
              <a:rPr sz="2000" b="1">
                <a:solidFill>
                  <a:srgbClr val="C0392B"/>
                </a:solidFill>
                <a:latin typeface="Meiryo UI"/>
              </a:rPr>
              <a:t>240 は少ない。ブラウザは 1 タブで数十本張る</a:t>
            </a:r>
          </a:p>
          <a:p>
            <a:pPr lvl="1" algn="l">
              <a:spcAft>
                <a:spcPts val="600"/>
              </a:spcAft>
            </a:pPr>
            <a:r>
              <a:rPr sz="1700" b="0">
                <a:solidFill>
                  <a:srgbClr val="555555"/>
                </a:solidFill>
                <a:latin typeface="Meiryo UI"/>
              </a:rPr>
              <a:t>台数の多い拠点や監視系があると足りない。同時セッション数を実測してから方式を決める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3-3. PD 方式 (/56) から実際に導出してみる</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0">
                <a:solidFill>
                  <a:srgbClr val="0B6040"/>
                </a:solidFill>
                <a:latin typeface="Consolas"/>
              </a:rPr>
              <a:t>与えられたプレフィックス: 2001:db8:100a:0500::/56</a:t>
            </a:r>
          </a:p>
          <a:p>
            <a:pPr algn="l">
              <a:spcAft>
                <a:spcPts val="1000"/>
              </a:spcAft>
            </a:pPr>
            <a:r>
              <a:rPr sz="2000" b="1">
                <a:solidFill>
                  <a:srgbClr val="1F3355"/>
                </a:solidFill>
                <a:latin typeface="Meiryo UI"/>
              </a:rPr>
              <a:t>① EA bits = プレフィックスの bit40〜55 を取り出す → 0x0a, 0x05</a:t>
            </a:r>
          </a:p>
          <a:p>
            <a:pPr algn="l">
              <a:spcAft>
                <a:spcPts val="1000"/>
              </a:spcAft>
            </a:pPr>
            <a:r>
              <a:rPr sz="2000" b="1">
                <a:solidFill>
                  <a:srgbClr val="1F3355"/>
                </a:solidFill>
                <a:latin typeface="Meiryo UI"/>
              </a:rPr>
              <a:t>② 共有 IPv4 = 198.51.100.0/24 の下位 8bit に 0x0a を入れる → 198.51.100.10</a:t>
            </a:r>
          </a:p>
          <a:p>
            <a:pPr algn="l">
              <a:spcAft>
                <a:spcPts val="1000"/>
              </a:spcAft>
            </a:pPr>
            <a:r>
              <a:rPr sz="2000" b="1">
                <a:solidFill>
                  <a:srgbClr val="1F3355"/>
                </a:solidFill>
                <a:latin typeface="Meiryo UI"/>
              </a:rPr>
              <a:t>③ PSID = 残り 8bit → 5</a:t>
            </a:r>
          </a:p>
          <a:p>
            <a:pPr algn="l">
              <a:spcAft>
                <a:spcPts val="1000"/>
              </a:spcAft>
            </a:pPr>
            <a:r>
              <a:rPr sz="2000" b="1">
                <a:solidFill>
                  <a:srgbClr val="1F3355"/>
                </a:solidFill>
                <a:latin typeface="Meiryo UI"/>
              </a:rPr>
              <a:t>④ ポート集合</a:t>
            </a:r>
          </a:p>
          <a:p>
            <a:pPr lvl="1" algn="l">
              <a:spcAft>
                <a:spcPts val="600"/>
              </a:spcAft>
            </a:pPr>
            <a:r>
              <a:rPr sz="1700" b="0">
                <a:solidFill>
                  <a:srgbClr val="0B6040"/>
                </a:solidFill>
                <a:latin typeface="Consolas"/>
              </a:rPr>
              <a:t>0x1050-0x105F (4176-4191)</a:t>
            </a:r>
          </a:p>
          <a:p>
            <a:pPr lvl="1" algn="l">
              <a:spcAft>
                <a:spcPts val="600"/>
              </a:spcAft>
            </a:pPr>
            <a:r>
              <a:rPr sz="1700" b="0">
                <a:solidFill>
                  <a:srgbClr val="0B6040"/>
                </a:solidFill>
                <a:latin typeface="Consolas"/>
              </a:rPr>
              <a:t>0x2050-0x205F, 0x3050-0x305F, … 0xF050-0xF05F</a:t>
            </a:r>
          </a:p>
          <a:p>
            <a:pPr lvl="1" algn="l">
              <a:spcAft>
                <a:spcPts val="600"/>
              </a:spcAft>
            </a:pPr>
            <a:r>
              <a:rPr sz="1700" b="1">
                <a:solidFill>
                  <a:srgbClr val="C0392B"/>
                </a:solidFill>
                <a:latin typeface="Meiryo UI"/>
              </a:rPr>
              <a:t>16 個 × 15 ブロック = 240。連続していない</a:t>
            </a:r>
          </a:p>
          <a:p>
            <a:pPr algn="l">
              <a:spcAft>
                <a:spcPts val="1000"/>
              </a:spcAft>
            </a:pPr>
            <a:r>
              <a:rPr sz="2000" b="0">
                <a:solidFill>
                  <a:srgbClr val="1F3355"/>
                </a:solidFill>
                <a:latin typeface="Meiryo UI"/>
              </a:rPr>
              <a:t>RA 方式 (2001:db8:1014:0300::/64) なら → 共有 IPv4 198.51.100.20 / PSID 3</a:t>
            </a:r>
          </a:p>
          <a:p>
            <a:pPr algn="l">
              <a:spcAft>
                <a:spcPts val="1000"/>
              </a:spcAft>
            </a:pPr>
            <a:r>
              <a:rPr sz="2000" b="1">
                <a:solidFill>
                  <a:srgbClr val="C0392B"/>
                </a:solidFill>
                <a:latin typeface="Meiryo UI"/>
              </a:rPr>
              <a:t>「4176〜8000 の範囲」のように連続だと思って NAT を書くと動かない → R12</a:t>
            </a:r>
          </a:p>
          <a:p>
            <a:pPr algn="l">
              <a:spcAft>
                <a:spcPts val="1000"/>
              </a:spcAft>
            </a:pPr>
            <a:r>
              <a:rPr sz="2000" b="0">
                <a:solidFill>
                  <a:srgbClr val="1F3355"/>
                </a:solidFill>
                <a:latin typeface="Meiryo UI"/>
              </a:rPr>
              <a:t>教科書: 24.3 A+P (p.423) / 24.4 MAP-E、MAP-T、4rd (p.425)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3-4. DS-Lite — NAT が網側にある。だから触れない</a:t>
            </a:r>
          </a:p>
        </p:txBody>
      </p:sp>
      <p:sp>
        <p:nvSpPr>
          <p:cNvPr id="3" name="Rounded Rectangle 2"/>
          <p:cNvSpPr/>
          <p:nvPr/>
        </p:nvSpPr>
        <p:spPr>
          <a:xfrm>
            <a:off x="685800"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お客様 PC</a:t>
            </a:r>
          </a:p>
          <a:p>
            <a:pPr algn="ctr"/>
            <a:r>
              <a:rPr sz="1100" b="0">
                <a:solidFill>
                  <a:srgbClr val="555555"/>
                </a:solidFill>
                <a:latin typeface="Meiryo UI"/>
              </a:rPr>
              <a:t>192.168.x.x</a:t>
            </a:r>
          </a:p>
        </p:txBody>
      </p:sp>
      <p:sp>
        <p:nvSpPr>
          <p:cNvPr id="4" name="Right Arrow 3"/>
          <p:cNvSpPr/>
          <p:nvPr/>
        </p:nvSpPr>
        <p:spPr>
          <a:xfrm>
            <a:off x="2897733" y="2926080"/>
            <a:ext cx="647395"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545128"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CPE (B4)</a:t>
            </a:r>
          </a:p>
          <a:p>
            <a:pPr algn="ctr"/>
            <a:r>
              <a:rPr sz="1100" b="0">
                <a:solidFill>
                  <a:srgbClr val="555555"/>
                </a:solidFill>
                <a:latin typeface="Meiryo UI"/>
              </a:rPr>
              <a:t>NAT しない</a:t>
            </a:r>
          </a:p>
        </p:txBody>
      </p:sp>
      <p:sp>
        <p:nvSpPr>
          <p:cNvPr id="6" name="Right Arrow 5"/>
          <p:cNvSpPr/>
          <p:nvPr/>
        </p:nvSpPr>
        <p:spPr>
          <a:xfrm>
            <a:off x="5757062" y="2926080"/>
            <a:ext cx="647395"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4457"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AFTR</a:t>
            </a:r>
          </a:p>
          <a:p>
            <a:pPr algn="ctr"/>
            <a:r>
              <a:rPr sz="1100" b="0">
                <a:solidFill>
                  <a:srgbClr val="555555"/>
                </a:solidFill>
                <a:latin typeface="Meiryo UI"/>
              </a:rPr>
              <a:t>ここで NAT</a:t>
            </a:r>
          </a:p>
        </p:txBody>
      </p:sp>
      <p:sp>
        <p:nvSpPr>
          <p:cNvPr id="8" name="Right Arrow 7"/>
          <p:cNvSpPr/>
          <p:nvPr/>
        </p:nvSpPr>
        <p:spPr>
          <a:xfrm>
            <a:off x="8616391" y="2926080"/>
            <a:ext cx="647395"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63786"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インターネット</a:t>
            </a:r>
          </a:p>
          <a:p>
            <a:pPr algn="ctr"/>
            <a:r>
              <a:rPr sz="1100" b="0">
                <a:solidFill>
                  <a:srgbClr val="555555"/>
                </a:solidFill>
                <a:latin typeface="Meiryo UI"/>
              </a:rPr>
              <a:t>共有グローバル</a:t>
            </a:r>
          </a:p>
        </p:txBody>
      </p:sp>
      <p:sp>
        <p:nvSpPr>
          <p:cNvPr id="10" name="TextBox 9"/>
          <p:cNvSpPr txBox="1"/>
          <p:nvPr/>
        </p:nvSpPr>
        <p:spPr>
          <a:xfrm>
            <a:off x="685800" y="4114800"/>
            <a:ext cx="10789920" cy="1828800"/>
          </a:xfrm>
          <a:prstGeom prst="rect">
            <a:avLst/>
          </a:prstGeom>
          <a:noFill/>
        </p:spPr>
        <p:txBody>
          <a:bodyPr wrap="square">
            <a:spAutoFit/>
          </a:bodyPr>
          <a:lstStyle/>
          <a:p>
            <a:pPr algn="l">
              <a:spcAft>
                <a:spcPts val="600"/>
              </a:spcAft>
            </a:pPr>
            <a:r>
              <a:rPr sz="1400" b="0">
                <a:solidFill>
                  <a:srgbClr val="555555"/>
                </a:solidFill>
                <a:latin typeface="Meiryo UI"/>
              </a:rPr>
              <a:t>MAP-E は CPE (CE) が NAT する → 自分のポート集合の中なら開放できる。</a:t>
            </a:r>
          </a:p>
          <a:p>
            <a:pPr algn="l">
              <a:spcAft>
                <a:spcPts val="600"/>
              </a:spcAft>
            </a:pPr>
            <a:r>
              <a:rPr sz="1400" b="0">
                <a:solidFill>
                  <a:srgbClr val="555555"/>
                </a:solidFill>
                <a:latin typeface="Meiryo UI"/>
              </a:rPr>
              <a:t>DS-Lite は AFTR (事業者設備) が NAT する → 利用者からそれを操作する手段が提供されていない。</a:t>
            </a:r>
          </a:p>
          <a:p>
            <a:pPr algn="l">
              <a:spcAft>
                <a:spcPts val="600"/>
              </a:spcAft>
            </a:pPr>
            <a:r>
              <a:rPr sz="1400" b="1">
                <a:solidFill>
                  <a:srgbClr val="C0392B"/>
                </a:solidFill>
                <a:latin typeface="Meiryo UI"/>
              </a:rPr>
              <a:t>※ 「ポート開放できますか?」→ DS-Lite なら「できません」。代替は固定 IP 系サービスか PPPoE 併用。</a:t>
            </a:r>
          </a:p>
          <a:p>
            <a:pPr algn="l">
              <a:spcAft>
                <a:spcPts val="600"/>
              </a:spcAft>
            </a:pPr>
            <a:r>
              <a:rPr sz="1400" b="0">
                <a:solidFill>
                  <a:srgbClr val="555555"/>
                </a:solidFill>
                <a:latin typeface="Meiryo UI"/>
              </a:rPr>
              <a:t>教科書: 24.1 DS-Lite (p.421) / 19.3 NAT 機器に要求される挙動 (p.356) / 19.4 課題 (p.362)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3-5. MTU の引き算と、直し方</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800"/>
              </a:spcAft>
            </a:pPr>
            <a:r>
              <a:rPr sz="1800" b="1">
                <a:solidFill>
                  <a:srgbClr val="1F3355"/>
                </a:solidFill>
                <a:latin typeface="Meiryo UI"/>
              </a:rPr>
              <a:t>連続した引き算ではありません。PPPoE 系と IPoE トンネル系の 2 系統です</a:t>
            </a:r>
          </a:p>
          <a:p>
            <a:pPr algn="l">
              <a:spcAft>
                <a:spcPts val="800"/>
              </a:spcAft>
            </a:pPr>
            <a:r>
              <a:rPr sz="1800" b="0">
                <a:solidFill>
                  <a:srgbClr val="0B6040"/>
                </a:solidFill>
                <a:latin typeface="Consolas"/>
              </a:rPr>
              <a:t>【PPPoE の場合】 1500 − PPPoE ヘッダ 8 = 1492 (MRU 上限で実質 1454 が多い)</a:t>
            </a:r>
          </a:p>
          <a:p>
            <a:pPr algn="l">
              <a:spcAft>
                <a:spcPts val="800"/>
              </a:spcAft>
            </a:pPr>
            <a:r>
              <a:rPr sz="1800" b="0">
                <a:solidFill>
                  <a:srgbClr val="0B6040"/>
                </a:solidFill>
                <a:latin typeface="Consolas"/>
              </a:rPr>
              <a:t>【MAP-E / DS-Lite の場合】 1500 − IPv6 ヘッダ 40 = 1460</a:t>
            </a:r>
          </a:p>
          <a:p>
            <a:pPr algn="l">
              <a:spcAft>
                <a:spcPts val="800"/>
              </a:spcAft>
            </a:pPr>
            <a:r>
              <a:rPr sz="1800" b="0">
                <a:solidFill>
                  <a:srgbClr val="0B6040"/>
                </a:solidFill>
                <a:latin typeface="Consolas"/>
              </a:rPr>
              <a:t>     さらに encaplimit (Dst Options) が付くと −8 → 1452</a:t>
            </a:r>
          </a:p>
          <a:p>
            <a:pPr algn="l">
              <a:spcAft>
                <a:spcPts val="800"/>
              </a:spcAft>
            </a:pPr>
            <a:r>
              <a:rPr sz="1800" b="0">
                <a:solidFill>
                  <a:srgbClr val="0B6040"/>
                </a:solidFill>
                <a:latin typeface="Consolas"/>
              </a:rPr>
              <a:t>     ip6tnl の既定でこれが付く。片方向だけ切れる原因になる (R11)</a:t>
            </a:r>
          </a:p>
          <a:p>
            <a:pPr algn="l">
              <a:spcAft>
                <a:spcPts val="800"/>
              </a:spcAft>
            </a:pPr>
            <a:r>
              <a:rPr sz="1800" b="1">
                <a:solidFill>
                  <a:srgbClr val="C0392B"/>
                </a:solidFill>
                <a:latin typeface="Meiryo UI"/>
              </a:rPr>
              <a:t>症状の出方が独特なので覚える</a:t>
            </a:r>
          </a:p>
          <a:p>
            <a:pPr lvl="1" algn="l">
              <a:spcAft>
                <a:spcPts val="400"/>
              </a:spcAft>
            </a:pPr>
            <a:r>
              <a:rPr sz="1500" b="0">
                <a:solidFill>
                  <a:srgbClr val="555555"/>
                </a:solidFill>
                <a:latin typeface="Meiryo UI"/>
              </a:rPr>
              <a:t>小さいパケット (HTTP GET, ping, DNS) は通る → 「つながってる」と見える</a:t>
            </a:r>
          </a:p>
          <a:p>
            <a:pPr lvl="1" algn="l">
              <a:spcAft>
                <a:spcPts val="400"/>
              </a:spcAft>
            </a:pPr>
            <a:r>
              <a:rPr sz="1500" b="0">
                <a:solidFill>
                  <a:srgbClr val="555555"/>
                </a:solidFill>
                <a:latin typeface="Meiryo UI"/>
              </a:rPr>
              <a:t>大きいパケット (ファイル送信、添付) だけ落ちる</a:t>
            </a:r>
          </a:p>
          <a:p>
            <a:pPr algn="l">
              <a:spcAft>
                <a:spcPts val="800"/>
              </a:spcAft>
            </a:pPr>
            <a:r>
              <a:rPr sz="1800" b="1">
                <a:solidFill>
                  <a:srgbClr val="1F3355"/>
                </a:solidFill>
                <a:latin typeface="Meiryo UI"/>
              </a:rPr>
              <a:t>現場の一手 — 症状を知っているだけでは直せない</a:t>
            </a:r>
          </a:p>
          <a:p>
            <a:pPr lvl="1" algn="l">
              <a:spcAft>
                <a:spcPts val="400"/>
              </a:spcAft>
            </a:pPr>
            <a:r>
              <a:rPr sz="1500" b="0">
                <a:solidFill>
                  <a:srgbClr val="0B6040"/>
                </a:solidFill>
                <a:latin typeface="Consolas"/>
              </a:rPr>
              <a:t>TCP MSS clamp: OpenWrt は firewall の mtu_fix、Cisco は ip tcp adjust-mss 1420</a:t>
            </a:r>
          </a:p>
          <a:p>
            <a:pPr lvl="1" algn="l">
              <a:spcAft>
                <a:spcPts val="400"/>
              </a:spcAft>
            </a:pPr>
            <a:r>
              <a:rPr sz="1500" b="0">
                <a:solidFill>
                  <a:srgbClr val="0B6040"/>
                </a:solidFill>
                <a:latin typeface="Consolas"/>
              </a:rPr>
              <a:t>CPE の WAN MTU を手動設定: OpenWrt なら option mtu '1460'</a:t>
            </a:r>
          </a:p>
          <a:p>
            <a:pPr lvl="1" algn="l">
              <a:spcAft>
                <a:spcPts val="400"/>
              </a:spcAft>
            </a:pPr>
            <a:r>
              <a:rPr sz="1500" b="0">
                <a:solidFill>
                  <a:srgbClr val="555555"/>
                </a:solidFill>
                <a:latin typeface="Meiryo UI"/>
              </a:rPr>
              <a:t>トンネルの encaplimit none (ラボの VNE スクリプトは設定済み)</a:t>
            </a:r>
          </a:p>
          <a:p>
            <a:pPr lvl="1" algn="l">
              <a:spcAft>
                <a:spcPts val="400"/>
              </a:spcAft>
            </a:pPr>
            <a:r>
              <a:rPr sz="1500" b="0">
                <a:solidFill>
                  <a:srgbClr val="555555"/>
                </a:solidFill>
                <a:latin typeface="Meiryo UI"/>
              </a:rPr>
              <a:t>経路で ICMP (v6 Packet Too Big / v4 Fragmentation-Needed) が落ちていないか確認</a:t>
            </a:r>
          </a:p>
          <a:p>
            <a:pPr algn="l">
              <a:spcAft>
                <a:spcPts val="800"/>
              </a:spcAft>
            </a:pPr>
            <a:r>
              <a:rPr sz="1800" b="0">
                <a:solidFill>
                  <a:srgbClr val="1F3355"/>
                </a:solidFill>
                <a:latin typeface="Meiryo UI"/>
              </a:rPr>
              <a:t>教科書: 第10章 (p.215) / 9.2 IPv6 フラグメントヘッダ (p.208) / 14.9 (p.279)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3-6. 演習 3-A: ポートを数えて、失敗させる  (実測済み)</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① CPE に降りたプレフィックスから共有 IPv4 と PSID を確認し、3-3 の計算と照合</a:t>
            </a:r>
          </a:p>
          <a:p>
            <a:pPr algn="l">
              <a:spcAft>
                <a:spcPts val="1000"/>
              </a:spcAft>
            </a:pPr>
            <a:r>
              <a:rPr sz="2000" b="1">
                <a:solidFill>
                  <a:srgbClr val="1F3355"/>
                </a:solidFill>
                <a:latin typeface="Meiryo UI"/>
              </a:rPr>
              <a:t>② ポート集合を紙に書き出し、飛び飛びであることを目で見る (240 個 = 16 × 15)</a:t>
            </a:r>
          </a:p>
          <a:p>
            <a:pPr algn="l">
              <a:spcAft>
                <a:spcPts val="1000"/>
              </a:spcAft>
            </a:pPr>
            <a:r>
              <a:rPr sz="2000" b="1">
                <a:solidFill>
                  <a:srgbClr val="1F3355"/>
                </a:solidFill>
                <a:latin typeface="Meiryo UI"/>
              </a:rPr>
              <a:t>③ R3 (ポート制限) を再現する。OpenWrt が CE なら enforce は不要</a:t>
            </a:r>
          </a:p>
          <a:p>
            <a:pPr lvl="1" algn="l">
              <a:spcAft>
                <a:spcPts val="600"/>
              </a:spcAft>
            </a:pPr>
            <a:r>
              <a:rPr sz="1700" b="0">
                <a:solidFill>
                  <a:srgbClr val="0B6040"/>
                </a:solidFill>
                <a:latin typeface="Consolas"/>
              </a:rPr>
              <a:t>for i in $(seq 20); do curl -s --limit-rate 1k -m 30 ... &amp; done</a:t>
            </a:r>
          </a:p>
          <a:p>
            <a:pPr lvl="1" algn="l">
              <a:spcAft>
                <a:spcPts val="600"/>
              </a:spcAft>
            </a:pPr>
            <a:r>
              <a:rPr sz="1700" b="1">
                <a:solidFill>
                  <a:srgbClr val="C0392B"/>
                </a:solidFill>
                <a:latin typeface="Meiryo UI"/>
              </a:rPr>
              <a:t>紙に書いた 240 と違い、17 本目以降が失敗する (成功は 16 本)</a:t>
            </a:r>
          </a:p>
          <a:p>
            <a:pPr lvl="1" algn="l">
              <a:spcAft>
                <a:spcPts val="600"/>
              </a:spcAft>
            </a:pPr>
            <a:r>
              <a:rPr sz="1700" b="0">
                <a:solidFill>
                  <a:srgbClr val="555555"/>
                </a:solidFill>
                <a:latin typeface="Meiryo UI"/>
              </a:rPr>
              <a:t>nft の snat が終端判定で先頭ブロックのみ使用。実機では必ず数え直す</a:t>
            </a:r>
          </a:p>
          <a:p>
            <a:pPr algn="l">
              <a:spcAft>
                <a:spcPts val="1000"/>
              </a:spcAft>
            </a:pPr>
            <a:r>
              <a:rPr sz="2000" b="1">
                <a:solidFill>
                  <a:srgbClr val="1F3355"/>
                </a:solidFill>
                <a:latin typeface="Meiryo UI"/>
              </a:rPr>
              <a:t>④ R4: DS-Lite でポート開放を設定し、INET-SIM から叩いて届かないことを確認</a:t>
            </a:r>
          </a:p>
          <a:p>
            <a:pPr lvl="1" algn="l">
              <a:spcAft>
                <a:spcPts val="600"/>
              </a:spcAft>
            </a:pPr>
            <a:r>
              <a:rPr sz="1700" b="1">
                <a:solidFill>
                  <a:srgbClr val="C0392B"/>
                </a:solidFill>
                <a:latin typeface="Meiryo UI"/>
              </a:rPr>
              <a:t>前提: VNE と INET-SIM が別 VM (SPLIT_INET=1)。同居だと逆の結果になる</a:t>
            </a:r>
          </a:p>
          <a:p>
            <a:pPr algn="l">
              <a:spcAft>
                <a:spcPts val="1000"/>
              </a:spcAft>
            </a:pPr>
            <a:r>
              <a:rPr sz="2000" b="1">
                <a:solidFill>
                  <a:srgbClr val="1F3355"/>
                </a:solidFill>
                <a:latin typeface="Meiryo UI"/>
              </a:rPr>
              <a:t>⑤ MTU の確認</a:t>
            </a:r>
          </a:p>
          <a:p>
            <a:pPr lvl="1" algn="l">
              <a:spcAft>
                <a:spcPts val="600"/>
              </a:spcAft>
            </a:pPr>
            <a:r>
              <a:rPr sz="1700" b="0">
                <a:solidFill>
                  <a:srgbClr val="0B6040"/>
                </a:solidFill>
                <a:latin typeface="Consolas"/>
              </a:rPr>
              <a:t>ping -M do -s 1432 は通る / -s 1472 は通らない</a:t>
            </a:r>
          </a:p>
          <a:p>
            <a:pPr lvl="1" algn="l">
              <a:spcAft>
                <a:spcPts val="600"/>
              </a:spcAft>
            </a:pPr>
            <a:r>
              <a:rPr sz="1700" b="0">
                <a:solidFill>
                  <a:srgbClr val="555555"/>
                </a:solidFill>
                <a:latin typeface="Meiryo UI"/>
              </a:rPr>
              <a:t>5MB 転送の合否は run-checks.sh に任せる (curl 単体では遅いと落ちるの区別がつかない)</a:t>
            </a:r>
          </a:p>
          <a:p>
            <a:pPr algn="l">
              <a:spcAft>
                <a:spcPts val="1000"/>
              </a:spcAft>
            </a:pPr>
            <a:r>
              <a:rPr sz="2000" b="1">
                <a:solidFill>
                  <a:srgbClr val="C0392B"/>
                </a:solidFill>
                <a:latin typeface="Meiryo UI"/>
              </a:rPr>
              <a:t>⑥ 結果を test-matrix.md §5 実績表に記録する。記録しないと次の案件で活きない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2377440"/>
          </a:xfrm>
          <a:prstGeom prst="rect">
            <a:avLst/>
          </a:prstGeom>
          <a:noFill/>
        </p:spPr>
        <p:txBody>
          <a:bodyPr wrap="square">
            <a:spAutoFit/>
          </a:bodyPr>
          <a:lstStyle/>
          <a:p>
            <a:pPr algn="l"/>
            <a:r>
              <a:rPr sz="2000" b="1">
                <a:solidFill>
                  <a:srgbClr val="7FB8E0"/>
                </a:solidFill>
                <a:latin typeface="Meiryo UI"/>
              </a:rPr>
              <a:t>第4部</a:t>
            </a:r>
          </a:p>
          <a:p>
            <a:pPr algn="l"/>
            <a:r>
              <a:rPr sz="3600" b="1">
                <a:solidFill>
                  <a:srgbClr val="FFFFFF"/>
                </a:solidFill>
                <a:latin typeface="Meiryo UI"/>
              </a:rPr>
              <a:t>検証結果 — 本当にそうなるのか</a:t>
            </a:r>
          </a:p>
          <a:p>
            <a:pPr algn="l">
              <a:spcBef>
                <a:spcPts val="1600"/>
              </a:spcBef>
            </a:pPr>
            <a:r>
              <a:rPr sz="1600" b="0">
                <a:solidFill>
                  <a:srgbClr val="D5E5F2"/>
                </a:solidFill>
                <a:latin typeface="Meiryo UI"/>
              </a:rPr>
              <a:t>ゴール: ここから先は全部「測った値」です。推測と実測を必ず分けて書いてあります</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この部の読み方 — 「たぶん」と「測った」を分ける</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なぜこの部があるのか</a:t>
            </a:r>
          </a:p>
          <a:p>
            <a:pPr lvl="1" algn="l">
              <a:spcAft>
                <a:spcPts val="600"/>
              </a:spcAft>
            </a:pPr>
            <a:r>
              <a:rPr sz="1700" b="0">
                <a:solidFill>
                  <a:srgbClr val="555555"/>
                </a:solidFill>
                <a:latin typeface="Meiryo UI"/>
              </a:rPr>
              <a:t>設計どおりに動く、と思って客先に出た結果ハマるのを防ぐため</a:t>
            </a:r>
          </a:p>
          <a:p>
            <a:pPr lvl="1" algn="l">
              <a:spcAft>
                <a:spcPts val="600"/>
              </a:spcAft>
            </a:pPr>
            <a:r>
              <a:rPr sz="1700" b="0">
                <a:solidFill>
                  <a:srgbClr val="555555"/>
                </a:solidFill>
                <a:latin typeface="Meiryo UI"/>
              </a:rPr>
              <a:t>自宅に検証ラボを組み、実機とシミュレータの両方で 1 つずつ確かめました</a:t>
            </a:r>
          </a:p>
          <a:p>
            <a:pPr algn="l">
              <a:spcAft>
                <a:spcPts val="1000"/>
              </a:spcAft>
            </a:pPr>
            <a:r>
              <a:rPr sz="2000" b="1">
                <a:solidFill>
                  <a:srgbClr val="1F3355"/>
                </a:solidFill>
                <a:latin typeface="Meiryo UI"/>
              </a:rPr>
              <a:t>何で測ったか(3 つの環境)</a:t>
            </a:r>
          </a:p>
          <a:p>
            <a:pPr lvl="1" algn="l">
              <a:spcAft>
                <a:spcPts val="600"/>
              </a:spcAft>
            </a:pPr>
            <a:r>
              <a:rPr sz="1700" b="0">
                <a:solidFill>
                  <a:srgbClr val="555555"/>
                </a:solidFill>
                <a:latin typeface="Meiryo UI"/>
              </a:rPr>
              <a:t>① 仮想ラボ (Proxmox 上に NGN / VNE / BRAS / INET を再現。CPE は OpenWrt)</a:t>
            </a:r>
          </a:p>
          <a:p>
            <a:pPr lvl="1" algn="l">
              <a:spcAft>
                <a:spcPts val="600"/>
              </a:spcAft>
            </a:pPr>
            <a:r>
              <a:rPr sz="1700" b="0">
                <a:solidFill>
                  <a:srgbClr val="555555"/>
                </a:solidFill>
                <a:latin typeface="Meiryo UI"/>
              </a:rPr>
              <a:t>② 実機 (Cisco 892FJ を①のアクセス網に物理接続。クライアントは Windows 11 実機)</a:t>
            </a:r>
          </a:p>
          <a:p>
            <a:pPr lvl="1" algn="l">
              <a:spcAft>
                <a:spcPts val="600"/>
              </a:spcAft>
            </a:pPr>
            <a:r>
              <a:rPr sz="1700" b="0">
                <a:solidFill>
                  <a:srgbClr val="555555"/>
                </a:solidFill>
                <a:latin typeface="Meiryo UI"/>
              </a:rPr>
              <a:t>③ CML (Cat8000v = 仮想ルータ。892FJ が MAP-E 非対応なので Cisco 実装の確認はこちら)</a:t>
            </a:r>
          </a:p>
          <a:p>
            <a:pPr algn="l">
              <a:spcAft>
                <a:spcPts val="1000"/>
              </a:spcAft>
            </a:pPr>
            <a:r>
              <a:rPr sz="2000" b="1">
                <a:solidFill>
                  <a:srgbClr val="C0392B"/>
                </a:solidFill>
                <a:latin typeface="Meiryo UI"/>
              </a:rPr>
              <a:t>覚えておいてほしい結論</a:t>
            </a:r>
          </a:p>
          <a:p>
            <a:pPr lvl="1" algn="l">
              <a:spcAft>
                <a:spcPts val="600"/>
              </a:spcAft>
            </a:pPr>
            <a:r>
              <a:rPr sz="1700" b="0">
                <a:solidFill>
                  <a:srgbClr val="555555"/>
                </a:solidFill>
                <a:latin typeface="Meiryo UI"/>
              </a:rPr>
              <a:t>トラブル再現レシピ 7 件のうち 5 件が「手順書どおりでは想定と違った」</a:t>
            </a:r>
          </a:p>
          <a:p>
            <a:pPr lvl="1" algn="l">
              <a:spcAft>
                <a:spcPts val="600"/>
              </a:spcAft>
            </a:pPr>
            <a:r>
              <a:rPr sz="1700" b="0">
                <a:solidFill>
                  <a:srgbClr val="555555"/>
                </a:solidFill>
                <a:latin typeface="Meiryo UI"/>
              </a:rPr>
              <a:t>つまり、机上の想定は 7 割方どこかズレます。だから測る</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検証ラボの構成(これを会社の VMware にも持ち込みます)</a:t>
            </a:r>
          </a:p>
        </p:txBody>
      </p:sp>
      <p:sp>
        <p:nvSpPr>
          <p:cNvPr id="3" name="Rounded Rectangle 2"/>
          <p:cNvSpPr/>
          <p:nvPr/>
        </p:nvSpPr>
        <p:spPr>
          <a:xfrm>
            <a:off x="685800"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CPE</a:t>
            </a:r>
          </a:p>
          <a:p>
            <a:pPr algn="ctr"/>
            <a:r>
              <a:rPr sz="1100" b="0">
                <a:solidFill>
                  <a:srgbClr val="555555"/>
                </a:solidFill>
                <a:latin typeface="Meiryo UI"/>
              </a:rPr>
              <a:t>OpenWrt
または実機 892FJ</a:t>
            </a:r>
          </a:p>
        </p:txBody>
      </p:sp>
      <p:sp>
        <p:nvSpPr>
          <p:cNvPr id="4" name="Right Arrow 3"/>
          <p:cNvSpPr/>
          <p:nvPr/>
        </p:nvSpPr>
        <p:spPr>
          <a:xfrm>
            <a:off x="2897733" y="2926080"/>
            <a:ext cx="647395"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545128"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NGN-SIM</a:t>
            </a:r>
          </a:p>
          <a:p>
            <a:pPr algn="ctr"/>
            <a:r>
              <a:rPr sz="1100" b="0">
                <a:solidFill>
                  <a:srgbClr val="555555"/>
                </a:solidFill>
                <a:latin typeface="Meiryo UI"/>
              </a:rPr>
              <a:t>RA / DHCPv6-PD
radvd + Kea</a:t>
            </a:r>
          </a:p>
        </p:txBody>
      </p:sp>
      <p:sp>
        <p:nvSpPr>
          <p:cNvPr id="6" name="Right Arrow 5"/>
          <p:cNvSpPr/>
          <p:nvPr/>
        </p:nvSpPr>
        <p:spPr>
          <a:xfrm>
            <a:off x="5757062" y="2926080"/>
            <a:ext cx="647395"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4457"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VNE</a:t>
            </a:r>
          </a:p>
          <a:p>
            <a:pPr algn="ctr"/>
            <a:r>
              <a:rPr sz="1100" b="0">
                <a:solidFill>
                  <a:srgbClr val="555555"/>
                </a:solidFill>
                <a:latin typeface="Meiryo UI"/>
              </a:rPr>
              <a:t>MAP-E BR
DS-Lite AFTR</a:t>
            </a:r>
          </a:p>
        </p:txBody>
      </p:sp>
      <p:sp>
        <p:nvSpPr>
          <p:cNvPr id="8" name="Right Arrow 7"/>
          <p:cNvSpPr/>
          <p:nvPr/>
        </p:nvSpPr>
        <p:spPr>
          <a:xfrm>
            <a:off x="8616391" y="2926080"/>
            <a:ext cx="647395" cy="292608"/>
          </a:xfrm>
          <a:prstGeom prst="rightArrow">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63786" y="2377440"/>
            <a:ext cx="2211933" cy="1371600"/>
          </a:xfrm>
          <a:prstGeom prst="roundRect">
            <a:avLst/>
          </a:prstGeom>
          <a:solidFill>
            <a:srgbClr val="EFF5FA"/>
          </a:solidFill>
          <a:ln w="22225">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355"/>
                </a:solidFill>
                <a:latin typeface="Meiryo UI"/>
              </a:rPr>
              <a:t>INET-SIM</a:t>
            </a:r>
          </a:p>
          <a:p>
            <a:pPr algn="ctr"/>
            <a:r>
              <a:rPr sz="1100" b="0">
                <a:solidFill>
                  <a:srgbClr val="555555"/>
                </a:solidFill>
                <a:latin typeface="Meiryo UI"/>
              </a:rPr>
              <a:t>Web + DNS
模擬インターネット</a:t>
            </a:r>
          </a:p>
        </p:txBody>
      </p:sp>
      <p:sp>
        <p:nvSpPr>
          <p:cNvPr id="10" name="TextBox 9"/>
          <p:cNvSpPr txBox="1"/>
          <p:nvPr/>
        </p:nvSpPr>
        <p:spPr>
          <a:xfrm>
            <a:off x="685800" y="4114800"/>
            <a:ext cx="10789920" cy="1828800"/>
          </a:xfrm>
          <a:prstGeom prst="rect">
            <a:avLst/>
          </a:prstGeom>
          <a:noFill/>
        </p:spPr>
        <p:txBody>
          <a:bodyPr wrap="square">
            <a:spAutoFit/>
          </a:bodyPr>
          <a:lstStyle/>
          <a:p>
            <a:pPr algn="l">
              <a:spcAft>
                <a:spcPts val="600"/>
              </a:spcAft>
            </a:pPr>
            <a:r>
              <a:rPr sz="1400" b="0">
                <a:solidFill>
                  <a:srgbClr val="555555"/>
                </a:solidFill>
                <a:latin typeface="Meiryo UI"/>
              </a:rPr>
              <a:t>PPPoE 側 (BRAS) も別に立ててあるので、PPPoE → IPoE の切替そのものを演習できます。</a:t>
            </a:r>
          </a:p>
          <a:p>
            <a:pPr algn="l">
              <a:spcAft>
                <a:spcPts val="600"/>
              </a:spcAft>
            </a:pPr>
            <a:r>
              <a:rPr sz="1400" b="0">
                <a:solidFill>
                  <a:srgbClr val="555555"/>
                </a:solidFill>
                <a:latin typeface="Meiryo UI"/>
              </a:rPr>
              <a:t>アドレスは全部ドキュメント用 (2001:db8::/32 / 198.51.100.0/24 / 203.0.113.0/24)。</a:t>
            </a:r>
          </a:p>
          <a:p>
            <a:pPr algn="l">
              <a:spcAft>
                <a:spcPts val="600"/>
              </a:spcAft>
            </a:pPr>
            <a:r>
              <a:rPr sz="1400" b="1">
                <a:solidFill>
                  <a:srgbClr val="C0392B"/>
                </a:solidFill>
                <a:latin typeface="Meiryo UI"/>
              </a:rPr>
              <a:t>※ VNE と INET-SIM は必ず別 VM に分けること。同居させると DS-Lite の網側 NAT が効かず、</a:t>
            </a:r>
          </a:p>
          <a:p>
            <a:pPr algn="l">
              <a:spcAft>
                <a:spcPts val="600"/>
              </a:spcAft>
            </a:pPr>
            <a:r>
              <a:rPr sz="1400" b="0">
                <a:solidFill>
                  <a:srgbClr val="555555"/>
                </a:solidFill>
                <a:latin typeface="Meiryo UI"/>
              </a:rPr>
              <a:t>  「疎通するので成功に見えるが、実は経路が違う」という一番タチの悪い状態になります。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実機 Cisco 892FJ で DS-Lite を通した結果(サイクル4)</a:t>
            </a:r>
          </a:p>
        </p:txBody>
      </p:sp>
      <p:graphicFrame>
        <p:nvGraphicFramePr>
          <p:cNvPr id="3" name="Table 2"/>
          <p:cNvGraphicFramePr>
            <a:graphicFrameLocks noGrp="1"/>
          </p:cNvGraphicFramePr>
          <p:nvPr/>
        </p:nvGraphicFramePr>
        <p:xfrm>
          <a:off x="502920" y="1143000"/>
          <a:ext cx="10972800" cy="2176272"/>
        </p:xfrm>
        <a:graphic>
          <a:graphicData uri="http://schemas.openxmlformats.org/drawingml/2006/table">
            <a:tbl>
              <a:tblPr>
                <a:tableStyleId>{5C22544A-7EE6-4342-B048-85BDC9FD1C3A}</a:tableStyleId>
              </a:tblPr>
              <a:tblGrid>
                <a:gridCol w="3291840"/>
                <a:gridCol w="3108960"/>
                <a:gridCol w="4572000"/>
              </a:tblGrid>
              <a:tr h="310896">
                <a:tc>
                  <a:txBody>
                    <a:bodyPr/>
                    <a:lstStyle/>
                    <a:p>
                      <a:pPr algn="l"/>
                      <a:r>
                        <a:rPr sz="1200" b="1">
                          <a:solidFill>
                            <a:srgbClr val="FFFFFF"/>
                          </a:solidFill>
                          <a:latin typeface="Meiryo UI"/>
                        </a:rPr>
                        <a:t>確認したこと</a:t>
                      </a:r>
                    </a:p>
                  </a:txBody>
                  <a:tcPr>
                    <a:solidFill>
                      <a:srgbClr val="1F3355"/>
                    </a:solidFill>
                  </a:tcPr>
                </a:tc>
                <a:tc>
                  <a:txBody>
                    <a:bodyPr/>
                    <a:lstStyle/>
                    <a:p>
                      <a:pPr algn="l"/>
                      <a:r>
                        <a:rPr sz="1200" b="1">
                          <a:solidFill>
                            <a:srgbClr val="FFFFFF"/>
                          </a:solidFill>
                          <a:latin typeface="Meiryo UI"/>
                        </a:rPr>
                        <a:t>実測値</a:t>
                      </a:r>
                    </a:p>
                  </a:txBody>
                  <a:tcPr>
                    <a:solidFill>
                      <a:srgbClr val="1F3355"/>
                    </a:solidFill>
                  </a:tcPr>
                </a:tc>
                <a:tc>
                  <a:txBody>
                    <a:bodyPr/>
                    <a:lstStyle/>
                    <a:p>
                      <a:pPr algn="l"/>
                      <a:r>
                        <a:rPr sz="1200" b="1">
                          <a:solidFill>
                            <a:srgbClr val="FFFFFF"/>
                          </a:solidFill>
                          <a:latin typeface="Meiryo UI"/>
                        </a:rPr>
                        <a:t>何を示すか</a:t>
                      </a:r>
                    </a:p>
                  </a:txBody>
                  <a:tcPr>
                    <a:solidFill>
                      <a:srgbClr val="1F3355"/>
                    </a:solidFill>
                  </a:tcPr>
                </a:tc>
              </a:tr>
              <a:tr h="310896">
                <a:tc>
                  <a:txBody>
                    <a:bodyPr/>
                    <a:lstStyle/>
                    <a:p>
                      <a:pPr algn="l"/>
                      <a:r>
                        <a:rPr sz="1100" b="0">
                          <a:solidFill>
                            <a:srgbClr val="1F3355"/>
                          </a:solidFill>
                          <a:latin typeface="Meiryo UI"/>
                        </a:rPr>
                        <a:t>出口 IPv4 アドレス</a:t>
                      </a:r>
                    </a:p>
                  </a:txBody>
                  <a:tcPr>
                    <a:solidFill>
                      <a:srgbClr val="FFFFFF"/>
                    </a:solidFill>
                  </a:tcPr>
                </a:tc>
                <a:tc>
                  <a:txBody>
                    <a:bodyPr/>
                    <a:lstStyle/>
                    <a:p>
                      <a:pPr algn="l"/>
                      <a:r>
                        <a:rPr sz="1100" b="0">
                          <a:solidFill>
                            <a:srgbClr val="1F3355"/>
                          </a:solidFill>
                          <a:latin typeface="Meiryo UI"/>
                        </a:rPr>
                        <a:t>203.0.113.1</a:t>
                      </a:r>
                    </a:p>
                  </a:txBody>
                  <a:tcPr>
                    <a:solidFill>
                      <a:srgbClr val="FFFFFF"/>
                    </a:solidFill>
                  </a:tcPr>
                </a:tc>
                <a:tc>
                  <a:txBody>
                    <a:bodyPr/>
                    <a:lstStyle/>
                    <a:p>
                      <a:pPr algn="l"/>
                      <a:r>
                        <a:rPr sz="1100" b="0">
                          <a:solidFill>
                            <a:srgbClr val="1F3355"/>
                          </a:solidFill>
                          <a:latin typeface="Meiryo UI"/>
                        </a:rPr>
                        <a:t>網側 (AFTR) で NAT された = DS-Lite が成立している</a:t>
                      </a:r>
                    </a:p>
                  </a:txBody>
                  <a:tcPr>
                    <a:solidFill>
                      <a:srgbClr val="FFFFFF"/>
                    </a:solidFill>
                  </a:tcPr>
                </a:tc>
              </a:tr>
              <a:tr h="310896">
                <a:tc>
                  <a:txBody>
                    <a:bodyPr/>
                    <a:lstStyle/>
                    <a:p>
                      <a:pPr algn="l"/>
                      <a:r>
                        <a:rPr sz="1100" b="0">
                          <a:solidFill>
                            <a:srgbClr val="1F3355"/>
                          </a:solidFill>
                          <a:latin typeface="Meiryo UI"/>
                        </a:rPr>
                        <a:t>ping 203.0.113.80</a:t>
                      </a:r>
                    </a:p>
                  </a:txBody>
                  <a:tcPr>
                    <a:solidFill>
                      <a:srgbClr val="F2F6FA"/>
                    </a:solidFill>
                  </a:tcPr>
                </a:tc>
                <a:tc>
                  <a:txBody>
                    <a:bodyPr/>
                    <a:lstStyle/>
                    <a:p>
                      <a:pPr algn="l"/>
                      <a:r>
                        <a:rPr sz="1100" b="0">
                          <a:solidFill>
                            <a:srgbClr val="1F3355"/>
                          </a:solidFill>
                          <a:latin typeface="Meiryo UI"/>
                        </a:rPr>
                        <a:t>0% 損失 / TTL=62</a:t>
                      </a:r>
                    </a:p>
                  </a:txBody>
                  <a:tcPr>
                    <a:solidFill>
                      <a:srgbClr val="F2F6FA"/>
                    </a:solidFill>
                  </a:tcPr>
                </a:tc>
                <a:tc>
                  <a:txBody>
                    <a:bodyPr/>
                    <a:lstStyle/>
                    <a:p>
                      <a:pPr algn="l"/>
                      <a:r>
                        <a:rPr sz="1100" b="0">
                          <a:solidFill>
                            <a:srgbClr val="1F3355"/>
                          </a:solidFill>
                          <a:latin typeface="Meiryo UI"/>
                        </a:rPr>
                        <a:t>Linux の初期値 64 から 2 減 = ルータを 2 つ越えている</a:t>
                      </a:r>
                    </a:p>
                  </a:txBody>
                  <a:tcPr>
                    <a:solidFill>
                      <a:srgbClr val="F2F6FA"/>
                    </a:solidFill>
                  </a:tcPr>
                </a:tc>
              </a:tr>
              <a:tr h="310896">
                <a:tc>
                  <a:txBody>
                    <a:bodyPr/>
                    <a:lstStyle/>
                    <a:p>
                      <a:pPr algn="l"/>
                      <a:r>
                        <a:rPr sz="1100" b="0">
                          <a:solidFill>
                            <a:srgbClr val="1F3355"/>
                          </a:solidFill>
                          <a:latin typeface="Meiryo UI"/>
                        </a:rPr>
                        <a:t>MTU 1460 (DF 付き 1432B)</a:t>
                      </a:r>
                    </a:p>
                  </a:txBody>
                  <a:tcPr>
                    <a:solidFill>
                      <a:srgbClr val="FFFFFF"/>
                    </a:solidFill>
                  </a:tcPr>
                </a:tc>
                <a:tc>
                  <a:txBody>
                    <a:bodyPr/>
                    <a:lstStyle/>
                    <a:p>
                      <a:pPr algn="l"/>
                      <a:r>
                        <a:rPr sz="1100" b="0">
                          <a:solidFill>
                            <a:srgbClr val="1F3355"/>
                          </a:solidFill>
                          <a:latin typeface="Meiryo UI"/>
                        </a:rPr>
                        <a:t>通過</a:t>
                      </a:r>
                    </a:p>
                  </a:txBody>
                  <a:tcPr>
                    <a:solidFill>
                      <a:srgbClr val="FFFFFF"/>
                    </a:solidFill>
                  </a:tcPr>
                </a:tc>
                <a:tc>
                  <a:txBody>
                    <a:bodyPr/>
                    <a:lstStyle/>
                    <a:p>
                      <a:pPr algn="l"/>
                      <a:r>
                        <a:rPr sz="1100" b="0">
                          <a:solidFill>
                            <a:srgbClr val="1F3355"/>
                          </a:solidFill>
                          <a:latin typeface="Meiryo UI"/>
                        </a:rPr>
                        <a:t>トンネル分を引いた MTU が確保できている</a:t>
                      </a:r>
                    </a:p>
                  </a:txBody>
                  <a:tcPr>
                    <a:solidFill>
                      <a:srgbClr val="FFFFFF"/>
                    </a:solidFill>
                  </a:tcPr>
                </a:tc>
              </a:tr>
              <a:tr h="310896">
                <a:tc>
                  <a:txBody>
                    <a:bodyPr/>
                    <a:lstStyle/>
                    <a:p>
                      <a:pPr algn="l"/>
                      <a:r>
                        <a:rPr sz="1100" b="0">
                          <a:solidFill>
                            <a:srgbClr val="1F3355"/>
                          </a:solidFill>
                          <a:latin typeface="Meiryo UI"/>
                        </a:rPr>
                        <a:t>MTU 1500 (DF 付き 1472B)</a:t>
                      </a:r>
                    </a:p>
                  </a:txBody>
                  <a:tcPr>
                    <a:solidFill>
                      <a:srgbClr val="F2F6FA"/>
                    </a:solidFill>
                  </a:tcPr>
                </a:tc>
                <a:tc>
                  <a:txBody>
                    <a:bodyPr/>
                    <a:lstStyle/>
                    <a:p>
                      <a:pPr algn="l"/>
                      <a:r>
                        <a:rPr sz="1100" b="0">
                          <a:solidFill>
                            <a:srgbClr val="1F3355"/>
                          </a:solidFill>
                          <a:latin typeface="Meiryo UI"/>
                        </a:rPr>
                        <a:t>192.168.100.1 から Frag Needed</a:t>
                      </a:r>
                    </a:p>
                  </a:txBody>
                  <a:tcPr>
                    <a:solidFill>
                      <a:srgbClr val="F2F6FA"/>
                    </a:solidFill>
                  </a:tcPr>
                </a:tc>
                <a:tc>
                  <a:txBody>
                    <a:bodyPr/>
                    <a:lstStyle/>
                    <a:p>
                      <a:pPr algn="l"/>
                      <a:r>
                        <a:rPr sz="1100" b="0">
                          <a:solidFill>
                            <a:srgbClr val="1F3355"/>
                          </a:solidFill>
                          <a:latin typeface="Meiryo UI"/>
                        </a:rPr>
                        <a:t>CPE 自身が生成 = PMTUD が正常に動いている</a:t>
                      </a:r>
                    </a:p>
                  </a:txBody>
                  <a:tcPr>
                    <a:solidFill>
                      <a:srgbClr val="F2F6FA"/>
                    </a:solidFill>
                  </a:tcPr>
                </a:tc>
              </a:tr>
              <a:tr h="310896">
                <a:tc>
                  <a:txBody>
                    <a:bodyPr/>
                    <a:lstStyle/>
                    <a:p>
                      <a:pPr algn="l"/>
                      <a:r>
                        <a:rPr sz="1100" b="0">
                          <a:solidFill>
                            <a:srgbClr val="1F3355"/>
                          </a:solidFill>
                          <a:latin typeface="Meiryo UI"/>
                        </a:rPr>
                        <a:t>5MB ダウンロード</a:t>
                      </a:r>
                    </a:p>
                  </a:txBody>
                  <a:tcPr>
                    <a:solidFill>
                      <a:srgbClr val="FFFFFF"/>
                    </a:solidFill>
                  </a:tcPr>
                </a:tc>
                <a:tc>
                  <a:txBody>
                    <a:bodyPr/>
                    <a:lstStyle/>
                    <a:p>
                      <a:pPr algn="l"/>
                      <a:r>
                        <a:rPr sz="1100" b="0">
                          <a:solidFill>
                            <a:srgbClr val="1F3355"/>
                          </a:solidFill>
                          <a:latin typeface="Meiryo UI"/>
                        </a:rPr>
                        <a:t>5,242,880 バイト / 1.15 秒</a:t>
                      </a:r>
                    </a:p>
                  </a:txBody>
                  <a:tcPr>
                    <a:solidFill>
                      <a:srgbClr val="FFFFFF"/>
                    </a:solidFill>
                  </a:tcPr>
                </a:tc>
                <a:tc>
                  <a:txBody>
                    <a:bodyPr/>
                    <a:lstStyle/>
                    <a:p>
                      <a:pPr algn="l"/>
                      <a:r>
                        <a:rPr sz="1100" b="0">
                          <a:solidFill>
                            <a:srgbClr val="1F3355"/>
                          </a:solidFill>
                          <a:latin typeface="Meiryo UI"/>
                        </a:rPr>
                        <a:t>MSS clamp が効いている (MTU ブラックホールなし)</a:t>
                      </a:r>
                    </a:p>
                  </a:txBody>
                  <a:tcPr>
                    <a:solidFill>
                      <a:srgbClr val="FFFFFF"/>
                    </a:solidFill>
                  </a:tcPr>
                </a:tc>
              </a:tr>
              <a:tr h="310896">
                <a:tc>
                  <a:txBody>
                    <a:bodyPr/>
                    <a:lstStyle/>
                    <a:p>
                      <a:pPr algn="l"/>
                      <a:r>
                        <a:rPr sz="1100" b="0">
                          <a:solidFill>
                            <a:srgbClr val="1F3355"/>
                          </a:solidFill>
                          <a:latin typeface="Meiryo UI"/>
                        </a:rPr>
                        <a:t>DNS</a:t>
                      </a:r>
                    </a:p>
                  </a:txBody>
                  <a:tcPr>
                    <a:solidFill>
                      <a:srgbClr val="F2F6FA"/>
                    </a:solidFill>
                  </a:tcPr>
                </a:tc>
                <a:tc>
                  <a:txBody>
                    <a:bodyPr/>
                    <a:lstStyle/>
                    <a:p>
                      <a:pPr algn="l"/>
                      <a:r>
                        <a:rPr sz="1100" b="0">
                          <a:solidFill>
                            <a:srgbClr val="1F3355"/>
                          </a:solidFill>
                          <a:latin typeface="Meiryo UI"/>
                        </a:rPr>
                        <a:t>A と AAAA を正しく応答</a:t>
                      </a:r>
                    </a:p>
                  </a:txBody>
                  <a:tcPr>
                    <a:solidFill>
                      <a:srgbClr val="F2F6FA"/>
                    </a:solidFill>
                  </a:tcPr>
                </a:tc>
                <a:tc>
                  <a:txBody>
                    <a:bodyPr/>
                    <a:lstStyle/>
                    <a:p>
                      <a:pPr algn="l"/>
                      <a:r>
                        <a:rPr sz="1100" b="0">
                          <a:solidFill>
                            <a:srgbClr val="1F3355"/>
                          </a:solidFill>
                          <a:latin typeface="Meiryo UI"/>
                        </a:rPr>
                        <a:t>ラボ DNS に到達している</a:t>
                      </a:r>
                    </a:p>
                  </a:txBody>
                  <a:tcPr>
                    <a:solidFill>
                      <a:srgbClr val="F2F6FA"/>
                    </a:solidFill>
                  </a:tcPr>
                </a:tc>
              </a:tr>
            </a:tbl>
          </a:graphicData>
        </a:graphic>
      </p:graphicFrame>
      <p:sp>
        <p:nvSpPr>
          <p:cNvPr id="4" name="TextBox 3"/>
          <p:cNvSpPr txBox="1"/>
          <p:nvPr/>
        </p:nvSpPr>
        <p:spPr>
          <a:xfrm>
            <a:off x="502920" y="3575304"/>
            <a:ext cx="11155680" cy="548640"/>
          </a:xfrm>
          <a:prstGeom prst="rect">
            <a:avLst/>
          </a:prstGeom>
          <a:noFill/>
        </p:spPr>
        <p:txBody>
          <a:bodyPr wrap="square">
            <a:spAutoFit/>
          </a:bodyPr>
          <a:lstStyle/>
          <a:p>
            <a:pPr algn="l"/>
            <a:r>
              <a:rPr sz="1200" b="0">
                <a:solidFill>
                  <a:srgbClr val="007ACC"/>
                </a:solidFill>
                <a:latin typeface="Meiryo UI"/>
              </a:rPr>
              <a:t>クライアントは実機 Windows 11。ip tcp adjust-mss 1420 を入れないと 5MB が完走しません</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892FJ で分かった「手順書に書いておかないと必ず詰まる」3 点</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1000"/>
              </a:spcAft>
            </a:pPr>
            <a:r>
              <a:rPr sz="2000" b="1">
                <a:solidFill>
                  <a:srgbClr val="1F3355"/>
                </a:solidFill>
                <a:latin typeface="Meiryo UI"/>
              </a:rPr>
              <a:t>① RA 方式でないと autoconfig は何も取れない</a:t>
            </a:r>
          </a:p>
          <a:p>
            <a:pPr lvl="1" algn="l">
              <a:spcAft>
                <a:spcPts val="600"/>
              </a:spcAft>
            </a:pPr>
            <a:r>
              <a:rPr sz="1700" b="0">
                <a:solidFill>
                  <a:srgbClr val="555555"/>
                </a:solidFill>
                <a:latin typeface="Meiryo UI"/>
              </a:rPr>
              <a:t>ひかり電話ありの構成 (PD 方式) では radvd がプレフィックスを配らない</a:t>
            </a:r>
          </a:p>
          <a:p>
            <a:pPr lvl="1" algn="l">
              <a:spcAft>
                <a:spcPts val="600"/>
              </a:spcAft>
            </a:pPr>
            <a:r>
              <a:rPr sz="1700" b="0">
                <a:solidFill>
                  <a:srgbClr val="555555"/>
                </a:solidFill>
                <a:latin typeface="Meiryo UI"/>
              </a:rPr>
              <a:t>症状: No global unicast address is configured。しかも RA 自体は届いている</a:t>
            </a:r>
          </a:p>
          <a:p>
            <a:pPr lvl="1" algn="l">
              <a:spcAft>
                <a:spcPts val="600"/>
              </a:spcAft>
            </a:pPr>
            <a:r>
              <a:rPr sz="1700" b="1">
                <a:solidFill>
                  <a:srgbClr val="C0392B"/>
                </a:solidFill>
                <a:latin typeface="Meiryo UI"/>
              </a:rPr>
              <a:t>→ RA は見えるのにアドレスが付かない。原因に辿り着けない詰まり方をする</a:t>
            </a:r>
          </a:p>
          <a:p>
            <a:pPr algn="l">
              <a:spcAft>
                <a:spcPts val="1000"/>
              </a:spcAft>
            </a:pPr>
            <a:r>
              <a:rPr sz="2000" b="1">
                <a:solidFill>
                  <a:srgbClr val="1F3355"/>
                </a:solidFill>
                <a:latin typeface="Meiryo UI"/>
              </a:rPr>
              <a:t>② classic IOS は MSS clamp が必須</a:t>
            </a:r>
          </a:p>
          <a:p>
            <a:pPr lvl="1" algn="l">
              <a:spcAft>
                <a:spcPts val="600"/>
              </a:spcAft>
            </a:pPr>
            <a:r>
              <a:rPr sz="1700" b="0">
                <a:solidFill>
                  <a:srgbClr val="555555"/>
                </a:solidFill>
                <a:latin typeface="Meiryo UI"/>
              </a:rPr>
              <a:t>ip tcp adjust-mss 1420 を入れないと、小さいページは見えるのに 5MB が止まる</a:t>
            </a:r>
          </a:p>
          <a:p>
            <a:pPr lvl="1" algn="l">
              <a:spcAft>
                <a:spcPts val="600"/>
              </a:spcAft>
            </a:pPr>
            <a:r>
              <a:rPr sz="1700" b="0">
                <a:solidFill>
                  <a:srgbClr val="555555"/>
                </a:solidFill>
                <a:latin typeface="Meiryo UI"/>
              </a:rPr>
              <a:t>「Web は見えるがファイルが落ちない」の正体はほぼこれです</a:t>
            </a:r>
          </a:p>
          <a:p>
            <a:pPr algn="l">
              <a:spcAft>
                <a:spcPts val="1000"/>
              </a:spcAft>
            </a:pPr>
            <a:r>
              <a:rPr sz="2000" b="1">
                <a:solidFill>
                  <a:srgbClr val="1F3355"/>
                </a:solidFill>
                <a:latin typeface="Meiryo UI"/>
              </a:rPr>
              <a:t>③ CPE が WAN 側にも RA を撒く</a:t>
            </a:r>
          </a:p>
          <a:p>
            <a:pPr lvl="1" algn="l">
              <a:spcAft>
                <a:spcPts val="600"/>
              </a:spcAft>
            </a:pPr>
            <a:r>
              <a:rPr sz="1700" b="0">
                <a:solidFill>
                  <a:srgbClr val="555555"/>
                </a:solidFill>
                <a:latin typeface="Meiryo UI"/>
              </a:rPr>
              <a:t>ipv6 unicast-routing を入れると、CPE 自身がアクセス網に RA を流し始める</a:t>
            </a:r>
          </a:p>
          <a:p>
            <a:pPr lvl="1" algn="l">
              <a:spcAft>
                <a:spcPts val="600"/>
              </a:spcAft>
            </a:pPr>
            <a:r>
              <a:rPr sz="1700" b="0">
                <a:solidFill>
                  <a:srgbClr val="555555"/>
                </a:solidFill>
                <a:latin typeface="Meiryo UI"/>
              </a:rPr>
              <a:t>実網でやると上流が CPE をルータとして学習する。ipv6 nd ra suppress all で止める</a:t>
            </a:r>
          </a:p>
          <a:p>
            <a:pPr lvl="1" algn="l">
              <a:spcAft>
                <a:spcPts val="600"/>
              </a:spcAft>
            </a:pPr>
            <a:r>
              <a:rPr sz="1700" b="1">
                <a:solidFill>
                  <a:srgbClr val="C0392B"/>
                </a:solidFill>
                <a:latin typeface="Meiryo UI"/>
              </a:rPr>
              <a:t>LAN 側には入れないこと。配下のクライアントが SLAAC できなくなります</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詳細: docs/ipoe-lab/runbook-vmware.md §8 (実機手順) / §9-M・§9-N (詰まったとき)</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MAP-E の計算は合っていたか(仮想ラボ・サイクル3)</a:t>
            </a:r>
          </a:p>
        </p:txBody>
      </p:sp>
      <p:graphicFrame>
        <p:nvGraphicFramePr>
          <p:cNvPr id="3" name="Table 2"/>
          <p:cNvGraphicFramePr>
            <a:graphicFrameLocks noGrp="1"/>
          </p:cNvGraphicFramePr>
          <p:nvPr/>
        </p:nvGraphicFramePr>
        <p:xfrm>
          <a:off x="502920" y="1143000"/>
          <a:ext cx="10972800" cy="1865376"/>
        </p:xfrm>
        <a:graphic>
          <a:graphicData uri="http://schemas.openxmlformats.org/drawingml/2006/table">
            <a:tbl>
              <a:tblPr>
                <a:tableStyleId>{5C22544A-7EE6-4342-B048-85BDC9FD1C3A}</a:tableStyleId>
              </a:tblPr>
              <a:tblGrid>
                <a:gridCol w="3108960"/>
                <a:gridCol w="3108960"/>
                <a:gridCol w="2743200"/>
                <a:gridCol w="2011680"/>
              </a:tblGrid>
              <a:tr h="310896">
                <a:tc>
                  <a:txBody>
                    <a:bodyPr/>
                    <a:lstStyle/>
                    <a:p>
                      <a:pPr algn="l"/>
                      <a:r>
                        <a:rPr sz="1300" b="1">
                          <a:solidFill>
                            <a:srgbClr val="FFFFFF"/>
                          </a:solidFill>
                          <a:latin typeface="Meiryo UI"/>
                        </a:rPr>
                        <a:t>項目</a:t>
                      </a:r>
                    </a:p>
                  </a:txBody>
                  <a:tcPr>
                    <a:solidFill>
                      <a:srgbClr val="1F3355"/>
                    </a:solidFill>
                  </a:tcPr>
                </a:tc>
                <a:tc>
                  <a:txBody>
                    <a:bodyPr/>
                    <a:lstStyle/>
                    <a:p>
                      <a:pPr algn="l"/>
                      <a:r>
                        <a:rPr sz="1300" b="1">
                          <a:solidFill>
                            <a:srgbClr val="FFFFFF"/>
                          </a:solidFill>
                          <a:latin typeface="Meiryo UI"/>
                        </a:rPr>
                        <a:t>計算で出した期待値</a:t>
                      </a:r>
                    </a:p>
                  </a:txBody>
                  <a:tcPr>
                    <a:solidFill>
                      <a:srgbClr val="1F3355"/>
                    </a:solidFill>
                  </a:tcPr>
                </a:tc>
                <a:tc>
                  <a:txBody>
                    <a:bodyPr/>
                    <a:lstStyle/>
                    <a:p>
                      <a:pPr algn="l"/>
                      <a:r>
                        <a:rPr sz="1300" b="1">
                          <a:solidFill>
                            <a:srgbClr val="FFFFFF"/>
                          </a:solidFill>
                          <a:latin typeface="Meiryo UI"/>
                        </a:rPr>
                        <a:t>実測</a:t>
                      </a:r>
                    </a:p>
                  </a:txBody>
                  <a:tcPr>
                    <a:solidFill>
                      <a:srgbClr val="1F3355"/>
                    </a:solidFill>
                  </a:tcPr>
                </a:tc>
                <a:tc>
                  <a:txBody>
                    <a:bodyPr/>
                    <a:lstStyle/>
                    <a:p>
                      <a:pPr algn="l"/>
                      <a:r>
                        <a:rPr sz="1300" b="1">
                          <a:solidFill>
                            <a:srgbClr val="FFFFFF"/>
                          </a:solidFill>
                          <a:latin typeface="Meiryo UI"/>
                        </a:rPr>
                        <a:t>判定</a:t>
                      </a:r>
                    </a:p>
                  </a:txBody>
                  <a:tcPr>
                    <a:solidFill>
                      <a:srgbClr val="1F3355"/>
                    </a:solidFill>
                  </a:tcPr>
                </a:tc>
              </a:tr>
              <a:tr h="310896">
                <a:tc>
                  <a:txBody>
                    <a:bodyPr/>
                    <a:lstStyle/>
                    <a:p>
                      <a:pPr algn="l"/>
                      <a:r>
                        <a:rPr sz="1200" b="0">
                          <a:solidFill>
                            <a:srgbClr val="1F3355"/>
                          </a:solidFill>
                          <a:latin typeface="Meiryo UI"/>
                        </a:rPr>
                        <a:t>共有 IPv4 アドレス</a:t>
                      </a:r>
                    </a:p>
                  </a:txBody>
                  <a:tcPr>
                    <a:solidFill>
                      <a:srgbClr val="FFFFFF"/>
                    </a:solidFill>
                  </a:tcPr>
                </a:tc>
                <a:tc>
                  <a:txBody>
                    <a:bodyPr/>
                    <a:lstStyle/>
                    <a:p>
                      <a:pPr algn="l"/>
                      <a:r>
                        <a:rPr sz="1200" b="0">
                          <a:solidFill>
                            <a:srgbClr val="1F3355"/>
                          </a:solidFill>
                          <a:latin typeface="Meiryo UI"/>
                        </a:rPr>
                        <a:t>198.51.100.10</a:t>
                      </a:r>
                    </a:p>
                  </a:txBody>
                  <a:tcPr>
                    <a:solidFill>
                      <a:srgbClr val="FFFFFF"/>
                    </a:solidFill>
                  </a:tcPr>
                </a:tc>
                <a:tc>
                  <a:txBody>
                    <a:bodyPr/>
                    <a:lstStyle/>
                    <a:p>
                      <a:pPr algn="l"/>
                      <a:r>
                        <a:rPr sz="1200" b="0">
                          <a:solidFill>
                            <a:srgbClr val="1F3355"/>
                          </a:solidFill>
                          <a:latin typeface="Meiryo UI"/>
                        </a:rPr>
                        <a:t>198.51.100.10</a:t>
                      </a:r>
                    </a:p>
                  </a:txBody>
                  <a:tcPr>
                    <a:solidFill>
                      <a:srgbClr val="FFFFFF"/>
                    </a:solidFill>
                  </a:tcPr>
                </a:tc>
                <a:tc>
                  <a:txBody>
                    <a:bodyPr/>
                    <a:lstStyle/>
                    <a:p>
                      <a:pPr algn="l"/>
                      <a:r>
                        <a:rPr sz="1200" b="0">
                          <a:solidFill>
                            <a:srgbClr val="1F3355"/>
                          </a:solidFill>
                          <a:latin typeface="Meiryo UI"/>
                        </a:rPr>
                        <a:t>一致</a:t>
                      </a:r>
                    </a:p>
                  </a:txBody>
                  <a:tcPr>
                    <a:solidFill>
                      <a:srgbClr val="FFFFFF"/>
                    </a:solidFill>
                  </a:tcPr>
                </a:tc>
              </a:tr>
              <a:tr h="310896">
                <a:tc>
                  <a:txBody>
                    <a:bodyPr/>
                    <a:lstStyle/>
                    <a:p>
                      <a:pPr algn="l"/>
                      <a:r>
                        <a:rPr sz="1200" b="0">
                          <a:solidFill>
                            <a:srgbClr val="1F3355"/>
                          </a:solidFill>
                          <a:latin typeface="Meiryo UI"/>
                        </a:rPr>
                        <a:t>PSID</a:t>
                      </a:r>
                    </a:p>
                  </a:txBody>
                  <a:tcPr>
                    <a:solidFill>
                      <a:srgbClr val="F2F6FA"/>
                    </a:solidFill>
                  </a:tcPr>
                </a:tc>
                <a:tc>
                  <a:txBody>
                    <a:bodyPr/>
                    <a:lstStyle/>
                    <a:p>
                      <a:pPr algn="l"/>
                      <a:r>
                        <a:rPr sz="1200" b="0">
                          <a:solidFill>
                            <a:srgbClr val="1F3355"/>
                          </a:solidFill>
                          <a:latin typeface="Meiryo UI"/>
                        </a:rPr>
                        <a:t>5</a:t>
                      </a:r>
                    </a:p>
                  </a:txBody>
                  <a:tcPr>
                    <a:solidFill>
                      <a:srgbClr val="F2F6FA"/>
                    </a:solidFill>
                  </a:tcPr>
                </a:tc>
                <a:tc>
                  <a:txBody>
                    <a:bodyPr/>
                    <a:lstStyle/>
                    <a:p>
                      <a:pPr algn="l"/>
                      <a:r>
                        <a:rPr sz="1200" b="0">
                          <a:solidFill>
                            <a:srgbClr val="1F3355"/>
                          </a:solidFill>
                          <a:latin typeface="Meiryo UI"/>
                        </a:rPr>
                        <a:t>5</a:t>
                      </a:r>
                    </a:p>
                  </a:txBody>
                  <a:tcPr>
                    <a:solidFill>
                      <a:srgbClr val="F2F6FA"/>
                    </a:solidFill>
                  </a:tcPr>
                </a:tc>
                <a:tc>
                  <a:txBody>
                    <a:bodyPr/>
                    <a:lstStyle/>
                    <a:p>
                      <a:pPr algn="l"/>
                      <a:r>
                        <a:rPr sz="1200" b="0">
                          <a:solidFill>
                            <a:srgbClr val="1F3355"/>
                          </a:solidFill>
                          <a:latin typeface="Meiryo UI"/>
                        </a:rPr>
                        <a:t>一致</a:t>
                      </a:r>
                    </a:p>
                  </a:txBody>
                  <a:tcPr>
                    <a:solidFill>
                      <a:srgbClr val="F2F6FA"/>
                    </a:solidFill>
                  </a:tcPr>
                </a:tc>
              </a:tr>
              <a:tr h="310896">
                <a:tc>
                  <a:txBody>
                    <a:bodyPr/>
                    <a:lstStyle/>
                    <a:p>
                      <a:pPr algn="l"/>
                      <a:r>
                        <a:rPr sz="1200" b="0">
                          <a:solidFill>
                            <a:srgbClr val="1F3355"/>
                          </a:solidFill>
                          <a:latin typeface="Meiryo UI"/>
                        </a:rPr>
                        <a:t>使える先頭ポートブロック</a:t>
                      </a:r>
                    </a:p>
                  </a:txBody>
                  <a:tcPr>
                    <a:solidFill>
                      <a:srgbClr val="FFFFFF"/>
                    </a:solidFill>
                  </a:tcPr>
                </a:tc>
                <a:tc>
                  <a:txBody>
                    <a:bodyPr/>
                    <a:lstStyle/>
                    <a:p>
                      <a:pPr algn="l"/>
                      <a:r>
                        <a:rPr sz="1200" b="0">
                          <a:solidFill>
                            <a:srgbClr val="1F3355"/>
                          </a:solidFill>
                          <a:latin typeface="Meiryo UI"/>
                        </a:rPr>
                        <a:t>4176 - 4191</a:t>
                      </a:r>
                    </a:p>
                  </a:txBody>
                  <a:tcPr>
                    <a:solidFill>
                      <a:srgbClr val="FFFFFF"/>
                    </a:solidFill>
                  </a:tcPr>
                </a:tc>
                <a:tc>
                  <a:txBody>
                    <a:bodyPr/>
                    <a:lstStyle/>
                    <a:p>
                      <a:pPr algn="l"/>
                      <a:r>
                        <a:rPr sz="1200" b="0">
                          <a:solidFill>
                            <a:srgbClr val="1F3355"/>
                          </a:solidFill>
                          <a:latin typeface="Meiryo UI"/>
                        </a:rPr>
                        <a:t>4176 - 4191</a:t>
                      </a:r>
                    </a:p>
                  </a:txBody>
                  <a:tcPr>
                    <a:solidFill>
                      <a:srgbClr val="FFFFFF"/>
                    </a:solidFill>
                  </a:tcPr>
                </a:tc>
                <a:tc>
                  <a:txBody>
                    <a:bodyPr/>
                    <a:lstStyle/>
                    <a:p>
                      <a:pPr algn="l"/>
                      <a:r>
                        <a:rPr sz="1200" b="0">
                          <a:solidFill>
                            <a:srgbClr val="1F3355"/>
                          </a:solidFill>
                          <a:latin typeface="Meiryo UI"/>
                        </a:rPr>
                        <a:t>一致</a:t>
                      </a:r>
                    </a:p>
                  </a:txBody>
                  <a:tcPr>
                    <a:solidFill>
                      <a:srgbClr val="FFFFFF"/>
                    </a:solidFill>
                  </a:tcPr>
                </a:tc>
              </a:tr>
              <a:tr h="310896">
                <a:tc>
                  <a:txBody>
                    <a:bodyPr/>
                    <a:lstStyle/>
                    <a:p>
                      <a:pPr algn="l"/>
                      <a:r>
                        <a:rPr sz="1200" b="0">
                          <a:solidFill>
                            <a:srgbClr val="1F3355"/>
                          </a:solidFill>
                          <a:latin typeface="Meiryo UI"/>
                        </a:rPr>
                        <a:t>ポート総数 (設計値)</a:t>
                      </a:r>
                    </a:p>
                  </a:txBody>
                  <a:tcPr>
                    <a:solidFill>
                      <a:srgbClr val="F2F6FA"/>
                    </a:solidFill>
                  </a:tcPr>
                </a:tc>
                <a:tc>
                  <a:txBody>
                    <a:bodyPr/>
                    <a:lstStyle/>
                    <a:p>
                      <a:pPr algn="l"/>
                      <a:r>
                        <a:rPr sz="1200" b="0">
                          <a:solidFill>
                            <a:srgbClr val="1F3355"/>
                          </a:solidFill>
                          <a:latin typeface="Meiryo UI"/>
                        </a:rPr>
                        <a:t>15 ブロック × 16 = 240</a:t>
                      </a:r>
                    </a:p>
                  </a:txBody>
                  <a:tcPr>
                    <a:solidFill>
                      <a:srgbClr val="F2F6FA"/>
                    </a:solidFill>
                  </a:tcPr>
                </a:tc>
                <a:tc>
                  <a:txBody>
                    <a:bodyPr/>
                    <a:lstStyle/>
                    <a:p>
                      <a:pPr algn="l"/>
                      <a:r>
                        <a:rPr sz="1200" b="0">
                          <a:solidFill>
                            <a:srgbClr val="1F3355"/>
                          </a:solidFill>
                          <a:latin typeface="Meiryo UI"/>
                        </a:rPr>
                        <a:t>実効 16 (OpenWrt の癖)</a:t>
                      </a:r>
                    </a:p>
                  </a:txBody>
                  <a:tcPr>
                    <a:solidFill>
                      <a:srgbClr val="F2F6FA"/>
                    </a:solidFill>
                  </a:tcPr>
                </a:tc>
                <a:tc>
                  <a:txBody>
                    <a:bodyPr/>
                    <a:lstStyle/>
                    <a:p>
                      <a:pPr algn="l"/>
                      <a:r>
                        <a:rPr sz="1200" b="0">
                          <a:solidFill>
                            <a:srgbClr val="1F3355"/>
                          </a:solidFill>
                          <a:latin typeface="Meiryo UI"/>
                        </a:rPr>
                        <a:t>要注意</a:t>
                      </a:r>
                    </a:p>
                  </a:txBody>
                  <a:tcPr>
                    <a:solidFill>
                      <a:srgbClr val="F2F6FA"/>
                    </a:solidFill>
                  </a:tcPr>
                </a:tc>
              </a:tr>
              <a:tr h="310896">
                <a:tc>
                  <a:txBody>
                    <a:bodyPr/>
                    <a:lstStyle/>
                    <a:p>
                      <a:pPr algn="l"/>
                      <a:r>
                        <a:rPr sz="1200" b="0">
                          <a:solidFill>
                            <a:srgbClr val="1F3355"/>
                          </a:solidFill>
                          <a:latin typeface="Meiryo UI"/>
                        </a:rPr>
                        <a:t>MTU</a:t>
                      </a:r>
                    </a:p>
                  </a:txBody>
                  <a:tcPr>
                    <a:solidFill>
                      <a:srgbClr val="FFFFFF"/>
                    </a:solidFill>
                  </a:tcPr>
                </a:tc>
                <a:tc>
                  <a:txBody>
                    <a:bodyPr/>
                    <a:lstStyle/>
                    <a:p>
                      <a:pPr algn="l"/>
                      <a:r>
                        <a:rPr sz="1200" b="0">
                          <a:solidFill>
                            <a:srgbClr val="1F3355"/>
                          </a:solidFill>
                          <a:latin typeface="Meiryo UI"/>
                        </a:rPr>
                        <a:t>1460</a:t>
                      </a:r>
                    </a:p>
                  </a:txBody>
                  <a:tcPr>
                    <a:solidFill>
                      <a:srgbClr val="FFFFFF"/>
                    </a:solidFill>
                  </a:tcPr>
                </a:tc>
                <a:tc>
                  <a:txBody>
                    <a:bodyPr/>
                    <a:lstStyle/>
                    <a:p>
                      <a:pPr algn="l"/>
                      <a:r>
                        <a:rPr sz="1200" b="0">
                          <a:solidFill>
                            <a:srgbClr val="1F3355"/>
                          </a:solidFill>
                          <a:latin typeface="Meiryo UI"/>
                        </a:rPr>
                        <a:t>1460</a:t>
                      </a:r>
                    </a:p>
                  </a:txBody>
                  <a:tcPr>
                    <a:solidFill>
                      <a:srgbClr val="FFFFFF"/>
                    </a:solidFill>
                  </a:tcPr>
                </a:tc>
                <a:tc>
                  <a:txBody>
                    <a:bodyPr/>
                    <a:lstStyle/>
                    <a:p>
                      <a:pPr algn="l"/>
                      <a:r>
                        <a:rPr sz="1200" b="0">
                          <a:solidFill>
                            <a:srgbClr val="1F3355"/>
                          </a:solidFill>
                          <a:latin typeface="Meiryo UI"/>
                        </a:rPr>
                        <a:t>一致</a:t>
                      </a:r>
                    </a:p>
                  </a:txBody>
                  <a:tcPr>
                    <a:solidFill>
                      <a:srgbClr val="FFFFFF"/>
                    </a:solidFill>
                  </a:tcPr>
                </a:tc>
              </a:tr>
            </a:tbl>
          </a:graphicData>
        </a:graphic>
      </p:graphicFrame>
      <p:sp>
        <p:nvSpPr>
          <p:cNvPr id="4" name="TextBox 3"/>
          <p:cNvSpPr txBox="1"/>
          <p:nvPr/>
        </p:nvSpPr>
        <p:spPr>
          <a:xfrm>
            <a:off x="502920" y="3264408"/>
            <a:ext cx="11155680" cy="548640"/>
          </a:xfrm>
          <a:prstGeom prst="rect">
            <a:avLst/>
          </a:prstGeom>
          <a:noFill/>
        </p:spPr>
        <p:txBody>
          <a:bodyPr wrap="square">
            <a:spAutoFit/>
          </a:bodyPr>
          <a:lstStyle/>
          <a:p>
            <a:pPr algn="l"/>
            <a:r>
              <a:rPr sz="1200" b="0">
                <a:solidFill>
                  <a:srgbClr val="007ACC"/>
                </a:solidFill>
                <a:latin typeface="Meiryo UI"/>
              </a:rPr>
              <a:t>計算どおりに出ます。ただしポート総数だけは CPE の実装に左右されます(次ページ)</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Cisco 実装 (IOS XE) で 240 ポートを数えたかった — CML で試した結果</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1">
                <a:solidFill>
                  <a:srgbClr val="1F3355"/>
                </a:solidFill>
                <a:latin typeface="Meiryo UI"/>
              </a:rPr>
              <a:t>なぜやったか</a:t>
            </a:r>
          </a:p>
          <a:p>
            <a:pPr lvl="1" algn="l">
              <a:spcAft>
                <a:spcPts val="600"/>
              </a:spcAft>
            </a:pPr>
            <a:r>
              <a:rPr sz="1700" b="0">
                <a:solidFill>
                  <a:srgbClr val="555555"/>
                </a:solidFill>
                <a:latin typeface="Meiryo UI"/>
              </a:rPr>
              <a:t>仮想ラボの OpenWrt では、設計 240 ポートに対し実効 16 しか使えなかった</a:t>
            </a:r>
          </a:p>
          <a:p>
            <a:pPr lvl="1" algn="l">
              <a:spcAft>
                <a:spcPts val="600"/>
              </a:spcAft>
            </a:pPr>
            <a:r>
              <a:rPr sz="1700" b="0">
                <a:solidFill>
                  <a:srgbClr val="555555"/>
                </a:solidFill>
                <a:latin typeface="Meiryo UI"/>
              </a:rPr>
              <a:t>OpenWrt 固有の癖なのか、MAP-E 一般の話なのかが分からないままだった</a:t>
            </a:r>
          </a:p>
          <a:p>
            <a:pPr lvl="1" algn="l">
              <a:spcAft>
                <a:spcPts val="600"/>
              </a:spcAft>
            </a:pPr>
            <a:r>
              <a:rPr sz="1700" b="0">
                <a:solidFill>
                  <a:srgbClr val="555555"/>
                </a:solidFill>
                <a:latin typeface="Meiryo UI"/>
              </a:rPr>
              <a:t>892FJ は classic IOS で MAP-E 非対応 → CML の Cat8000v (IOS XE 17.15.01a) で確認</a:t>
            </a:r>
          </a:p>
          <a:p>
            <a:pPr algn="l">
              <a:spcAft>
                <a:spcPts val="1000"/>
              </a:spcAft>
            </a:pPr>
            <a:r>
              <a:rPr sz="2000" b="1">
                <a:solidFill>
                  <a:srgbClr val="1F3355"/>
                </a:solidFill>
                <a:latin typeface="Meiryo UI"/>
              </a:rPr>
              <a:t>組んだ構成 (CML 上に 3 ノード)</a:t>
            </a:r>
          </a:p>
          <a:p>
            <a:pPr lvl="1" algn="l">
              <a:spcAft>
                <a:spcPts val="600"/>
              </a:spcAft>
            </a:pPr>
            <a:r>
              <a:rPr sz="1700" b="0">
                <a:solidFill>
                  <a:srgbClr val="555555"/>
                </a:solidFill>
                <a:latin typeface="Meiryo UI"/>
              </a:rPr>
              <a:t>client (Ubuntu) — Cat8000v (MAP-E CE) — BR 役 (Ubuntu)</a:t>
            </a:r>
          </a:p>
          <a:p>
            <a:pPr lvl="1" algn="l">
              <a:spcAft>
                <a:spcPts val="600"/>
              </a:spcAft>
            </a:pPr>
            <a:r>
              <a:rPr sz="1700" b="0">
                <a:solidFill>
                  <a:srgbClr val="555555"/>
                </a:solidFill>
                <a:latin typeface="Meiryo UI"/>
              </a:rPr>
              <a:t>クライアントから送信元ポートを 400 個ばらけさせて UDP を撃ち、</a:t>
            </a:r>
          </a:p>
          <a:p>
            <a:pPr lvl="1" algn="l">
              <a:spcAft>
                <a:spcPts val="600"/>
              </a:spcAft>
            </a:pPr>
            <a:r>
              <a:rPr sz="1700" b="0">
                <a:solidFill>
                  <a:srgbClr val="555555"/>
                </a:solidFill>
                <a:latin typeface="Meiryo UI"/>
              </a:rPr>
              <a:t>WAN 側リンクをキャプチャして「実際に何個の外側ポートが使われたか」を数える計画</a:t>
            </a:r>
          </a:p>
          <a:p>
            <a:pPr algn="l">
              <a:spcAft>
                <a:spcPts val="1000"/>
              </a:spcAft>
            </a:pPr>
            <a:r>
              <a:rPr sz="2000" b="1">
                <a:solidFill>
                  <a:srgbClr val="C0392B"/>
                </a:solidFill>
                <a:latin typeface="Meiryo UI"/>
              </a:rPr>
              <a:t>結果: 数えられませんでした。ただし別のことが 2 つ分かりました</a:t>
            </a:r>
          </a:p>
          <a:p>
            <a:pPr lvl="1" algn="l">
              <a:spcAft>
                <a:spcPts val="600"/>
              </a:spcAft>
            </a:pPr>
            <a:r>
              <a:rPr sz="1700" b="0">
                <a:solidFill>
                  <a:srgbClr val="555555"/>
                </a:solidFill>
                <a:latin typeface="Meiryo UI"/>
              </a:rPr>
              <a:t>① MAP-E の設定構文と、IOS XE が導出する値は設計と完全一致した</a:t>
            </a:r>
          </a:p>
          <a:p>
            <a:pPr lvl="1" algn="l">
              <a:spcAft>
                <a:spcPts val="600"/>
              </a:spcAft>
            </a:pPr>
            <a:r>
              <a:rPr sz="1700" b="0">
                <a:solidFill>
                  <a:srgbClr val="555555"/>
                </a:solidFill>
                <a:latin typeface="Meiryo UI"/>
              </a:rPr>
              <a:t>② その設定を入れるとデータプレーンが落ちてルータが再起動する</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① IOS XE の MAP-E 設定 — 構文と導出値は設計どおりだった</a:t>
            </a:r>
          </a:p>
        </p:txBody>
      </p:sp>
      <p:graphicFrame>
        <p:nvGraphicFramePr>
          <p:cNvPr id="3" name="Table 2"/>
          <p:cNvGraphicFramePr>
            <a:graphicFrameLocks noGrp="1"/>
          </p:cNvGraphicFramePr>
          <p:nvPr/>
        </p:nvGraphicFramePr>
        <p:xfrm>
          <a:off x="502920" y="1143000"/>
          <a:ext cx="10972800" cy="2176272"/>
        </p:xfrm>
        <a:graphic>
          <a:graphicData uri="http://schemas.openxmlformats.org/drawingml/2006/table">
            <a:tbl>
              <a:tblPr>
                <a:tableStyleId>{5C22544A-7EE6-4342-B048-85BDC9FD1C3A}</a:tableStyleId>
              </a:tblPr>
              <a:tblGrid>
                <a:gridCol w="2377440"/>
                <a:gridCol w="2560320"/>
                <a:gridCol w="3108960"/>
                <a:gridCol w="2926080"/>
              </a:tblGrid>
              <a:tr h="310896">
                <a:tc>
                  <a:txBody>
                    <a:bodyPr/>
                    <a:lstStyle/>
                    <a:p>
                      <a:pPr algn="l"/>
                      <a:r>
                        <a:rPr sz="1300" b="1">
                          <a:solidFill>
                            <a:srgbClr val="FFFFFF"/>
                          </a:solidFill>
                          <a:latin typeface="Meiryo UI"/>
                        </a:rPr>
                        <a:t>項目</a:t>
                      </a:r>
                    </a:p>
                  </a:txBody>
                  <a:tcPr>
                    <a:solidFill>
                      <a:srgbClr val="1F3355"/>
                    </a:solidFill>
                  </a:tcPr>
                </a:tc>
                <a:tc>
                  <a:txBody>
                    <a:bodyPr/>
                    <a:lstStyle/>
                    <a:p>
                      <a:pPr algn="l"/>
                      <a:r>
                        <a:rPr sz="1300" b="1">
                          <a:solidFill>
                            <a:srgbClr val="FFFFFF"/>
                          </a:solidFill>
                          <a:latin typeface="Meiryo UI"/>
                        </a:rPr>
                        <a:t>こちらが与えた値</a:t>
                      </a:r>
                    </a:p>
                  </a:txBody>
                  <a:tcPr>
                    <a:solidFill>
                      <a:srgbClr val="1F3355"/>
                    </a:solidFill>
                  </a:tcPr>
                </a:tc>
                <a:tc>
                  <a:txBody>
                    <a:bodyPr/>
                    <a:lstStyle/>
                    <a:p>
                      <a:pPr algn="l"/>
                      <a:r>
                        <a:rPr sz="1300" b="1">
                          <a:solidFill>
                            <a:srgbClr val="FFFFFF"/>
                          </a:solidFill>
                          <a:latin typeface="Meiryo UI"/>
                        </a:rPr>
                        <a:t>IOS XE が導出した値</a:t>
                      </a:r>
                    </a:p>
                  </a:txBody>
                  <a:tcPr>
                    <a:solidFill>
                      <a:srgbClr val="1F3355"/>
                    </a:solidFill>
                  </a:tcPr>
                </a:tc>
                <a:tc>
                  <a:txBody>
                    <a:bodyPr/>
                    <a:lstStyle/>
                    <a:p>
                      <a:pPr algn="l"/>
                      <a:r>
                        <a:rPr sz="1300" b="1">
                          <a:solidFill>
                            <a:srgbClr val="FFFFFF"/>
                          </a:solidFill>
                          <a:latin typeface="Meiryo UI"/>
                        </a:rPr>
                        <a:t>設計値との一致</a:t>
                      </a:r>
                    </a:p>
                  </a:txBody>
                  <a:tcPr>
                    <a:solidFill>
                      <a:srgbClr val="1F3355"/>
                    </a:solidFill>
                  </a:tcPr>
                </a:tc>
              </a:tr>
              <a:tr h="310896">
                <a:tc>
                  <a:txBody>
                    <a:bodyPr/>
                    <a:lstStyle/>
                    <a:p>
                      <a:pPr algn="l"/>
                      <a:r>
                        <a:rPr sz="1200" b="0">
                          <a:solidFill>
                            <a:srgbClr val="1F3355"/>
                          </a:solidFill>
                          <a:latin typeface="Meiryo UI"/>
                        </a:rPr>
                        <a:t>share-ratio</a:t>
                      </a:r>
                    </a:p>
                  </a:txBody>
                  <a:tcPr>
                    <a:solidFill>
                      <a:srgbClr val="FFFFFF"/>
                    </a:solidFill>
                  </a:tcPr>
                </a:tc>
                <a:tc>
                  <a:txBody>
                    <a:bodyPr/>
                    <a:lstStyle/>
                    <a:p>
                      <a:pPr algn="l"/>
                      <a:r>
                        <a:rPr sz="1200" b="0">
                          <a:solidFill>
                            <a:srgbClr val="1F3355"/>
                          </a:solidFill>
                          <a:latin typeface="Meiryo UI"/>
                        </a:rPr>
                        <a:t>256 (明示)</a:t>
                      </a:r>
                    </a:p>
                  </a:txBody>
                  <a:tcPr>
                    <a:solidFill>
                      <a:srgbClr val="FFFFFF"/>
                    </a:solidFill>
                  </a:tcPr>
                </a:tc>
                <a:tc>
                  <a:txBody>
                    <a:bodyPr/>
                    <a:lstStyle/>
                    <a:p>
                      <a:pPr algn="l"/>
                      <a:r>
                        <a:rPr sz="1200" b="0">
                          <a:solidFill>
                            <a:srgbClr val="1F3355"/>
                          </a:solidFill>
                          <a:latin typeface="Meiryo UI"/>
                        </a:rPr>
                        <a:t>Share-ratio 256 / bits 8</a:t>
                      </a:r>
                    </a:p>
                  </a:txBody>
                  <a:tcPr>
                    <a:solidFill>
                      <a:srgbClr val="FFFFFF"/>
                    </a:solidFill>
                  </a:tcPr>
                </a:tc>
                <a:tc>
                  <a:txBody>
                    <a:bodyPr/>
                    <a:lstStyle/>
                    <a:p>
                      <a:pPr algn="l"/>
                      <a:r>
                        <a:rPr sz="1200" b="0">
                          <a:solidFill>
                            <a:srgbClr val="1F3355"/>
                          </a:solidFill>
                          <a:latin typeface="Meiryo UI"/>
                        </a:rPr>
                        <a:t>一致 (PSID 長 8 ビット)</a:t>
                      </a:r>
                    </a:p>
                  </a:txBody>
                  <a:tcPr>
                    <a:solidFill>
                      <a:srgbClr val="FFFFFF"/>
                    </a:solidFill>
                  </a:tcPr>
                </a:tc>
              </a:tr>
              <a:tr h="310896">
                <a:tc>
                  <a:txBody>
                    <a:bodyPr/>
                    <a:lstStyle/>
                    <a:p>
                      <a:pPr algn="l"/>
                      <a:r>
                        <a:rPr sz="1200" b="0">
                          <a:solidFill>
                            <a:srgbClr val="1F3355"/>
                          </a:solidFill>
                          <a:latin typeface="Meiryo UI"/>
                        </a:rPr>
                        <a:t>start-port</a:t>
                      </a:r>
                    </a:p>
                  </a:txBody>
                  <a:tcPr>
                    <a:solidFill>
                      <a:srgbClr val="F2F6FA"/>
                    </a:solidFill>
                  </a:tcPr>
                </a:tc>
                <a:tc>
                  <a:txBody>
                    <a:bodyPr/>
                    <a:lstStyle/>
                    <a:p>
                      <a:pPr algn="l"/>
                      <a:r>
                        <a:rPr sz="1200" b="0">
                          <a:solidFill>
                            <a:srgbClr val="1F3355"/>
                          </a:solidFill>
                          <a:latin typeface="Meiryo UI"/>
                        </a:rPr>
                        <a:t>4096 (明示)</a:t>
                      </a:r>
                    </a:p>
                  </a:txBody>
                  <a:tcPr>
                    <a:solidFill>
                      <a:srgbClr val="F2F6FA"/>
                    </a:solidFill>
                  </a:tcPr>
                </a:tc>
                <a:tc>
                  <a:txBody>
                    <a:bodyPr/>
                    <a:lstStyle/>
                    <a:p>
                      <a:pPr algn="l"/>
                      <a:r>
                        <a:rPr sz="1200" b="0">
                          <a:solidFill>
                            <a:srgbClr val="1F3355"/>
                          </a:solidFill>
                          <a:latin typeface="Meiryo UI"/>
                        </a:rPr>
                        <a:t>Start-port 4096</a:t>
                      </a:r>
                    </a:p>
                  </a:txBody>
                  <a:tcPr>
                    <a:solidFill>
                      <a:srgbClr val="F2F6FA"/>
                    </a:solidFill>
                  </a:tcPr>
                </a:tc>
                <a:tc>
                  <a:txBody>
                    <a:bodyPr/>
                    <a:lstStyle/>
                    <a:p>
                      <a:pPr algn="l"/>
                      <a:r>
                        <a:rPr sz="1200" b="0">
                          <a:solidFill>
                            <a:srgbClr val="1F3355"/>
                          </a:solidFill>
                          <a:latin typeface="Meiryo UI"/>
                        </a:rPr>
                        <a:t>一致</a:t>
                      </a:r>
                    </a:p>
                  </a:txBody>
                  <a:tcPr>
                    <a:solidFill>
                      <a:srgbClr val="F2F6FA"/>
                    </a:solidFill>
                  </a:tcPr>
                </a:tc>
              </a:tr>
              <a:tr h="310896">
                <a:tc>
                  <a:txBody>
                    <a:bodyPr/>
                    <a:lstStyle/>
                    <a:p>
                      <a:pPr algn="l"/>
                      <a:r>
                        <a:rPr sz="1200" b="0">
                          <a:solidFill>
                            <a:srgbClr val="1F3355"/>
                          </a:solidFill>
                          <a:latin typeface="Meiryo UI"/>
                        </a:rPr>
                        <a:t>contiguous-ports</a:t>
                      </a:r>
                    </a:p>
                  </a:txBody>
                  <a:tcPr>
                    <a:solidFill>
                      <a:srgbClr val="FFFFFF"/>
                    </a:solidFill>
                  </a:tcPr>
                </a:tc>
                <a:tc>
                  <a:txBody>
                    <a:bodyPr/>
                    <a:lstStyle/>
                    <a:p>
                      <a:pPr algn="l"/>
                      <a:r>
                        <a:rPr sz="1200" b="0">
                          <a:solidFill>
                            <a:srgbClr val="1F3355"/>
                          </a:solidFill>
                          <a:latin typeface="Meiryo UI"/>
                        </a:rPr>
                        <a:t>与えていない</a:t>
                      </a:r>
                    </a:p>
                  </a:txBody>
                  <a:tcPr>
                    <a:solidFill>
                      <a:srgbClr val="FFFFFF"/>
                    </a:solidFill>
                  </a:tcPr>
                </a:tc>
                <a:tc>
                  <a:txBody>
                    <a:bodyPr/>
                    <a:lstStyle/>
                    <a:p>
                      <a:pPr algn="l"/>
                      <a:r>
                        <a:rPr sz="1200" b="0">
                          <a:solidFill>
                            <a:srgbClr val="1F3355"/>
                          </a:solidFill>
                          <a:latin typeface="Meiryo UI"/>
                        </a:rPr>
                        <a:t>Contiguous-ports 16 / bits 4</a:t>
                      </a:r>
                    </a:p>
                  </a:txBody>
                  <a:tcPr>
                    <a:solidFill>
                      <a:srgbClr val="FFFFFF"/>
                    </a:solidFill>
                  </a:tcPr>
                </a:tc>
                <a:tc>
                  <a:txBody>
                    <a:bodyPr/>
                    <a:lstStyle/>
                    <a:p>
                      <a:pPr algn="l"/>
                      <a:r>
                        <a:rPr sz="1200" b="0">
                          <a:solidFill>
                            <a:srgbClr val="1F3355"/>
                          </a:solidFill>
                          <a:latin typeface="Meiryo UI"/>
                        </a:rPr>
                        <a:t>一致 (自動導出)</a:t>
                      </a:r>
                    </a:p>
                  </a:txBody>
                  <a:tcPr>
                    <a:solidFill>
                      <a:srgbClr val="FFFFFF"/>
                    </a:solidFill>
                  </a:tcPr>
                </a:tc>
              </a:tr>
              <a:tr h="310896">
                <a:tc>
                  <a:txBody>
                    <a:bodyPr/>
                    <a:lstStyle/>
                    <a:p>
                      <a:pPr algn="l"/>
                      <a:r>
                        <a:rPr sz="1200" b="0">
                          <a:solidFill>
                            <a:srgbClr val="1F3355"/>
                          </a:solidFill>
                          <a:latin typeface="Meiryo UI"/>
                        </a:rPr>
                        <a:t>port-offset-bits</a:t>
                      </a:r>
                    </a:p>
                  </a:txBody>
                  <a:tcPr>
                    <a:solidFill>
                      <a:srgbClr val="F2F6FA"/>
                    </a:solidFill>
                  </a:tcPr>
                </a:tc>
                <a:tc>
                  <a:txBody>
                    <a:bodyPr/>
                    <a:lstStyle/>
                    <a:p>
                      <a:pPr algn="l"/>
                      <a:r>
                        <a:rPr sz="1200" b="0">
                          <a:solidFill>
                            <a:srgbClr val="1F3355"/>
                          </a:solidFill>
                          <a:latin typeface="Meiryo UI"/>
                        </a:rPr>
                        <a:t>与えていない</a:t>
                      </a:r>
                    </a:p>
                  </a:txBody>
                  <a:tcPr>
                    <a:solidFill>
                      <a:srgbClr val="F2F6FA"/>
                    </a:solidFill>
                  </a:tcPr>
                </a:tc>
                <a:tc>
                  <a:txBody>
                    <a:bodyPr/>
                    <a:lstStyle/>
                    <a:p>
                      <a:pPr algn="l"/>
                      <a:r>
                        <a:rPr sz="1200" b="0">
                          <a:solidFill>
                            <a:srgbClr val="1F3355"/>
                          </a:solidFill>
                          <a:latin typeface="Meiryo UI"/>
                        </a:rPr>
                        <a:t>Port-offset-bits 4</a:t>
                      </a:r>
                    </a:p>
                  </a:txBody>
                  <a:tcPr>
                    <a:solidFill>
                      <a:srgbClr val="F2F6FA"/>
                    </a:solidFill>
                  </a:tcPr>
                </a:tc>
                <a:tc>
                  <a:txBody>
                    <a:bodyPr/>
                    <a:lstStyle/>
                    <a:p>
                      <a:pPr algn="l"/>
                      <a:r>
                        <a:rPr sz="1200" b="0">
                          <a:solidFill>
                            <a:srgbClr val="1F3355"/>
                          </a:solidFill>
                          <a:latin typeface="Meiryo UI"/>
                        </a:rPr>
                        <a:t>一致 (自動導出)</a:t>
                      </a:r>
                    </a:p>
                  </a:txBody>
                  <a:tcPr>
                    <a:solidFill>
                      <a:srgbClr val="F2F6FA"/>
                    </a:solidFill>
                  </a:tcPr>
                </a:tc>
              </a:tr>
              <a:tr h="310896">
                <a:tc>
                  <a:txBody>
                    <a:bodyPr/>
                    <a:lstStyle/>
                    <a:p>
                      <a:pPr algn="l"/>
                      <a:r>
                        <a:rPr sz="1200" b="0">
                          <a:solidFill>
                            <a:srgbClr val="1F3355"/>
                          </a:solidFill>
                          <a:latin typeface="Meiryo UI"/>
                        </a:rPr>
                        <a:t>port-set-id</a:t>
                      </a:r>
                    </a:p>
                  </a:txBody>
                  <a:tcPr>
                    <a:solidFill>
                      <a:srgbClr val="FFFFFF"/>
                    </a:solidFill>
                  </a:tcPr>
                </a:tc>
                <a:tc>
                  <a:txBody>
                    <a:bodyPr/>
                    <a:lstStyle/>
                    <a:p>
                      <a:pPr algn="l"/>
                      <a:r>
                        <a:rPr sz="1200" b="0">
                          <a:solidFill>
                            <a:srgbClr val="1F3355"/>
                          </a:solidFill>
                          <a:latin typeface="Meiryo UI"/>
                        </a:rPr>
                        <a:t>5 (明示)</a:t>
                      </a:r>
                    </a:p>
                  </a:txBody>
                  <a:tcPr>
                    <a:solidFill>
                      <a:srgbClr val="FFFFFF"/>
                    </a:solidFill>
                  </a:tcPr>
                </a:tc>
                <a:tc>
                  <a:txBody>
                    <a:bodyPr/>
                    <a:lstStyle/>
                    <a:p>
                      <a:pPr algn="l"/>
                      <a:r>
                        <a:rPr sz="1200" b="0">
                          <a:solidFill>
                            <a:srgbClr val="1F3355"/>
                          </a:solidFill>
                          <a:latin typeface="Meiryo UI"/>
                        </a:rPr>
                        <a:t>Port-set-id 5</a:t>
                      </a:r>
                    </a:p>
                  </a:txBody>
                  <a:tcPr>
                    <a:solidFill>
                      <a:srgbClr val="FFFFFF"/>
                    </a:solidFill>
                  </a:tcPr>
                </a:tc>
                <a:tc>
                  <a:txBody>
                    <a:bodyPr/>
                    <a:lstStyle/>
                    <a:p>
                      <a:pPr algn="l"/>
                      <a:r>
                        <a:rPr sz="1200" b="0">
                          <a:solidFill>
                            <a:srgbClr val="1F3355"/>
                          </a:solidFill>
                          <a:latin typeface="Meiryo UI"/>
                        </a:rPr>
                        <a:t>一致 (PSID)</a:t>
                      </a:r>
                    </a:p>
                  </a:txBody>
                  <a:tcPr>
                    <a:solidFill>
                      <a:srgbClr val="FFFFFF"/>
                    </a:solidFill>
                  </a:tcPr>
                </a:tc>
              </a:tr>
              <a:tr h="310896">
                <a:tc>
                  <a:txBody>
                    <a:bodyPr/>
                    <a:lstStyle/>
                    <a:p>
                      <a:pPr algn="l"/>
                      <a:r>
                        <a:rPr sz="1200" b="0">
                          <a:solidFill>
                            <a:srgbClr val="1F3355"/>
                          </a:solidFill>
                          <a:latin typeface="Meiryo UI"/>
                        </a:rPr>
                        <a:t>ポート総数</a:t>
                      </a:r>
                    </a:p>
                  </a:txBody>
                  <a:tcPr>
                    <a:solidFill>
                      <a:srgbClr val="F2F6FA"/>
                    </a:solidFill>
                  </a:tcPr>
                </a:tc>
                <a:tc>
                  <a:txBody>
                    <a:bodyPr/>
                    <a:lstStyle/>
                    <a:p>
                      <a:pPr algn="l"/>
                      <a:r>
                        <a:rPr sz="1200" b="0">
                          <a:solidFill>
                            <a:srgbClr val="1F3355"/>
                          </a:solidFill>
                          <a:latin typeface="Meiryo UI"/>
                        </a:rPr>
                        <a:t>—</a:t>
                      </a:r>
                    </a:p>
                  </a:txBody>
                  <a:tcPr>
                    <a:solidFill>
                      <a:srgbClr val="F2F6FA"/>
                    </a:solidFill>
                  </a:tcPr>
                </a:tc>
                <a:tc>
                  <a:txBody>
                    <a:bodyPr/>
                    <a:lstStyle/>
                    <a:p>
                      <a:pPr algn="l"/>
                      <a:r>
                        <a:rPr sz="1200" b="0">
                          <a:solidFill>
                            <a:srgbClr val="1F3355"/>
                          </a:solidFill>
                          <a:latin typeface="Meiryo UI"/>
                        </a:rPr>
                        <a:t>15 ブロック × 16 = 240</a:t>
                      </a:r>
                    </a:p>
                  </a:txBody>
                  <a:tcPr>
                    <a:solidFill>
                      <a:srgbClr val="F2F6FA"/>
                    </a:solidFill>
                  </a:tcPr>
                </a:tc>
                <a:tc>
                  <a:txBody>
                    <a:bodyPr/>
                    <a:lstStyle/>
                    <a:p>
                      <a:pPr algn="l"/>
                      <a:r>
                        <a:rPr sz="1200" b="0">
                          <a:solidFill>
                            <a:srgbClr val="1F3355"/>
                          </a:solidFill>
                          <a:latin typeface="Meiryo UI"/>
                        </a:rPr>
                        <a:t>設計値 240 と一致</a:t>
                      </a:r>
                    </a:p>
                  </a:txBody>
                  <a:tcPr>
                    <a:solidFill>
                      <a:srgbClr val="F2F6FA"/>
                    </a:solidFill>
                  </a:tcPr>
                </a:tc>
              </a:tr>
            </a:tbl>
          </a:graphicData>
        </a:graphic>
      </p:graphicFrame>
      <p:sp>
        <p:nvSpPr>
          <p:cNvPr id="4" name="TextBox 3"/>
          <p:cNvSpPr txBox="1"/>
          <p:nvPr/>
        </p:nvSpPr>
        <p:spPr>
          <a:xfrm>
            <a:off x="502920" y="3575304"/>
            <a:ext cx="11155680" cy="548640"/>
          </a:xfrm>
          <a:prstGeom prst="rect">
            <a:avLst/>
          </a:prstGeom>
          <a:noFill/>
        </p:spPr>
        <p:txBody>
          <a:bodyPr wrap="square">
            <a:spAutoFit/>
          </a:bodyPr>
          <a:lstStyle/>
          <a:p>
            <a:pPr algn="l"/>
            <a:r>
              <a:rPr sz="1200" b="0">
                <a:solidFill>
                  <a:srgbClr val="007ACC"/>
                </a:solidFill>
                <a:latin typeface="Meiryo UI"/>
              </a:rPr>
              <a:t>share-ratio と start-port だけ与えれば、残りは IOS XE が計算します。手計算と合いました</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② 設定は通るのに、データプレーンが落ちる</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800"/>
              </a:spcAft>
            </a:pPr>
            <a:r>
              <a:rPr sz="1800" b="1">
                <a:solidFill>
                  <a:srgbClr val="1F3355"/>
                </a:solidFill>
                <a:latin typeface="Meiryo UI"/>
              </a:rPr>
              <a:t>起きたこと</a:t>
            </a:r>
          </a:p>
          <a:p>
            <a:pPr lvl="1" algn="l">
              <a:spcAft>
                <a:spcPts val="400"/>
              </a:spcAft>
            </a:pPr>
            <a:r>
              <a:rPr sz="1500" b="0">
                <a:solidFill>
                  <a:srgbClr val="555555"/>
                </a:solidFill>
                <a:latin typeface="Meiryo UI"/>
              </a:rPr>
              <a:t>MAP-E の設定投入から約 60 秒後に転送エンジン (QFP) が落ちて再起動</a:t>
            </a:r>
          </a:p>
          <a:p>
            <a:pPr lvl="1" algn="l">
              <a:spcAft>
                <a:spcPts val="400"/>
              </a:spcAft>
            </a:pPr>
            <a:r>
              <a:rPr sz="1500" b="0">
                <a:solidFill>
                  <a:srgbClr val="0B6040"/>
                </a:solidFill>
                <a:latin typeface="Consolas"/>
              </a:rPr>
              <a:t>%PMAN-0-PROCFAILCRIT: critical process qfp_ucode_c8kv has failed (rc 134)</a:t>
            </a:r>
          </a:p>
          <a:p>
            <a:pPr algn="l">
              <a:spcAft>
                <a:spcPts val="800"/>
              </a:spcAft>
            </a:pPr>
            <a:r>
              <a:rPr sz="1800" b="1">
                <a:solidFill>
                  <a:srgbClr val="1F3355"/>
                </a:solidFill>
                <a:latin typeface="Meiryo UI"/>
              </a:rPr>
              <a:t>原因の切り分け (対照実験)</a:t>
            </a:r>
          </a:p>
          <a:p>
            <a:pPr lvl="1" algn="l">
              <a:spcAft>
                <a:spcPts val="400"/>
              </a:spcAft>
            </a:pPr>
            <a:r>
              <a:rPr sz="1500" b="0">
                <a:solidFill>
                  <a:srgbClr val="555555"/>
                </a:solidFill>
                <a:latin typeface="Meiryo UI"/>
              </a:rPr>
              <a:t>設定なし → 落ちない</a:t>
            </a:r>
          </a:p>
          <a:p>
            <a:pPr lvl="1" algn="l">
              <a:spcAft>
                <a:spcPts val="400"/>
              </a:spcAft>
            </a:pPr>
            <a:r>
              <a:rPr sz="1500" b="0">
                <a:solidFill>
                  <a:srgbClr val="555555"/>
                </a:solidFill>
                <a:latin typeface="Meiryo UI"/>
              </a:rPr>
              <a:t>map-e domain はあるが port-parameters が構文エラーで入らなかった → 落ちない</a:t>
            </a:r>
          </a:p>
          <a:p>
            <a:pPr lvl="1" algn="l">
              <a:spcAft>
                <a:spcPts val="400"/>
              </a:spcAft>
            </a:pPr>
            <a:r>
              <a:rPr sz="1500" b="1">
                <a:solidFill>
                  <a:srgbClr val="C0392B"/>
                </a:solidFill>
                <a:latin typeface="Meiryo UI"/>
              </a:rPr>
              <a:t>port-parameters が通って MAP-E が機能する状態になった → 落ちる</a:t>
            </a:r>
          </a:p>
          <a:p>
            <a:pPr lvl="1" algn="l">
              <a:spcAft>
                <a:spcPts val="400"/>
              </a:spcAft>
            </a:pPr>
            <a:r>
              <a:rPr sz="1500" b="1">
                <a:solidFill>
                  <a:srgbClr val="C0392B"/>
                </a:solidFill>
                <a:latin typeface="Meiryo UI"/>
              </a:rPr>
              <a:t>非対応と明記されている /64 の BMR を外し、正しい /56 の 1 本だけにしても落ちる</a:t>
            </a:r>
          </a:p>
          <a:p>
            <a:pPr algn="l">
              <a:spcAft>
                <a:spcPts val="800"/>
              </a:spcAft>
            </a:pPr>
            <a:r>
              <a:rPr sz="1800" b="1">
                <a:solidFill>
                  <a:srgbClr val="1F3355"/>
                </a:solidFill>
                <a:latin typeface="Meiryo UI"/>
              </a:rPr>
              <a:t>だから何が言えるか</a:t>
            </a:r>
          </a:p>
          <a:p>
            <a:pPr lvl="1" algn="l">
              <a:spcAft>
                <a:spcPts val="400"/>
              </a:spcAft>
            </a:pPr>
            <a:r>
              <a:rPr sz="1500" b="0">
                <a:solidFill>
                  <a:srgbClr val="555555"/>
                </a:solidFill>
                <a:latin typeface="Meiryo UI"/>
              </a:rPr>
              <a:t>CML の Cat8000v 17.15.01a では MAP-E の転送は確認できない (設定表示までは正しい)</a:t>
            </a:r>
          </a:p>
          <a:p>
            <a:pPr lvl="1" algn="l">
              <a:spcAft>
                <a:spcPts val="400"/>
              </a:spcAft>
            </a:pPr>
            <a:r>
              <a:rPr sz="1500" b="0">
                <a:solidFill>
                  <a:srgbClr val="555555"/>
                </a:solidFill>
                <a:latin typeface="Meiryo UI"/>
              </a:rPr>
              <a:t>実機の IOS XE がどうかは、これでは分かりません。断定しないこと</a:t>
            </a:r>
          </a:p>
          <a:p>
            <a:pPr algn="l">
              <a:spcAft>
                <a:spcPts val="800"/>
              </a:spcAft>
            </a:pPr>
            <a:r>
              <a:rPr sz="1800" b="1">
                <a:solidFill>
                  <a:srgbClr val="C0392B"/>
                </a:solidFill>
                <a:latin typeface="Meiryo UI"/>
              </a:rPr>
              <a:t>この件の一番の教訓</a:t>
            </a:r>
          </a:p>
          <a:p>
            <a:pPr lvl="1" algn="l">
              <a:spcAft>
                <a:spcPts val="400"/>
              </a:spcAft>
            </a:pPr>
            <a:r>
              <a:rPr sz="1500" b="0">
                <a:solidFill>
                  <a:srgbClr val="555555"/>
                </a:solidFill>
                <a:latin typeface="Meiryo UI"/>
              </a:rPr>
              <a:t>show コマンドが正しい値を返すことと、実際に転送できることは別物</a:t>
            </a:r>
          </a:p>
          <a:p>
            <a:pPr lvl="1" algn="l">
              <a:spcAft>
                <a:spcPts val="400"/>
              </a:spcAft>
            </a:pPr>
            <a:r>
              <a:rPr sz="1500" b="0">
                <a:solidFill>
                  <a:srgbClr val="555555"/>
                </a:solidFill>
                <a:latin typeface="Meiryo UI"/>
              </a:rPr>
              <a:t>検証は必ず「パケットを流して測る」ところまでやる。設定確認で終わらせない</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バックログ 10 (実効ポート数) は未解決のまま。実機 IOS XE か RTX 等の別 CE が要ります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2377440"/>
          </a:xfrm>
          <a:prstGeom prst="rect">
            <a:avLst/>
          </a:prstGeom>
          <a:noFill/>
        </p:spPr>
        <p:txBody>
          <a:bodyPr wrap="square">
            <a:spAutoFit/>
          </a:bodyPr>
          <a:lstStyle/>
          <a:p>
            <a:pPr algn="l"/>
            <a:r>
              <a:rPr sz="2000" b="1">
                <a:solidFill>
                  <a:srgbClr val="7FB8E0"/>
                </a:solidFill>
                <a:latin typeface="Meiryo UI"/>
              </a:rPr>
              <a:t>つまずきの壁</a:t>
            </a:r>
          </a:p>
          <a:p>
            <a:pPr algn="l"/>
            <a:r>
              <a:rPr sz="3600" b="1">
                <a:solidFill>
                  <a:srgbClr val="FFFFFF"/>
                </a:solidFill>
                <a:latin typeface="Meiryo UI"/>
              </a:rPr>
              <a:t>現場で実際に出る質問と答え方</a:t>
            </a:r>
          </a:p>
          <a:p>
            <a:pPr algn="l">
              <a:spcBef>
                <a:spcPts val="1600"/>
              </a:spcBef>
            </a:pPr>
            <a:r>
              <a:rPr sz="1600" b="0">
                <a:solidFill>
                  <a:srgbClr val="D5E5F2"/>
                </a:solidFill>
                <a:latin typeface="Meiryo UI"/>
              </a:rPr>
              <a:t>ゴール: 「分かったつもり」が崩れるところを、先に潰しておきます</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1</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IPoE って NTT がやってるサービス名ですか?</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いや、IP over Ethernet の略。PPP を挟まずに Ethernet に直接 IP を載せる接続方式の名前。</a:t>
            </a:r>
          </a:p>
          <a:p>
            <a:pPr lvl="1" algn="l">
              <a:spcAft>
                <a:spcPts val="600"/>
              </a:spcAft>
            </a:pPr>
            <a:r>
              <a:rPr sz="1400" b="0">
                <a:solidFill>
                  <a:srgbClr val="555555"/>
                </a:solidFill>
                <a:latin typeface="Meiryo UI"/>
              </a:rPr>
              <a:t>PPPoE は ID/パスワードでセッションを張る工程が入るが、IPoE はそれがない。</a:t>
            </a:r>
          </a:p>
          <a:p>
            <a:pPr lvl="1" algn="l">
              <a:spcAft>
                <a:spcPts val="600"/>
              </a:spcAft>
            </a:pPr>
            <a:r>
              <a:rPr sz="1400" b="0">
                <a:solidFill>
                  <a:srgbClr val="555555"/>
                </a:solidFill>
                <a:latin typeface="Meiryo UI"/>
              </a:rPr>
              <a:t>つないだら RA か DHCPv6 でアドレスが降ってくる。</a:t>
            </a:r>
          </a:p>
        </p:txBody>
      </p:sp>
      <p:sp>
        <p:nvSpPr>
          <p:cNvPr id="5" name="TextBox 4"/>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付録 A.3 (p.443) — PPPoE と IPoE が並べて書いてある</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2</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「IPoE にすると速い」って営業が言うんですけど、なんで速いんですか?</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IPoE 自体が速いわけじゃない。PPPoE は網終端装置 (NTE) を必ず通り、そこの収容数が決まっていて夕方混む。</a:t>
            </a:r>
          </a:p>
          <a:p>
            <a:pPr lvl="1" algn="l">
              <a:spcAft>
                <a:spcPts val="600"/>
              </a:spcAft>
            </a:pPr>
            <a:r>
              <a:rPr sz="1400" b="0">
                <a:solidFill>
                  <a:srgbClr val="555555"/>
                </a:solidFill>
                <a:latin typeface="Meiryo UI"/>
              </a:rPr>
              <a:t>IPoE はそこを通らない。つまり「速い」の理由はプロトコルではなく通る箱が違うから。</a:t>
            </a:r>
          </a:p>
          <a:p>
            <a:pPr lvl="1" algn="l">
              <a:spcAft>
                <a:spcPts val="600"/>
              </a:spcAft>
            </a:pPr>
            <a:r>
              <a:rPr sz="1400" b="0">
                <a:solidFill>
                  <a:srgbClr val="555555"/>
                </a:solidFill>
                <a:latin typeface="Meiryo UI"/>
              </a:rPr>
              <a:t>客への説明もこの言い方をする。</a:t>
            </a:r>
          </a:p>
        </p:txBody>
      </p:sp>
      <p:sp>
        <p:nvSpPr>
          <p:cNvPr id="5" name="Rectangle 4"/>
          <p:cNvSpPr/>
          <p:nvPr/>
        </p:nvSpPr>
        <p:spPr>
          <a:xfrm>
            <a:off x="640080" y="4617720"/>
            <a:ext cx="10881360" cy="1051560"/>
          </a:xfrm>
          <a:prstGeom prst="rect">
            <a:avLst/>
          </a:prstGeom>
          <a:solidFill>
            <a:srgbClr val="FDF1EF"/>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l"/>
            <a:r>
              <a:rPr sz="1300" b="1">
                <a:solidFill>
                  <a:srgbClr val="C0392B"/>
                </a:solidFill>
                <a:latin typeface="Meiryo UI"/>
              </a:rPr>
              <a:t>対立意見(懐疑的な同僚): </a:t>
            </a:r>
            <a:r>
              <a:rPr sz="1300" b="0">
                <a:solidFill>
                  <a:srgbClr val="555555"/>
                </a:solidFill>
                <a:latin typeface="Meiryo UI"/>
              </a:rPr>
              <a:t>それも常に正しくない。IPoE 側の VNE が混んでれば普通に遅い。「IPoE にしたのに遅い」案件は実在する。だから「速くなります」と言い切らないこと。約束すると後で詰められる。</a:t>
            </a:r>
          </a:p>
        </p:txBody>
      </p:sp>
      <p:sp>
        <p:nvSpPr>
          <p:cNvPr id="6" name="TextBox 5"/>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付録 A.3 (p.443)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3</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IPv6 にしたら IPv4 は使えなくなるんですか?</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ならない。IPoE でも IPv4 は使える。ただし IPv6 のトンネルの中を通る (MAP-E / DS-Lite)。</a:t>
            </a:r>
          </a:p>
          <a:p>
            <a:pPr lvl="1" algn="l">
              <a:spcAft>
                <a:spcPts val="600"/>
              </a:spcAft>
            </a:pPr>
            <a:r>
              <a:rPr sz="1400" b="0">
                <a:solidFill>
                  <a:srgbClr val="555555"/>
                </a:solidFill>
                <a:latin typeface="Meiryo UI"/>
              </a:rPr>
              <a:t>だから「IPv4 の通信が IPv6 に依存する」という新しい壊れ方が生まれる。</a:t>
            </a:r>
          </a:p>
          <a:p>
            <a:pPr lvl="1" algn="l">
              <a:spcAft>
                <a:spcPts val="600"/>
              </a:spcAft>
            </a:pPr>
            <a:r>
              <a:rPr sz="1400" b="0">
                <a:solidFill>
                  <a:srgbClr val="555555"/>
                </a:solidFill>
                <a:latin typeface="Meiryo UI"/>
              </a:rPr>
              <a:t>IPv6 側が不調なら IPv4 も道連れになる、という点が PPPoE 時代と決定的に違う。</a:t>
            </a:r>
          </a:p>
        </p:txBody>
      </p:sp>
      <p:sp>
        <p:nvSpPr>
          <p:cNvPr id="5" name="TextBox 4"/>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21.1 共存技術のバリエーション (p.381) / 第24章 (p.421)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4</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/64 とか /56 の数字は何ですか? IPv4 の /24 みたいなもの?</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考え方は同じ (前から何ビットがネットワーク部か)。ただ運用の感覚が全然違う。</a:t>
            </a:r>
          </a:p>
          <a:p>
            <a:pPr lvl="1" algn="l">
              <a:spcAft>
                <a:spcPts val="600"/>
              </a:spcAft>
            </a:pPr>
            <a:r>
              <a:rPr sz="1400" b="0">
                <a:solidFill>
                  <a:srgbClr val="555555"/>
                </a:solidFill>
                <a:latin typeface="Meiryo UI"/>
              </a:rPr>
              <a:t>IPv4 は「アドレスを 1 個もらう」、IPv6 は「プレフィックスを 1 個もらって中を自分で切る」。</a:t>
            </a:r>
          </a:p>
          <a:p>
            <a:pPr lvl="1" algn="l">
              <a:spcAft>
                <a:spcPts val="600"/>
              </a:spcAft>
            </a:pPr>
            <a:r>
              <a:rPr sz="1400" b="0">
                <a:solidFill>
                  <a:srgbClr val="555555"/>
                </a:solidFill>
                <a:latin typeface="Meiryo UI"/>
              </a:rPr>
              <a:t>/56 をもらえば /64 が 256 個。SLAAC を使う限りホスト部は 64 ビット。</a:t>
            </a:r>
          </a:p>
        </p:txBody>
      </p:sp>
      <p:sp>
        <p:nvSpPr>
          <p:cNvPr id="5" name="TextBox 4"/>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3.12 ユーザへの IPv6 アドレス割り当て (p.89) / 7.1 SLAAC の流れ (p.160)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5</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fe80:: のアドレスがいっぱい出てくるんですが、消していいですか?</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消したら通信が全部死ぬ。リンクローカルアドレスといって、同じリンク内だけで使う。</a:t>
            </a:r>
          </a:p>
          <a:p>
            <a:pPr lvl="1" algn="l">
              <a:spcAft>
                <a:spcPts val="600"/>
              </a:spcAft>
            </a:pPr>
            <a:r>
              <a:rPr sz="1400" b="0">
                <a:solidFill>
                  <a:srgbClr val="555555"/>
                </a:solidFill>
                <a:latin typeface="Meiryo UI"/>
              </a:rPr>
              <a:t>IPv6 のルーティングも近隣探索も、実はこれを使って動いている。RA の送信元も fe80::。</a:t>
            </a:r>
          </a:p>
          <a:p>
            <a:pPr lvl="1" algn="l">
              <a:spcAft>
                <a:spcPts val="600"/>
              </a:spcAft>
            </a:pPr>
            <a:r>
              <a:rPr sz="1400" b="0">
                <a:solidFill>
                  <a:srgbClr val="555555"/>
                </a:solidFill>
                <a:latin typeface="Meiryo UI"/>
              </a:rPr>
              <a:t>IPv4 の 169.254.x.x とは役割が全然違う (あっちは DHCP 失敗時の敗戦処理)。</a:t>
            </a:r>
          </a:p>
        </p:txBody>
      </p:sp>
      <p:sp>
        <p:nvSpPr>
          <p:cNvPr id="5" name="TextBox 4"/>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3.5 リンクローカルユニキャストアドレス (p.74) / 第6章 (p.127)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6</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tcpdump に ICMPv6 がめちゃくちゃ流れてるんですが、攻撃されてます?</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正常。IPv6 では ICMPv6 がプロトコルの本体機能を担っている。</a:t>
            </a:r>
          </a:p>
          <a:p>
            <a:pPr lvl="1" algn="l">
              <a:spcAft>
                <a:spcPts val="600"/>
              </a:spcAft>
            </a:pPr>
            <a:r>
              <a:rPr sz="1400" b="0">
                <a:solidFill>
                  <a:srgbClr val="555555"/>
                </a:solidFill>
                <a:latin typeface="Meiryo UI"/>
              </a:rPr>
              <a:t>ARP の代わり (NS/NA)、ルータ広告 (RS/RA)、Path MTU 通知、全部 ICMPv6。</a:t>
            </a:r>
          </a:p>
          <a:p>
            <a:pPr lvl="1" algn="l">
              <a:spcAft>
                <a:spcPts val="600"/>
              </a:spcAft>
            </a:pPr>
            <a:r>
              <a:rPr sz="1400" b="0">
                <a:solidFill>
                  <a:srgbClr val="555555"/>
                </a:solidFill>
                <a:latin typeface="Meiryo UI"/>
              </a:rPr>
              <a:t>だから ICMPv6 を全部 drop するファイアウォール設定は IPv6 を壊す。</a:t>
            </a:r>
          </a:p>
        </p:txBody>
      </p:sp>
      <p:sp>
        <p:nvSpPr>
          <p:cNvPr id="5" name="Rectangle 4"/>
          <p:cNvSpPr/>
          <p:nvPr/>
        </p:nvSpPr>
        <p:spPr>
          <a:xfrm>
            <a:off x="640080" y="4617720"/>
            <a:ext cx="10881360" cy="1051560"/>
          </a:xfrm>
          <a:prstGeom prst="rect">
            <a:avLst/>
          </a:prstGeom>
          <a:solidFill>
            <a:srgbClr val="FDF1EF"/>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l"/>
            <a:r>
              <a:rPr sz="1300" b="1">
                <a:solidFill>
                  <a:srgbClr val="C0392B"/>
                </a:solidFill>
                <a:latin typeface="Meiryo UI"/>
              </a:rPr>
              <a:t>対立意見(懐疑的な同僚): </a:t>
            </a:r>
            <a:r>
              <a:rPr sz="1300" b="0">
                <a:solidFill>
                  <a:srgbClr val="555555"/>
                </a:solidFill>
                <a:latin typeface="Meiryo UI"/>
              </a:rPr>
              <a:t>逆に「全許可」も間違い。RFC 4890 相当の選別が必要。「ICMP を落とすと MTU 探索が壊れる」原理は v4/v6 共通で、このラボの R5 は IPv4 側 (ICMPv4 Fragmentation-Needed) で再現している。</a:t>
            </a:r>
          </a:p>
        </p:txBody>
      </p:sp>
      <p:sp>
        <p:nvSpPr>
          <p:cNvPr id="6" name="TextBox 5"/>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14.9 ICMPv6 を無条件にすべてフィルタリングすべきではない (p.279) / ラボ R5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7</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MAP-E の「ポートが制限される」って、何個使えるんですか?</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方式のパラメータ次第。ラボの設定 (ea-len 16 / psid-len 8 / psid-offset 4) だと 240 個。</a:t>
            </a:r>
          </a:p>
          <a:p>
            <a:pPr lvl="1" algn="l">
              <a:spcAft>
                <a:spcPts val="600"/>
              </a:spcAft>
            </a:pPr>
            <a:r>
              <a:rPr sz="1400" b="0">
                <a:solidFill>
                  <a:srgbClr val="555555"/>
                </a:solidFill>
                <a:latin typeface="Meiryo UI"/>
              </a:rPr>
              <a:t>16 ポート × 15 ブロックで、連続していない。計算は 3-2 / 3-3 のスライド。</a:t>
            </a:r>
          </a:p>
          <a:p>
            <a:pPr lvl="1" algn="l">
              <a:spcAft>
                <a:spcPts val="600"/>
              </a:spcAft>
            </a:pPr>
            <a:r>
              <a:rPr sz="1400" b="0">
                <a:solidFill>
                  <a:srgbClr val="555555"/>
                </a:solidFill>
                <a:latin typeface="Meiryo UI"/>
              </a:rPr>
              <a:t>「4176〜8000 の範囲」のように連続だと思って NAT 設定を書くと動かない。</a:t>
            </a:r>
          </a:p>
        </p:txBody>
      </p:sp>
      <p:sp>
        <p:nvSpPr>
          <p:cNvPr id="5" name="Rectangle 4"/>
          <p:cNvSpPr/>
          <p:nvPr/>
        </p:nvSpPr>
        <p:spPr>
          <a:xfrm>
            <a:off x="640080" y="4617720"/>
            <a:ext cx="10881360" cy="1051560"/>
          </a:xfrm>
          <a:prstGeom prst="rect">
            <a:avLst/>
          </a:prstGeom>
          <a:solidFill>
            <a:srgbClr val="FDF1EF"/>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l"/>
            <a:r>
              <a:rPr sz="1300" b="1">
                <a:solidFill>
                  <a:srgbClr val="C0392B"/>
                </a:solidFill>
                <a:latin typeface="Meiryo UI"/>
              </a:rPr>
              <a:t>対立意見(懐疑的な同僚): </a:t>
            </a:r>
            <a:r>
              <a:rPr sz="1300" b="0">
                <a:solidFill>
                  <a:srgbClr val="555555"/>
                </a:solidFill>
                <a:latin typeface="Meiryo UI"/>
              </a:rPr>
              <a:t>240 は少ない。ブラウザは 1 タブで数十本張る。台数の多い拠点や監視系がいると足りなくなる。「MAP-E だから大丈夫」ではなく、拠点の同時セッション数を実測してから方式を決めること。</a:t>
            </a:r>
          </a:p>
        </p:txBody>
      </p:sp>
      <p:sp>
        <p:nvSpPr>
          <p:cNvPr id="6" name="TextBox 5"/>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24.3 A+P (p.423) / 24.4 (p.425) / ラボ R12 で必ず一度失敗させる</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8</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客先で「ポート開放して」と言われました。IPoE でもできますよね?</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方式を先に確認する。MAP-E なら自分のポート集合の中でのみ可 (80/443 は基本無理)。</a:t>
            </a:r>
          </a:p>
          <a:p>
            <a:pPr lvl="1" algn="l">
              <a:spcAft>
                <a:spcPts val="600"/>
              </a:spcAft>
            </a:pPr>
            <a:r>
              <a:rPr sz="1400" b="0">
                <a:solidFill>
                  <a:srgbClr val="555555"/>
                </a:solidFill>
                <a:latin typeface="Meiryo UI"/>
              </a:rPr>
              <a:t>DS-Lite なら不可。NAT が網側 (AFTR) にあり、利用者からそれを操作する手段が提供されていない。</a:t>
            </a:r>
          </a:p>
          <a:p>
            <a:pPr lvl="1" algn="l">
              <a:spcAft>
                <a:spcPts val="600"/>
              </a:spcAft>
            </a:pPr>
            <a:r>
              <a:rPr sz="1400" b="0">
                <a:solidFill>
                  <a:srgbClr val="555555"/>
                </a:solidFill>
                <a:latin typeface="Meiryo UI"/>
              </a:rPr>
              <a:t>代替は固定 IP 系サービスか PPPoE 併用。聞かずに「できます」と答えると案件が炎上する。</a:t>
            </a:r>
          </a:p>
        </p:txBody>
      </p:sp>
      <p:sp>
        <p:nvSpPr>
          <p:cNvPr id="5" name="TextBox 4"/>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24.1 DS-Lite (p.421) / 19.4 IPv4 アドレス共有技術の課題 (p.362) / ラボ R4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9</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切替後に「Web は見えるけど添付ファイルが送れない」と言われました。</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MTU を疑う。トンネルでヘッダが増えるので素の 1500 では通らない (引き算は 3-5)。</a:t>
            </a:r>
          </a:p>
          <a:p>
            <a:pPr lvl="1" algn="l">
              <a:spcAft>
                <a:spcPts val="600"/>
              </a:spcAft>
            </a:pPr>
            <a:r>
              <a:rPr sz="1400" b="0">
                <a:solidFill>
                  <a:srgbClr val="555555"/>
                </a:solidFill>
                <a:latin typeface="Meiryo UI"/>
              </a:rPr>
              <a:t>小さいパケットは通るので「見えるけど大きいものが落ちる」という症状になる。</a:t>
            </a:r>
          </a:p>
          <a:p>
            <a:pPr lvl="1" algn="l">
              <a:spcAft>
                <a:spcPts val="600"/>
              </a:spcAft>
            </a:pPr>
            <a:r>
              <a:rPr sz="1400" b="0">
                <a:solidFill>
                  <a:srgbClr val="555555"/>
                </a:solidFill>
                <a:latin typeface="Meiryo UI"/>
              </a:rPr>
              <a:t>一手は TCP MSS clamp か CPE の MTU 手動設定 (1460 等)。</a:t>
            </a:r>
          </a:p>
        </p:txBody>
      </p:sp>
      <p:sp>
        <p:nvSpPr>
          <p:cNvPr id="5" name="TextBox 4"/>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第10章 (p.215) / 9.2 (p.208) / ラボ R5, R11 (/big.bin 5MB で再現)</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a:spAutoFit/>
          </a:bodyPr>
          <a:lstStyle/>
          <a:p>
            <a:pPr algn="l"/>
            <a:r>
              <a:rPr sz="2200" b="1">
                <a:solidFill>
                  <a:srgbClr val="007ACC"/>
                </a:solidFill>
                <a:latin typeface="Meiryo UI"/>
              </a:rPr>
              <a:t>つまずきの壁 10</a:t>
            </a:r>
          </a:p>
        </p:txBody>
      </p:sp>
      <p:sp>
        <p:nvSpPr>
          <p:cNvPr id="3" name="Rectangle 2"/>
          <p:cNvSpPr/>
          <p:nvPr/>
        </p:nvSpPr>
        <p:spPr>
          <a:xfrm>
            <a:off x="502920" y="960120"/>
            <a:ext cx="11155680" cy="960120"/>
          </a:xfrm>
          <a:prstGeom prst="rect">
            <a:avLst/>
          </a:prstGeom>
          <a:solidFill>
            <a:srgbClr val="EFF5FA"/>
          </a:solidFill>
          <a:ln>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600" b="1">
                <a:solidFill>
                  <a:srgbClr val="007ACC"/>
                </a:solidFill>
                <a:latin typeface="Meiryo UI"/>
              </a:rPr>
              <a:t>生徒: </a:t>
            </a:r>
            <a:r>
              <a:rPr sz="1600" b="0">
                <a:solidFill>
                  <a:srgbClr val="1F3355"/>
                </a:solidFill>
                <a:latin typeface="Meiryo UI"/>
              </a:rPr>
              <a:t>IPoE にしたらセキュリティは上がりますか?</a:t>
            </a:r>
          </a:p>
        </p:txBody>
      </p:sp>
      <p:sp>
        <p:nvSpPr>
          <p:cNvPr id="4" name="TextBox 3"/>
          <p:cNvSpPr txBox="1"/>
          <p:nvPr/>
        </p:nvSpPr>
        <p:spPr>
          <a:xfrm>
            <a:off x="640080" y="2148840"/>
            <a:ext cx="10972800" cy="2743200"/>
          </a:xfrm>
          <a:prstGeom prst="rect">
            <a:avLst/>
          </a:prstGeom>
          <a:noFill/>
        </p:spPr>
        <p:txBody>
          <a:bodyPr wrap="square">
            <a:spAutoFit/>
          </a:bodyPr>
          <a:lstStyle/>
          <a:p>
            <a:pPr algn="l">
              <a:spcAft>
                <a:spcPts val="600"/>
              </a:spcAft>
            </a:pPr>
            <a:r>
              <a:rPr sz="1600" b="1">
                <a:solidFill>
                  <a:srgbClr val="1F3355"/>
                </a:solidFill>
                <a:latin typeface="Meiryo UI"/>
              </a:rPr>
              <a:t>先生: </a:t>
            </a:r>
            <a:r>
              <a:rPr sz="1600" b="0">
                <a:solidFill>
                  <a:srgbClr val="1F3355"/>
                </a:solidFill>
                <a:latin typeface="Meiryo UI"/>
              </a:rPr>
              <a:t>下がる可能性がある。PPPoE + IPv4 NAT では「NAT があるから外から入れない」状態だったのが、</a:t>
            </a:r>
          </a:p>
          <a:p>
            <a:pPr lvl="1" algn="l">
              <a:spcAft>
                <a:spcPts val="600"/>
              </a:spcAft>
            </a:pPr>
            <a:r>
              <a:rPr sz="1400" b="0">
                <a:solidFill>
                  <a:srgbClr val="555555"/>
                </a:solidFill>
                <a:latin typeface="Meiryo UI"/>
              </a:rPr>
              <a:t>IPoE で各端末にグローバル IPv6 が付くと、外から直接到達しうる。</a:t>
            </a:r>
          </a:p>
          <a:p>
            <a:pPr lvl="1" algn="l">
              <a:spcAft>
                <a:spcPts val="600"/>
              </a:spcAft>
            </a:pPr>
            <a:r>
              <a:rPr sz="1400" b="0">
                <a:solidFill>
                  <a:srgbClr val="555555"/>
                </a:solidFill>
                <a:latin typeface="Meiryo UI"/>
              </a:rPr>
              <a:t>ファイアウォール設定が入っているかを必ず確認する。</a:t>
            </a:r>
          </a:p>
        </p:txBody>
      </p:sp>
      <p:sp>
        <p:nvSpPr>
          <p:cNvPr id="5" name="Rectangle 4"/>
          <p:cNvSpPr/>
          <p:nvPr/>
        </p:nvSpPr>
        <p:spPr>
          <a:xfrm>
            <a:off x="640080" y="4617720"/>
            <a:ext cx="10881360" cy="1051560"/>
          </a:xfrm>
          <a:prstGeom prst="rect">
            <a:avLst/>
          </a:prstGeom>
          <a:solidFill>
            <a:srgbClr val="FDF1EF"/>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l"/>
            <a:r>
              <a:rPr sz="1300" b="1">
                <a:solidFill>
                  <a:srgbClr val="C0392B"/>
                </a:solidFill>
                <a:latin typeface="Meiryo UI"/>
              </a:rPr>
              <a:t>対立意見(懐疑的な同僚): </a:t>
            </a:r>
            <a:r>
              <a:rPr sz="1300" b="0">
                <a:solidFill>
                  <a:srgbClr val="555555"/>
                </a:solidFill>
                <a:latin typeface="Meiryo UI"/>
              </a:rPr>
              <a:t>とはいえ「NAT はセキュリティ機能ではない」というのも教科書の立場。NAT に守られていたつもりだっただけ。この誤解をそのまま客に共有すると後々困る。</a:t>
            </a:r>
          </a:p>
        </p:txBody>
      </p:sp>
      <p:sp>
        <p:nvSpPr>
          <p:cNvPr id="6" name="TextBox 5"/>
          <p:cNvSpPr txBox="1"/>
          <p:nvPr/>
        </p:nvSpPr>
        <p:spPr>
          <a:xfrm>
            <a:off x="640080" y="5897880"/>
            <a:ext cx="10881360" cy="548640"/>
          </a:xfrm>
          <a:prstGeom prst="rect">
            <a:avLst/>
          </a:prstGeom>
          <a:noFill/>
        </p:spPr>
        <p:txBody>
          <a:bodyPr wrap="square">
            <a:spAutoFit/>
          </a:bodyPr>
          <a:lstStyle/>
          <a:p>
            <a:pPr algn="l"/>
            <a:r>
              <a:rPr sz="1200" b="0">
                <a:solidFill>
                  <a:srgbClr val="007ACC"/>
                </a:solidFill>
                <a:latin typeface="Meiryo UI"/>
              </a:rPr>
              <a:t>教科書 / ラボ: 14.1 IPv6 は IPv4 よりもセキュアというわけではない (p.263) / 14.7 (p.278) / ラボ R13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用語の対訳表 — 同じものが 3 通りの呼び方で出てくる</a:t>
            </a:r>
          </a:p>
        </p:txBody>
      </p:sp>
      <p:graphicFrame>
        <p:nvGraphicFramePr>
          <p:cNvPr id="3" name="Table 2"/>
          <p:cNvGraphicFramePr>
            <a:graphicFrameLocks noGrp="1"/>
          </p:cNvGraphicFramePr>
          <p:nvPr/>
        </p:nvGraphicFramePr>
        <p:xfrm>
          <a:off x="502920" y="1143000"/>
          <a:ext cx="11155680" cy="4352544"/>
        </p:xfrm>
        <a:graphic>
          <a:graphicData uri="http://schemas.openxmlformats.org/drawingml/2006/table">
            <a:tbl>
              <a:tblPr>
                <a:tableStyleId>{5C22544A-7EE6-4342-B048-85BDC9FD1C3A}</a:tableStyleId>
              </a:tblPr>
              <a:tblGrid>
                <a:gridCol w="3931920"/>
                <a:gridCol w="3566160"/>
                <a:gridCol w="3657600"/>
              </a:tblGrid>
              <a:tr h="310896">
                <a:tc>
                  <a:txBody>
                    <a:bodyPr/>
                    <a:lstStyle/>
                    <a:p>
                      <a:pPr algn="l"/>
                      <a:r>
                        <a:rPr sz="1200" b="1">
                          <a:solidFill>
                            <a:srgbClr val="FFFFFF"/>
                          </a:solidFill>
                          <a:latin typeface="Meiryo UI"/>
                        </a:rPr>
                        <a:t>教科書の用語</a:t>
                      </a:r>
                    </a:p>
                  </a:txBody>
                  <a:tcPr>
                    <a:solidFill>
                      <a:srgbClr val="1F3355"/>
                    </a:solidFill>
                  </a:tcPr>
                </a:tc>
                <a:tc>
                  <a:txBody>
                    <a:bodyPr/>
                    <a:lstStyle/>
                    <a:p>
                      <a:pPr algn="l"/>
                      <a:r>
                        <a:rPr sz="1200" b="1">
                          <a:solidFill>
                            <a:srgbClr val="FFFFFF"/>
                          </a:solidFill>
                          <a:latin typeface="Meiryo UI"/>
                        </a:rPr>
                        <a:t>現場でよく言う</a:t>
                      </a:r>
                    </a:p>
                  </a:txBody>
                  <a:tcPr>
                    <a:solidFill>
                      <a:srgbClr val="1F3355"/>
                    </a:solidFill>
                  </a:tcPr>
                </a:tc>
                <a:tc>
                  <a:txBody>
                    <a:bodyPr/>
                    <a:lstStyle/>
                    <a:p>
                      <a:pPr algn="l"/>
                      <a:r>
                        <a:rPr sz="1200" b="1">
                          <a:solidFill>
                            <a:srgbClr val="FFFFFF"/>
                          </a:solidFill>
                          <a:latin typeface="Meiryo UI"/>
                        </a:rPr>
                        <a:t>機器 / 画面での表記</a:t>
                      </a:r>
                    </a:p>
                  </a:txBody>
                  <a:tcPr>
                    <a:solidFill>
                      <a:srgbClr val="1F3355"/>
                    </a:solidFill>
                  </a:tcPr>
                </a:tc>
              </a:tr>
              <a:tr h="310896">
                <a:tc>
                  <a:txBody>
                    <a:bodyPr/>
                    <a:lstStyle/>
                    <a:p>
                      <a:pPr algn="l"/>
                      <a:r>
                        <a:rPr sz="1100" b="0">
                          <a:solidFill>
                            <a:srgbClr val="1F3355"/>
                          </a:solidFill>
                          <a:latin typeface="Meiryo UI"/>
                        </a:rPr>
                        <a:t>近隣探索プロトコル</a:t>
                      </a:r>
                    </a:p>
                  </a:txBody>
                  <a:tcPr>
                    <a:solidFill>
                      <a:srgbClr val="FFFFFF"/>
                    </a:solidFill>
                  </a:tcPr>
                </a:tc>
                <a:tc>
                  <a:txBody>
                    <a:bodyPr/>
                    <a:lstStyle/>
                    <a:p>
                      <a:pPr algn="l"/>
                      <a:r>
                        <a:rPr sz="1100" b="0">
                          <a:solidFill>
                            <a:srgbClr val="1F3355"/>
                          </a:solidFill>
                          <a:latin typeface="Meiryo UI"/>
                        </a:rPr>
                        <a:t>ND、ネイバーディスカバリ</a:t>
                      </a:r>
                    </a:p>
                  </a:txBody>
                  <a:tcPr>
                    <a:solidFill>
                      <a:srgbClr val="FFFFFF"/>
                    </a:solidFill>
                  </a:tcPr>
                </a:tc>
                <a:tc>
                  <a:txBody>
                    <a:bodyPr/>
                    <a:lstStyle/>
                    <a:p>
                      <a:pPr algn="l"/>
                      <a:r>
                        <a:rPr sz="1100" b="0">
                          <a:solidFill>
                            <a:srgbClr val="1F3355"/>
                          </a:solidFill>
                          <a:latin typeface="Meiryo UI"/>
                        </a:rPr>
                        <a:t>Neighbor Discovery / ipv6 nd</a:t>
                      </a:r>
                    </a:p>
                  </a:txBody>
                  <a:tcPr>
                    <a:solidFill>
                      <a:srgbClr val="FFFFFF"/>
                    </a:solidFill>
                  </a:tcPr>
                </a:tc>
              </a:tr>
              <a:tr h="310896">
                <a:tc>
                  <a:txBody>
                    <a:bodyPr/>
                    <a:lstStyle/>
                    <a:p>
                      <a:pPr algn="l"/>
                      <a:r>
                        <a:rPr sz="1100" b="0">
                          <a:solidFill>
                            <a:srgbClr val="1F3355"/>
                          </a:solidFill>
                          <a:latin typeface="Meiryo UI"/>
                        </a:rPr>
                        <a:t>Router Advertisement メッセージ</a:t>
                      </a:r>
                    </a:p>
                  </a:txBody>
                  <a:tcPr>
                    <a:solidFill>
                      <a:srgbClr val="F2F6FA"/>
                    </a:solidFill>
                  </a:tcPr>
                </a:tc>
                <a:tc>
                  <a:txBody>
                    <a:bodyPr/>
                    <a:lstStyle/>
                    <a:p>
                      <a:pPr algn="l"/>
                      <a:r>
                        <a:rPr sz="1100" b="0">
                          <a:solidFill>
                            <a:srgbClr val="1F3355"/>
                          </a:solidFill>
                          <a:latin typeface="Meiryo UI"/>
                        </a:rPr>
                        <a:t>RA、ルータ広告</a:t>
                      </a:r>
                    </a:p>
                  </a:txBody>
                  <a:tcPr>
                    <a:solidFill>
                      <a:srgbClr val="F2F6FA"/>
                    </a:solidFill>
                  </a:tcPr>
                </a:tc>
                <a:tc>
                  <a:txBody>
                    <a:bodyPr/>
                    <a:lstStyle/>
                    <a:p>
                      <a:pPr algn="l"/>
                      <a:r>
                        <a:rPr sz="1100" b="0">
                          <a:solidFill>
                            <a:srgbClr val="1F3355"/>
                          </a:solidFill>
                          <a:latin typeface="Meiryo UI"/>
                        </a:rPr>
                        <a:t>RA / ipv6 nd ra</a:t>
                      </a:r>
                    </a:p>
                  </a:txBody>
                  <a:tcPr>
                    <a:solidFill>
                      <a:srgbClr val="F2F6FA"/>
                    </a:solidFill>
                  </a:tcPr>
                </a:tc>
              </a:tr>
              <a:tr h="310896">
                <a:tc>
                  <a:txBody>
                    <a:bodyPr/>
                    <a:lstStyle/>
                    <a:p>
                      <a:pPr algn="l"/>
                      <a:r>
                        <a:rPr sz="1100" b="0">
                          <a:solidFill>
                            <a:srgbClr val="1F3355"/>
                          </a:solidFill>
                          <a:latin typeface="Meiryo UI"/>
                        </a:rPr>
                        <a:t>プレフィックス</a:t>
                      </a:r>
                    </a:p>
                  </a:txBody>
                  <a:tcPr>
                    <a:solidFill>
                      <a:srgbClr val="FFFFFF"/>
                    </a:solidFill>
                  </a:tcPr>
                </a:tc>
                <a:tc>
                  <a:txBody>
                    <a:bodyPr/>
                    <a:lstStyle/>
                    <a:p>
                      <a:pPr algn="l"/>
                      <a:r>
                        <a:rPr sz="1100" b="0">
                          <a:solidFill>
                            <a:srgbClr val="1F3355"/>
                          </a:solidFill>
                          <a:latin typeface="Meiryo UI"/>
                        </a:rPr>
                        <a:t>プレフィックス、接頭辞</a:t>
                      </a:r>
                    </a:p>
                  </a:txBody>
                  <a:tcPr>
                    <a:solidFill>
                      <a:srgbClr val="FFFFFF"/>
                    </a:solidFill>
                  </a:tcPr>
                </a:tc>
                <a:tc>
                  <a:txBody>
                    <a:bodyPr/>
                    <a:lstStyle/>
                    <a:p>
                      <a:pPr algn="l"/>
                      <a:r>
                        <a:rPr sz="1100" b="0">
                          <a:solidFill>
                            <a:srgbClr val="1F3355"/>
                          </a:solidFill>
                          <a:latin typeface="Meiryo UI"/>
                        </a:rPr>
                        <a:t>prefix</a:t>
                      </a:r>
                    </a:p>
                  </a:txBody>
                  <a:tcPr>
                    <a:solidFill>
                      <a:srgbClr val="FFFFFF"/>
                    </a:solidFill>
                  </a:tcPr>
                </a:tc>
              </a:tr>
              <a:tr h="310896">
                <a:tc>
                  <a:txBody>
                    <a:bodyPr/>
                    <a:lstStyle/>
                    <a:p>
                      <a:pPr algn="l"/>
                      <a:r>
                        <a:rPr sz="1100" b="0">
                          <a:solidFill>
                            <a:srgbClr val="1F3355"/>
                          </a:solidFill>
                          <a:latin typeface="Meiryo UI"/>
                        </a:rPr>
                        <a:t>SLAAC (IPv6 アドレスの自動設定)</a:t>
                      </a:r>
                    </a:p>
                  </a:txBody>
                  <a:tcPr>
                    <a:solidFill>
                      <a:srgbClr val="F2F6FA"/>
                    </a:solidFill>
                  </a:tcPr>
                </a:tc>
                <a:tc>
                  <a:txBody>
                    <a:bodyPr/>
                    <a:lstStyle/>
                    <a:p>
                      <a:pPr algn="l"/>
                      <a:r>
                        <a:rPr sz="1100" b="0">
                          <a:solidFill>
                            <a:srgbClr val="1F3355"/>
                          </a:solidFill>
                          <a:latin typeface="Meiryo UI"/>
                        </a:rPr>
                        <a:t>RA 方式、ステートレス</a:t>
                      </a:r>
                    </a:p>
                  </a:txBody>
                  <a:tcPr>
                    <a:solidFill>
                      <a:srgbClr val="F2F6FA"/>
                    </a:solidFill>
                  </a:tcPr>
                </a:tc>
                <a:tc>
                  <a:txBody>
                    <a:bodyPr/>
                    <a:lstStyle/>
                    <a:p>
                      <a:pPr algn="l"/>
                      <a:r>
                        <a:rPr sz="1100" b="0">
                          <a:solidFill>
                            <a:srgbClr val="1F3355"/>
                          </a:solidFill>
                          <a:latin typeface="Meiryo UI"/>
                        </a:rPr>
                        <a:t>SLAAC / autoconfig</a:t>
                      </a:r>
                    </a:p>
                  </a:txBody>
                  <a:tcPr>
                    <a:solidFill>
                      <a:srgbClr val="F2F6FA"/>
                    </a:solidFill>
                  </a:tcPr>
                </a:tc>
              </a:tr>
              <a:tr h="310896">
                <a:tc>
                  <a:txBody>
                    <a:bodyPr/>
                    <a:lstStyle/>
                    <a:p>
                      <a:pPr algn="l"/>
                      <a:r>
                        <a:rPr sz="1100" b="0">
                          <a:solidFill>
                            <a:srgbClr val="1F3355"/>
                          </a:solidFill>
                          <a:latin typeface="Meiryo UI"/>
                        </a:rPr>
                        <a:t>DHCPv6-PD</a:t>
                      </a:r>
                    </a:p>
                  </a:txBody>
                  <a:tcPr>
                    <a:solidFill>
                      <a:srgbClr val="FFFFFF"/>
                    </a:solidFill>
                  </a:tcPr>
                </a:tc>
                <a:tc>
                  <a:txBody>
                    <a:bodyPr/>
                    <a:lstStyle/>
                    <a:p>
                      <a:pPr algn="l"/>
                      <a:r>
                        <a:rPr sz="1100" b="0">
                          <a:solidFill>
                            <a:srgbClr val="1F3355"/>
                          </a:solidFill>
                          <a:latin typeface="Meiryo UI"/>
                        </a:rPr>
                        <a:t>PD 方式、プレフィックス委任</a:t>
                      </a:r>
                    </a:p>
                  </a:txBody>
                  <a:tcPr>
                    <a:solidFill>
                      <a:srgbClr val="FFFFFF"/>
                    </a:solidFill>
                  </a:tcPr>
                </a:tc>
                <a:tc>
                  <a:txBody>
                    <a:bodyPr/>
                    <a:lstStyle/>
                    <a:p>
                      <a:pPr algn="l"/>
                      <a:r>
                        <a:rPr sz="1100" b="0">
                          <a:solidFill>
                            <a:srgbClr val="1F3355"/>
                          </a:solidFill>
                          <a:latin typeface="Meiryo UI"/>
                        </a:rPr>
                        <a:t>IA_PD / ipv6 dhcp pool</a:t>
                      </a:r>
                    </a:p>
                  </a:txBody>
                  <a:tcPr>
                    <a:solidFill>
                      <a:srgbClr val="FFFFFF"/>
                    </a:solidFill>
                  </a:tcPr>
                </a:tc>
              </a:tr>
              <a:tr h="310896">
                <a:tc>
                  <a:txBody>
                    <a:bodyPr/>
                    <a:lstStyle/>
                    <a:p>
                      <a:pPr algn="l"/>
                      <a:r>
                        <a:rPr sz="1100" b="0">
                          <a:solidFill>
                            <a:srgbClr val="1F3355"/>
                          </a:solidFill>
                          <a:latin typeface="Meiryo UI"/>
                        </a:rPr>
                        <a:t>DUID</a:t>
                      </a:r>
                    </a:p>
                  </a:txBody>
                  <a:tcPr>
                    <a:solidFill>
                      <a:srgbClr val="F2F6FA"/>
                    </a:solidFill>
                  </a:tcPr>
                </a:tc>
                <a:tc>
                  <a:txBody>
                    <a:bodyPr/>
                    <a:lstStyle/>
                    <a:p>
                      <a:pPr algn="l"/>
                      <a:r>
                        <a:rPr sz="1100" b="0">
                          <a:solidFill>
                            <a:srgbClr val="1F3355"/>
                          </a:solidFill>
                          <a:latin typeface="Meiryo UI"/>
                        </a:rPr>
                        <a:t>ドゥーイド、クライアント識別子</a:t>
                      </a:r>
                    </a:p>
                  </a:txBody>
                  <a:tcPr>
                    <a:solidFill>
                      <a:srgbClr val="F2F6FA"/>
                    </a:solidFill>
                  </a:tcPr>
                </a:tc>
                <a:tc>
                  <a:txBody>
                    <a:bodyPr/>
                    <a:lstStyle/>
                    <a:p>
                      <a:pPr algn="l"/>
                      <a:r>
                        <a:rPr sz="1100" b="0">
                          <a:solidFill>
                            <a:srgbClr val="1F3355"/>
                          </a:solidFill>
                          <a:latin typeface="Meiryo UI"/>
                        </a:rPr>
                        <a:t>DUID-LL / DUID-LLT</a:t>
                      </a:r>
                    </a:p>
                  </a:txBody>
                  <a:tcPr>
                    <a:solidFill>
                      <a:srgbClr val="F2F6FA"/>
                    </a:solidFill>
                  </a:tcPr>
                </a:tc>
              </a:tr>
              <a:tr h="310896">
                <a:tc>
                  <a:txBody>
                    <a:bodyPr/>
                    <a:lstStyle/>
                    <a:p>
                      <a:pPr algn="l"/>
                      <a:r>
                        <a:rPr sz="1100" b="0">
                          <a:solidFill>
                            <a:srgbClr val="1F3355"/>
                          </a:solidFill>
                          <a:latin typeface="Meiryo UI"/>
                        </a:rPr>
                        <a:t>リンクローカルユニキャストアドレス</a:t>
                      </a:r>
                    </a:p>
                  </a:txBody>
                  <a:tcPr>
                    <a:solidFill>
                      <a:srgbClr val="FFFFFF"/>
                    </a:solidFill>
                  </a:tcPr>
                </a:tc>
                <a:tc>
                  <a:txBody>
                    <a:bodyPr/>
                    <a:lstStyle/>
                    <a:p>
                      <a:pPr algn="l"/>
                      <a:r>
                        <a:rPr sz="1100" b="0">
                          <a:solidFill>
                            <a:srgbClr val="1F3355"/>
                          </a:solidFill>
                          <a:latin typeface="Meiryo UI"/>
                        </a:rPr>
                        <a:t>リンクローカル、fe80</a:t>
                      </a:r>
                    </a:p>
                  </a:txBody>
                  <a:tcPr>
                    <a:solidFill>
                      <a:srgbClr val="FFFFFF"/>
                    </a:solidFill>
                  </a:tcPr>
                </a:tc>
                <a:tc>
                  <a:txBody>
                    <a:bodyPr/>
                    <a:lstStyle/>
                    <a:p>
                      <a:pPr algn="l"/>
                      <a:r>
                        <a:rPr sz="1100" b="0">
                          <a:solidFill>
                            <a:srgbClr val="1F3355"/>
                          </a:solidFill>
                          <a:latin typeface="Meiryo UI"/>
                        </a:rPr>
                        <a:t>link-local</a:t>
                      </a:r>
                    </a:p>
                  </a:txBody>
                  <a:tcPr>
                    <a:solidFill>
                      <a:srgbClr val="FFFFFF"/>
                    </a:solidFill>
                  </a:tcPr>
                </a:tc>
              </a:tr>
              <a:tr h="310896">
                <a:tc>
                  <a:txBody>
                    <a:bodyPr/>
                    <a:lstStyle/>
                    <a:p>
                      <a:pPr algn="l"/>
                      <a:r>
                        <a:rPr sz="1100" b="0">
                          <a:solidFill>
                            <a:srgbClr val="1F3355"/>
                          </a:solidFill>
                          <a:latin typeface="Meiryo UI"/>
                        </a:rPr>
                        <a:t>IPv4/IPv6 共存技術</a:t>
                      </a:r>
                    </a:p>
                  </a:txBody>
                  <a:tcPr>
                    <a:solidFill>
                      <a:srgbClr val="F2F6FA"/>
                    </a:solidFill>
                  </a:tcPr>
                </a:tc>
                <a:tc>
                  <a:txBody>
                    <a:bodyPr/>
                    <a:lstStyle/>
                    <a:p>
                      <a:pPr algn="l"/>
                      <a:r>
                        <a:rPr sz="1100" b="0">
                          <a:solidFill>
                            <a:srgbClr val="1F3355"/>
                          </a:solidFill>
                          <a:latin typeface="Meiryo UI"/>
                        </a:rPr>
                        <a:t>IPv4 over IPv6、v4v6</a:t>
                      </a:r>
                    </a:p>
                  </a:txBody>
                  <a:tcPr>
                    <a:solidFill>
                      <a:srgbClr val="F2F6FA"/>
                    </a:solidFill>
                  </a:tcPr>
                </a:tc>
                <a:tc>
                  <a:txBody>
                    <a:bodyPr/>
                    <a:lstStyle/>
                    <a:p>
                      <a:pPr algn="l"/>
                      <a:r>
                        <a:rPr sz="1100" b="0">
                          <a:solidFill>
                            <a:srgbClr val="1F3355"/>
                          </a:solidFill>
                          <a:latin typeface="Meiryo UI"/>
                        </a:rPr>
                        <a:t>transition technology</a:t>
                      </a:r>
                    </a:p>
                  </a:txBody>
                  <a:tcPr>
                    <a:solidFill>
                      <a:srgbClr val="F2F6FA"/>
                    </a:solidFill>
                  </a:tcPr>
                </a:tc>
              </a:tr>
              <a:tr h="310896">
                <a:tc>
                  <a:txBody>
                    <a:bodyPr/>
                    <a:lstStyle/>
                    <a:p>
                      <a:pPr algn="l"/>
                      <a:r>
                        <a:rPr sz="1100" b="0">
                          <a:solidFill>
                            <a:srgbClr val="1F3355"/>
                          </a:solidFill>
                          <a:latin typeface="Meiryo UI"/>
                        </a:rPr>
                        <a:t>MAP-E</a:t>
                      </a:r>
                    </a:p>
                  </a:txBody>
                  <a:tcPr>
                    <a:solidFill>
                      <a:srgbClr val="FFFFFF"/>
                    </a:solidFill>
                  </a:tcPr>
                </a:tc>
                <a:tc>
                  <a:txBody>
                    <a:bodyPr/>
                    <a:lstStyle/>
                    <a:p>
                      <a:pPr algn="l"/>
                      <a:r>
                        <a:rPr sz="1100" b="0">
                          <a:solidFill>
                            <a:srgbClr val="1F3355"/>
                          </a:solidFill>
                          <a:latin typeface="Meiryo UI"/>
                        </a:rPr>
                        <a:t>マップイー、v6 プラス系</a:t>
                      </a:r>
                    </a:p>
                  </a:txBody>
                  <a:tcPr>
                    <a:solidFill>
                      <a:srgbClr val="FFFFFF"/>
                    </a:solidFill>
                  </a:tcPr>
                </a:tc>
                <a:tc>
                  <a:txBody>
                    <a:bodyPr/>
                    <a:lstStyle/>
                    <a:p>
                      <a:pPr algn="l"/>
                      <a:r>
                        <a:rPr sz="1100" b="0">
                          <a:solidFill>
                            <a:srgbClr val="1F3355"/>
                          </a:solidFill>
                          <a:latin typeface="Meiryo UI"/>
                        </a:rPr>
                        <a:t>MAP-E / nat64 map-e (IOS XE)</a:t>
                      </a:r>
                    </a:p>
                  </a:txBody>
                  <a:tcPr>
                    <a:solidFill>
                      <a:srgbClr val="FFFFFF"/>
                    </a:solidFill>
                  </a:tcPr>
                </a:tc>
              </a:tr>
              <a:tr h="310896">
                <a:tc>
                  <a:txBody>
                    <a:bodyPr/>
                    <a:lstStyle/>
                    <a:p>
                      <a:pPr algn="l"/>
                      <a:r>
                        <a:rPr sz="1100" b="0">
                          <a:solidFill>
                            <a:srgbClr val="1F3355"/>
                          </a:solidFill>
                          <a:latin typeface="Meiryo UI"/>
                        </a:rPr>
                        <a:t>DS-Lite</a:t>
                      </a:r>
                    </a:p>
                  </a:txBody>
                  <a:tcPr>
                    <a:solidFill>
                      <a:srgbClr val="F2F6FA"/>
                    </a:solidFill>
                  </a:tcPr>
                </a:tc>
                <a:tc>
                  <a:txBody>
                    <a:bodyPr/>
                    <a:lstStyle/>
                    <a:p>
                      <a:pPr algn="l"/>
                      <a:r>
                        <a:rPr sz="1100" b="0">
                          <a:solidFill>
                            <a:srgbClr val="1F3355"/>
                          </a:solidFill>
                          <a:latin typeface="Meiryo UI"/>
                        </a:rPr>
                        <a:t>ディーエスライト、transix 系</a:t>
                      </a:r>
                    </a:p>
                  </a:txBody>
                  <a:tcPr>
                    <a:solidFill>
                      <a:srgbClr val="F2F6FA"/>
                    </a:solidFill>
                  </a:tcPr>
                </a:tc>
                <a:tc>
                  <a:txBody>
                    <a:bodyPr/>
                    <a:lstStyle/>
                    <a:p>
                      <a:pPr algn="l"/>
                      <a:r>
                        <a:rPr sz="1100" b="0">
                          <a:solidFill>
                            <a:srgbClr val="1F3355"/>
                          </a:solidFill>
                          <a:latin typeface="Meiryo UI"/>
                        </a:rPr>
                        <a:t>DS-Lite / AFTR</a:t>
                      </a:r>
                    </a:p>
                  </a:txBody>
                  <a:tcPr>
                    <a:solidFill>
                      <a:srgbClr val="F2F6FA"/>
                    </a:solidFill>
                  </a:tcPr>
                </a:tc>
              </a:tr>
              <a:tr h="310896">
                <a:tc>
                  <a:txBody>
                    <a:bodyPr/>
                    <a:lstStyle/>
                    <a:p>
                      <a:pPr algn="l"/>
                      <a:r>
                        <a:rPr sz="1100" b="0">
                          <a:solidFill>
                            <a:srgbClr val="1F3355"/>
                          </a:solidFill>
                          <a:latin typeface="Meiryo UI"/>
                        </a:rPr>
                        <a:t>A+P (ポートセット)</a:t>
                      </a:r>
                    </a:p>
                  </a:txBody>
                  <a:tcPr>
                    <a:solidFill>
                      <a:srgbClr val="FFFFFF"/>
                    </a:solidFill>
                  </a:tcPr>
                </a:tc>
                <a:tc>
                  <a:txBody>
                    <a:bodyPr/>
                    <a:lstStyle/>
                    <a:p>
                      <a:pPr algn="l"/>
                      <a:r>
                        <a:rPr sz="1100" b="0">
                          <a:solidFill>
                            <a:srgbClr val="1F3355"/>
                          </a:solidFill>
                          <a:latin typeface="Meiryo UI"/>
                        </a:rPr>
                        <a:t>ポート制限、PSID</a:t>
                      </a:r>
                    </a:p>
                  </a:txBody>
                  <a:tcPr>
                    <a:solidFill>
                      <a:srgbClr val="FFFFFF"/>
                    </a:solidFill>
                  </a:tcPr>
                </a:tc>
                <a:tc>
                  <a:txBody>
                    <a:bodyPr/>
                    <a:lstStyle/>
                    <a:p>
                      <a:pPr algn="l"/>
                      <a:r>
                        <a:rPr sz="1100" b="0">
                          <a:solidFill>
                            <a:srgbClr val="1F3355"/>
                          </a:solidFill>
                          <a:latin typeface="Meiryo UI"/>
                        </a:rPr>
                        <a:t>port-set / PSID</a:t>
                      </a:r>
                    </a:p>
                  </a:txBody>
                  <a:tcPr>
                    <a:solidFill>
                      <a:srgbClr val="FFFFFF"/>
                    </a:solidFill>
                  </a:tcPr>
                </a:tc>
              </a:tr>
              <a:tr h="310896">
                <a:tc>
                  <a:txBody>
                    <a:bodyPr/>
                    <a:lstStyle/>
                    <a:p>
                      <a:pPr algn="l"/>
                      <a:r>
                        <a:rPr sz="1100" b="0">
                          <a:solidFill>
                            <a:srgbClr val="1F3355"/>
                          </a:solidFill>
                          <a:latin typeface="Meiryo UI"/>
                        </a:rPr>
                        <a:t>CE / B4 / BR / AFTR</a:t>
                      </a:r>
                    </a:p>
                  </a:txBody>
                  <a:tcPr>
                    <a:solidFill>
                      <a:srgbClr val="F2F6FA"/>
                    </a:solidFill>
                  </a:tcPr>
                </a:tc>
                <a:tc>
                  <a:txBody>
                    <a:bodyPr/>
                    <a:lstStyle/>
                    <a:p>
                      <a:pPr algn="l"/>
                      <a:r>
                        <a:rPr sz="1100" b="0">
                          <a:solidFill>
                            <a:srgbClr val="1F3355"/>
                          </a:solidFill>
                          <a:latin typeface="Meiryo UI"/>
                        </a:rPr>
                        <a:t>宅内側 / 網側</a:t>
                      </a:r>
                    </a:p>
                  </a:txBody>
                  <a:tcPr>
                    <a:solidFill>
                      <a:srgbClr val="F2F6FA"/>
                    </a:solidFill>
                  </a:tcPr>
                </a:tc>
                <a:tc>
                  <a:txBody>
                    <a:bodyPr/>
                    <a:lstStyle/>
                    <a:p>
                      <a:pPr algn="l"/>
                      <a:r>
                        <a:rPr sz="1100" b="0">
                          <a:solidFill>
                            <a:srgbClr val="1F3355"/>
                          </a:solidFill>
                          <a:latin typeface="Meiryo UI"/>
                        </a:rPr>
                        <a:t>CE, B4 (宅内) / BR, AFTR (網側)</a:t>
                      </a:r>
                    </a:p>
                  </a:txBody>
                  <a:tcPr>
                    <a:solidFill>
                      <a:srgbClr val="F2F6FA"/>
                    </a:solidFill>
                  </a:tcPr>
                </a:tc>
              </a:tr>
              <a:tr h="310896">
                <a:tc>
                  <a:txBody>
                    <a:bodyPr/>
                    <a:lstStyle/>
                    <a:p>
                      <a:pPr algn="l"/>
                      <a:r>
                        <a:rPr sz="1100" b="0">
                          <a:solidFill>
                            <a:srgbClr val="1F3355"/>
                          </a:solidFill>
                          <a:latin typeface="Meiryo UI"/>
                        </a:rPr>
                        <a:t>Path MTU discovery</a:t>
                      </a:r>
                    </a:p>
                  </a:txBody>
                  <a:tcPr>
                    <a:solidFill>
                      <a:srgbClr val="FFFFFF"/>
                    </a:solidFill>
                  </a:tcPr>
                </a:tc>
                <a:tc>
                  <a:txBody>
                    <a:bodyPr/>
                    <a:lstStyle/>
                    <a:p>
                      <a:pPr algn="l"/>
                      <a:r>
                        <a:rPr sz="1100" b="0">
                          <a:solidFill>
                            <a:srgbClr val="1F3355"/>
                          </a:solidFill>
                          <a:latin typeface="Meiryo UI"/>
                        </a:rPr>
                        <a:t>PMTUD、MTU 探索</a:t>
                      </a:r>
                    </a:p>
                  </a:txBody>
                  <a:tcPr>
                    <a:solidFill>
                      <a:srgbClr val="FFFFFF"/>
                    </a:solidFill>
                  </a:tcPr>
                </a:tc>
                <a:tc>
                  <a:txBody>
                    <a:bodyPr/>
                    <a:lstStyle/>
                    <a:p>
                      <a:pPr algn="l"/>
                      <a:r>
                        <a:rPr sz="1100" b="0">
                          <a:solidFill>
                            <a:srgbClr val="1F3355"/>
                          </a:solidFill>
                          <a:latin typeface="Meiryo UI"/>
                        </a:rPr>
                        <a:t>path-mtu-discovery</a:t>
                      </a:r>
                    </a:p>
                  </a:txBody>
                  <a:tcPr>
                    <a:solidFill>
                      <a:srgbClr val="FFFFFF"/>
                    </a:solidFill>
                  </a:tcPr>
                </a:tc>
              </a:tr>
            </a:tbl>
          </a:graphicData>
        </a:graphic>
      </p:graphicFrame>
      <p:sp>
        <p:nvSpPr>
          <p:cNvPr id="4" name="TextBox 3"/>
          <p:cNvSpPr txBox="1"/>
          <p:nvPr/>
        </p:nvSpPr>
        <p:spPr>
          <a:xfrm>
            <a:off x="502920" y="5751576"/>
            <a:ext cx="11155680" cy="548640"/>
          </a:xfrm>
          <a:prstGeom prst="rect">
            <a:avLst/>
          </a:prstGeom>
          <a:noFill/>
        </p:spPr>
        <p:txBody>
          <a:bodyPr wrap="square">
            <a:spAutoFit/>
          </a:bodyPr>
          <a:lstStyle/>
          <a:p>
            <a:pPr algn="l"/>
            <a:r>
              <a:rPr sz="1200" b="0">
                <a:solidFill>
                  <a:srgbClr val="007ACC"/>
                </a:solidFill>
                <a:latin typeface="Meiryo UI"/>
              </a:rPr>
              <a:t>※ v6プラス / transix / クロスパス / IPv6オプション は「サービス名」。方式名ではない</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600" b="1">
                <a:solidFill>
                  <a:srgbClr val="1F3355"/>
                </a:solidFill>
                <a:latin typeface="Meiryo UI"/>
              </a:rPr>
              <a:t>トラブル再現レシピ → 読むべき節と、現場の対処</a:t>
            </a:r>
          </a:p>
        </p:txBody>
      </p:sp>
      <p:graphicFrame>
        <p:nvGraphicFramePr>
          <p:cNvPr id="3" name="Table 2"/>
          <p:cNvGraphicFramePr>
            <a:graphicFrameLocks noGrp="1"/>
          </p:cNvGraphicFramePr>
          <p:nvPr/>
        </p:nvGraphicFramePr>
        <p:xfrm>
          <a:off x="502920" y="1143000"/>
          <a:ext cx="11155680" cy="4352544"/>
        </p:xfrm>
        <a:graphic>
          <a:graphicData uri="http://schemas.openxmlformats.org/drawingml/2006/table">
            <a:tbl>
              <a:tblPr>
                <a:tableStyleId>{5C22544A-7EE6-4342-B048-85BDC9FD1C3A}</a:tableStyleId>
              </a:tblPr>
              <a:tblGrid>
                <a:gridCol w="914400"/>
                <a:gridCol w="4572000"/>
                <a:gridCol w="2651760"/>
                <a:gridCol w="3017520"/>
              </a:tblGrid>
              <a:tr h="310896">
                <a:tc>
                  <a:txBody>
                    <a:bodyPr/>
                    <a:lstStyle/>
                    <a:p>
                      <a:pPr algn="l"/>
                      <a:r>
                        <a:rPr sz="1200" b="1">
                          <a:solidFill>
                            <a:srgbClr val="FFFFFF"/>
                          </a:solidFill>
                          <a:latin typeface="Meiryo UI"/>
                        </a:rPr>
                        <a:t>レシピ</a:t>
                      </a:r>
                    </a:p>
                  </a:txBody>
                  <a:tcPr>
                    <a:solidFill>
                      <a:srgbClr val="1F3355"/>
                    </a:solidFill>
                  </a:tcPr>
                </a:tc>
                <a:tc>
                  <a:txBody>
                    <a:bodyPr/>
                    <a:lstStyle/>
                    <a:p>
                      <a:pPr algn="l"/>
                      <a:r>
                        <a:rPr sz="1200" b="1">
                          <a:solidFill>
                            <a:srgbClr val="FFFFFF"/>
                          </a:solidFill>
                          <a:latin typeface="Meiryo UI"/>
                        </a:rPr>
                        <a:t>現象</a:t>
                      </a:r>
                    </a:p>
                  </a:txBody>
                  <a:tcPr>
                    <a:solidFill>
                      <a:srgbClr val="1F3355"/>
                    </a:solidFill>
                  </a:tcPr>
                </a:tc>
                <a:tc>
                  <a:txBody>
                    <a:bodyPr/>
                    <a:lstStyle/>
                    <a:p>
                      <a:pPr algn="l"/>
                      <a:r>
                        <a:rPr sz="1200" b="1">
                          <a:solidFill>
                            <a:srgbClr val="FFFFFF"/>
                          </a:solidFill>
                          <a:latin typeface="Meiryo UI"/>
                        </a:rPr>
                        <a:t>教科書</a:t>
                      </a:r>
                    </a:p>
                  </a:txBody>
                  <a:tcPr>
                    <a:solidFill>
                      <a:srgbClr val="1F3355"/>
                    </a:solidFill>
                  </a:tcPr>
                </a:tc>
                <a:tc>
                  <a:txBody>
                    <a:bodyPr/>
                    <a:lstStyle/>
                    <a:p>
                      <a:pPr algn="l"/>
                      <a:r>
                        <a:rPr sz="1200" b="1">
                          <a:solidFill>
                            <a:srgbClr val="FFFFFF"/>
                          </a:solidFill>
                          <a:latin typeface="Meiryo UI"/>
                        </a:rPr>
                        <a:t>対処</a:t>
                      </a:r>
                    </a:p>
                  </a:txBody>
                  <a:tcPr>
                    <a:solidFill>
                      <a:srgbClr val="1F3355"/>
                    </a:solidFill>
                  </a:tcPr>
                </a:tc>
              </a:tr>
              <a:tr h="310896">
                <a:tc>
                  <a:txBody>
                    <a:bodyPr/>
                    <a:lstStyle/>
                    <a:p>
                      <a:pPr algn="l"/>
                      <a:r>
                        <a:rPr sz="1100" b="0">
                          <a:solidFill>
                            <a:srgbClr val="1F3355"/>
                          </a:solidFill>
                          <a:latin typeface="Meiryo UI"/>
                        </a:rPr>
                        <a:t>R1</a:t>
                      </a:r>
                    </a:p>
                  </a:txBody>
                  <a:tcPr>
                    <a:solidFill>
                      <a:srgbClr val="FFFFFF"/>
                    </a:solidFill>
                  </a:tcPr>
                </a:tc>
                <a:tc>
                  <a:txBody>
                    <a:bodyPr/>
                    <a:lstStyle/>
                    <a:p>
                      <a:pPr algn="l"/>
                      <a:r>
                        <a:rPr sz="1100" b="0">
                          <a:solidFill>
                            <a:srgbClr val="1F3355"/>
                          </a:solidFill>
                          <a:latin typeface="Meiryo UI"/>
                        </a:rPr>
                        <a:t>RA 方式なのに PD 前提設定 (最頻出)</a:t>
                      </a:r>
                    </a:p>
                  </a:txBody>
                  <a:tcPr>
                    <a:solidFill>
                      <a:srgbClr val="FFFFFF"/>
                    </a:solidFill>
                  </a:tcPr>
                </a:tc>
                <a:tc>
                  <a:txBody>
                    <a:bodyPr/>
                    <a:lstStyle/>
                    <a:p>
                      <a:pPr algn="l"/>
                      <a:r>
                        <a:rPr sz="1100" b="0">
                          <a:solidFill>
                            <a:srgbClr val="1F3355"/>
                          </a:solidFill>
                          <a:latin typeface="Meiryo UI"/>
                        </a:rPr>
                        <a:t>7.1-7.7 / 8.7</a:t>
                      </a:r>
                    </a:p>
                  </a:txBody>
                  <a:tcPr>
                    <a:solidFill>
                      <a:srgbClr val="FFFFFF"/>
                    </a:solidFill>
                  </a:tcPr>
                </a:tc>
                <a:tc>
                  <a:txBody>
                    <a:bodyPr/>
                    <a:lstStyle/>
                    <a:p>
                      <a:pPr algn="l"/>
                      <a:r>
                        <a:rPr sz="1100" b="0">
                          <a:solidFill>
                            <a:srgbClr val="1F3355"/>
                          </a:solidFill>
                          <a:latin typeface="Meiryo UI"/>
                        </a:rPr>
                        <a:t>ヒアリング#1 やり直し</a:t>
                      </a:r>
                    </a:p>
                  </a:txBody>
                  <a:tcPr>
                    <a:solidFill>
                      <a:srgbClr val="FFFFFF"/>
                    </a:solidFill>
                  </a:tcPr>
                </a:tc>
              </a:tr>
              <a:tr h="310896">
                <a:tc>
                  <a:txBody>
                    <a:bodyPr/>
                    <a:lstStyle/>
                    <a:p>
                      <a:pPr algn="l"/>
                      <a:r>
                        <a:rPr sz="1100" b="0">
                          <a:solidFill>
                            <a:srgbClr val="1F3355"/>
                          </a:solidFill>
                          <a:latin typeface="Meiryo UI"/>
                        </a:rPr>
                        <a:t>R2</a:t>
                      </a:r>
                    </a:p>
                  </a:txBody>
                  <a:tcPr>
                    <a:solidFill>
                      <a:srgbClr val="F2F6FA"/>
                    </a:solidFill>
                  </a:tcPr>
                </a:tc>
                <a:tc>
                  <a:txBody>
                    <a:bodyPr/>
                    <a:lstStyle/>
                    <a:p>
                      <a:pPr algn="l"/>
                      <a:r>
                        <a:rPr sz="1100" b="0">
                          <a:solidFill>
                            <a:srgbClr val="1F3355"/>
                          </a:solidFill>
                          <a:latin typeface="Meiryo UI"/>
                        </a:rPr>
                        <a:t>PPPoE セッション残留</a:t>
                      </a:r>
                    </a:p>
                  </a:txBody>
                  <a:tcPr>
                    <a:solidFill>
                      <a:srgbClr val="F2F6FA"/>
                    </a:solidFill>
                  </a:tcPr>
                </a:tc>
                <a:tc>
                  <a:txBody>
                    <a:bodyPr/>
                    <a:lstStyle/>
                    <a:p>
                      <a:pPr algn="l"/>
                      <a:r>
                        <a:rPr sz="1100" b="0">
                          <a:solidFill>
                            <a:srgbClr val="1F3355"/>
                          </a:solidFill>
                          <a:latin typeface="Meiryo UI"/>
                        </a:rPr>
                        <a:t>付録A.3</a:t>
                      </a:r>
                    </a:p>
                  </a:txBody>
                  <a:tcPr>
                    <a:solidFill>
                      <a:srgbClr val="F2F6FA"/>
                    </a:solidFill>
                  </a:tcPr>
                </a:tc>
                <a:tc>
                  <a:txBody>
                    <a:bodyPr/>
                    <a:lstStyle/>
                    <a:p>
                      <a:pPr algn="l"/>
                      <a:r>
                        <a:rPr sz="1100" b="0">
                          <a:solidFill>
                            <a:srgbClr val="1F3355"/>
                          </a:solidFill>
                          <a:latin typeface="Meiryo UI"/>
                        </a:rPr>
                        <a:t>ISP に強制切断依頼</a:t>
                      </a:r>
                    </a:p>
                  </a:txBody>
                  <a:tcPr>
                    <a:solidFill>
                      <a:srgbClr val="F2F6FA"/>
                    </a:solidFill>
                  </a:tcPr>
                </a:tc>
              </a:tr>
              <a:tr h="310896">
                <a:tc>
                  <a:txBody>
                    <a:bodyPr/>
                    <a:lstStyle/>
                    <a:p>
                      <a:pPr algn="l"/>
                      <a:r>
                        <a:rPr sz="1100" b="0">
                          <a:solidFill>
                            <a:srgbClr val="1F3355"/>
                          </a:solidFill>
                          <a:latin typeface="Meiryo UI"/>
                        </a:rPr>
                        <a:t>R3</a:t>
                      </a:r>
                    </a:p>
                  </a:txBody>
                  <a:tcPr>
                    <a:solidFill>
                      <a:srgbClr val="FFFFFF"/>
                    </a:solidFill>
                  </a:tcPr>
                </a:tc>
                <a:tc>
                  <a:txBody>
                    <a:bodyPr/>
                    <a:lstStyle/>
                    <a:p>
                      <a:pPr algn="l"/>
                      <a:r>
                        <a:rPr sz="1100" b="0">
                          <a:solidFill>
                            <a:srgbClr val="1F3355"/>
                          </a:solidFill>
                          <a:latin typeface="Meiryo UI"/>
                        </a:rPr>
                        <a:t>MAP-E ポート制限</a:t>
                      </a:r>
                    </a:p>
                  </a:txBody>
                  <a:tcPr>
                    <a:solidFill>
                      <a:srgbClr val="FFFFFF"/>
                    </a:solidFill>
                  </a:tcPr>
                </a:tc>
                <a:tc>
                  <a:txBody>
                    <a:bodyPr/>
                    <a:lstStyle/>
                    <a:p>
                      <a:pPr algn="l"/>
                      <a:r>
                        <a:rPr sz="1100" b="0">
                          <a:solidFill>
                            <a:srgbClr val="1F3355"/>
                          </a:solidFill>
                          <a:latin typeface="Meiryo UI"/>
                        </a:rPr>
                        <a:t>24.3 / 24.4 / 19.4</a:t>
                      </a:r>
                    </a:p>
                  </a:txBody>
                  <a:tcPr>
                    <a:solidFill>
                      <a:srgbClr val="FFFFFF"/>
                    </a:solidFill>
                  </a:tcPr>
                </a:tc>
                <a:tc>
                  <a:txBody>
                    <a:bodyPr/>
                    <a:lstStyle/>
                    <a:p>
                      <a:pPr algn="l"/>
                      <a:r>
                        <a:rPr sz="1100" b="0">
                          <a:solidFill>
                            <a:srgbClr val="1F3355"/>
                          </a:solidFill>
                          <a:latin typeface="Meiryo UI"/>
                        </a:rPr>
                        <a:t>使用ポートを範囲内に寄せる</a:t>
                      </a:r>
                    </a:p>
                  </a:txBody>
                  <a:tcPr>
                    <a:solidFill>
                      <a:srgbClr val="FFFFFF"/>
                    </a:solidFill>
                  </a:tcPr>
                </a:tc>
              </a:tr>
              <a:tr h="310896">
                <a:tc>
                  <a:txBody>
                    <a:bodyPr/>
                    <a:lstStyle/>
                    <a:p>
                      <a:pPr algn="l"/>
                      <a:r>
                        <a:rPr sz="1100" b="0">
                          <a:solidFill>
                            <a:srgbClr val="1F3355"/>
                          </a:solidFill>
                          <a:latin typeface="Meiryo UI"/>
                        </a:rPr>
                        <a:t>R4</a:t>
                      </a:r>
                    </a:p>
                  </a:txBody>
                  <a:tcPr>
                    <a:solidFill>
                      <a:srgbClr val="F2F6FA"/>
                    </a:solidFill>
                  </a:tcPr>
                </a:tc>
                <a:tc>
                  <a:txBody>
                    <a:bodyPr/>
                    <a:lstStyle/>
                    <a:p>
                      <a:pPr algn="l"/>
                      <a:r>
                        <a:rPr sz="1100" b="0">
                          <a:solidFill>
                            <a:srgbClr val="1F3355"/>
                          </a:solidFill>
                          <a:latin typeface="Meiryo UI"/>
                        </a:rPr>
                        <a:t>DS-Lite でポート開放不可</a:t>
                      </a:r>
                    </a:p>
                  </a:txBody>
                  <a:tcPr>
                    <a:solidFill>
                      <a:srgbClr val="F2F6FA"/>
                    </a:solidFill>
                  </a:tcPr>
                </a:tc>
                <a:tc>
                  <a:txBody>
                    <a:bodyPr/>
                    <a:lstStyle/>
                    <a:p>
                      <a:pPr algn="l"/>
                      <a:r>
                        <a:rPr sz="1100" b="0">
                          <a:solidFill>
                            <a:srgbClr val="1F3355"/>
                          </a:solidFill>
                          <a:latin typeface="Meiryo UI"/>
                        </a:rPr>
                        <a:t>24.1 / 19.3</a:t>
                      </a:r>
                    </a:p>
                  </a:txBody>
                  <a:tcPr>
                    <a:solidFill>
                      <a:srgbClr val="F2F6FA"/>
                    </a:solidFill>
                  </a:tcPr>
                </a:tc>
                <a:tc>
                  <a:txBody>
                    <a:bodyPr/>
                    <a:lstStyle/>
                    <a:p>
                      <a:pPr algn="l"/>
                      <a:r>
                        <a:rPr sz="1100" b="0">
                          <a:solidFill>
                            <a:srgbClr val="1F3355"/>
                          </a:solidFill>
                          <a:latin typeface="Meiryo UI"/>
                        </a:rPr>
                        <a:t>方式変更 / 固定IP / PPPoE併用</a:t>
                      </a:r>
                    </a:p>
                  </a:txBody>
                  <a:tcPr>
                    <a:solidFill>
                      <a:srgbClr val="F2F6FA"/>
                    </a:solidFill>
                  </a:tcPr>
                </a:tc>
              </a:tr>
              <a:tr h="310896">
                <a:tc>
                  <a:txBody>
                    <a:bodyPr/>
                    <a:lstStyle/>
                    <a:p>
                      <a:pPr algn="l"/>
                      <a:r>
                        <a:rPr sz="1100" b="0">
                          <a:solidFill>
                            <a:srgbClr val="1F3355"/>
                          </a:solidFill>
                          <a:latin typeface="Meiryo UI"/>
                        </a:rPr>
                        <a:t>R5</a:t>
                      </a:r>
                    </a:p>
                  </a:txBody>
                  <a:tcPr>
                    <a:solidFill>
                      <a:srgbClr val="FFFFFF"/>
                    </a:solidFill>
                  </a:tcPr>
                </a:tc>
                <a:tc>
                  <a:txBody>
                    <a:bodyPr/>
                    <a:lstStyle/>
                    <a:p>
                      <a:pPr algn="l"/>
                      <a:r>
                        <a:rPr sz="1100" b="0">
                          <a:solidFill>
                            <a:srgbClr val="1F3355"/>
                          </a:solidFill>
                          <a:latin typeface="Meiryo UI"/>
                        </a:rPr>
                        <a:t>MTU ブラックホール</a:t>
                      </a:r>
                    </a:p>
                  </a:txBody>
                  <a:tcPr>
                    <a:solidFill>
                      <a:srgbClr val="FFFFFF"/>
                    </a:solidFill>
                  </a:tcPr>
                </a:tc>
                <a:tc>
                  <a:txBody>
                    <a:bodyPr/>
                    <a:lstStyle/>
                    <a:p>
                      <a:pPr algn="l"/>
                      <a:r>
                        <a:rPr sz="1100" b="0">
                          <a:solidFill>
                            <a:srgbClr val="1F3355"/>
                          </a:solidFill>
                          <a:latin typeface="Meiryo UI"/>
                        </a:rPr>
                        <a:t>第10章 / 9.2 / 14.9</a:t>
                      </a:r>
                    </a:p>
                  </a:txBody>
                  <a:tcPr>
                    <a:solidFill>
                      <a:srgbClr val="FFFFFF"/>
                    </a:solidFill>
                  </a:tcPr>
                </a:tc>
                <a:tc>
                  <a:txBody>
                    <a:bodyPr/>
                    <a:lstStyle/>
                    <a:p>
                      <a:pPr algn="l"/>
                      <a:r>
                        <a:rPr sz="1100" b="0">
                          <a:solidFill>
                            <a:srgbClr val="1F3355"/>
                          </a:solidFill>
                          <a:latin typeface="Meiryo UI"/>
                        </a:rPr>
                        <a:t>MSS clamp / MTU 手動設定</a:t>
                      </a:r>
                    </a:p>
                  </a:txBody>
                  <a:tcPr>
                    <a:solidFill>
                      <a:srgbClr val="FFFFFF"/>
                    </a:solidFill>
                  </a:tcPr>
                </a:tc>
              </a:tr>
              <a:tr h="310896">
                <a:tc>
                  <a:txBody>
                    <a:bodyPr/>
                    <a:lstStyle/>
                    <a:p>
                      <a:pPr algn="l"/>
                      <a:r>
                        <a:rPr sz="1100" b="0">
                          <a:solidFill>
                            <a:srgbClr val="1F3355"/>
                          </a:solidFill>
                          <a:latin typeface="Meiryo UI"/>
                        </a:rPr>
                        <a:t>R6</a:t>
                      </a:r>
                    </a:p>
                  </a:txBody>
                  <a:tcPr>
                    <a:solidFill>
                      <a:srgbClr val="F2F6FA"/>
                    </a:solidFill>
                  </a:tcPr>
                </a:tc>
                <a:tc>
                  <a:txBody>
                    <a:bodyPr/>
                    <a:lstStyle/>
                    <a:p>
                      <a:pPr algn="l"/>
                      <a:r>
                        <a:rPr sz="1100" b="0">
                          <a:solidFill>
                            <a:srgbClr val="1F3355"/>
                          </a:solidFill>
                          <a:latin typeface="Meiryo UI"/>
                        </a:rPr>
                        <a:t>DNS フォールバック遅延</a:t>
                      </a:r>
                    </a:p>
                  </a:txBody>
                  <a:tcPr>
                    <a:solidFill>
                      <a:srgbClr val="F2F6FA"/>
                    </a:solidFill>
                  </a:tcPr>
                </a:tc>
                <a:tc>
                  <a:txBody>
                    <a:bodyPr/>
                    <a:lstStyle/>
                    <a:p>
                      <a:pPr algn="l"/>
                      <a:r>
                        <a:rPr sz="1100" b="0">
                          <a:solidFill>
                            <a:srgbClr val="1F3355"/>
                          </a:solidFill>
                          <a:latin typeface="Meiryo UI"/>
                        </a:rPr>
                        <a:t>17.2 / 15.3</a:t>
                      </a:r>
                    </a:p>
                  </a:txBody>
                  <a:tcPr>
                    <a:solidFill>
                      <a:srgbClr val="F2F6FA"/>
                    </a:solidFill>
                  </a:tcPr>
                </a:tc>
                <a:tc>
                  <a:txBody>
                    <a:bodyPr/>
                    <a:lstStyle/>
                    <a:p>
                      <a:pPr algn="l"/>
                      <a:r>
                        <a:rPr sz="1100" b="0">
                          <a:solidFill>
                            <a:srgbClr val="1F3355"/>
                          </a:solidFill>
                          <a:latin typeface="Meiryo UI"/>
                        </a:rPr>
                        <a:t>AAAA を止める / v6 経路を直す</a:t>
                      </a:r>
                    </a:p>
                  </a:txBody>
                  <a:tcPr>
                    <a:solidFill>
                      <a:srgbClr val="F2F6FA"/>
                    </a:solidFill>
                  </a:tcPr>
                </a:tc>
              </a:tr>
              <a:tr h="310896">
                <a:tc>
                  <a:txBody>
                    <a:bodyPr/>
                    <a:lstStyle/>
                    <a:p>
                      <a:pPr algn="l"/>
                      <a:r>
                        <a:rPr sz="1100" b="0">
                          <a:solidFill>
                            <a:srgbClr val="1F3355"/>
                          </a:solidFill>
                          <a:latin typeface="Meiryo UI"/>
                        </a:rPr>
                        <a:t>R7</a:t>
                      </a:r>
                    </a:p>
                  </a:txBody>
                  <a:tcPr>
                    <a:solidFill>
                      <a:srgbClr val="FFFFFF"/>
                    </a:solidFill>
                  </a:tcPr>
                </a:tc>
                <a:tc>
                  <a:txBody>
                    <a:bodyPr/>
                    <a:lstStyle/>
                    <a:p>
                      <a:pPr algn="l"/>
                      <a:r>
                        <a:rPr sz="1100" b="0">
                          <a:solidFill>
                            <a:srgbClr val="1F3355"/>
                          </a:solidFill>
                          <a:latin typeface="Meiryo UI"/>
                        </a:rPr>
                        <a:t>二重終端 (HGW + 配下ルータ)</a:t>
                      </a:r>
                    </a:p>
                  </a:txBody>
                  <a:tcPr>
                    <a:solidFill>
                      <a:srgbClr val="FFFFFF"/>
                    </a:solidFill>
                  </a:tcPr>
                </a:tc>
                <a:tc>
                  <a:txBody>
                    <a:bodyPr/>
                    <a:lstStyle/>
                    <a:p>
                      <a:pPr algn="l"/>
                      <a:r>
                        <a:rPr sz="1100" b="0">
                          <a:solidFill>
                            <a:srgbClr val="1F3355"/>
                          </a:solidFill>
                          <a:latin typeface="Meiryo UI"/>
                        </a:rPr>
                        <a:t>付録B / 13.2</a:t>
                      </a:r>
                    </a:p>
                  </a:txBody>
                  <a:tcPr>
                    <a:solidFill>
                      <a:srgbClr val="FFFFFF"/>
                    </a:solidFill>
                  </a:tcPr>
                </a:tc>
                <a:tc>
                  <a:txBody>
                    <a:bodyPr/>
                    <a:lstStyle/>
                    <a:p>
                      <a:pPr algn="l"/>
                      <a:r>
                        <a:rPr sz="1100" b="0">
                          <a:solidFill>
                            <a:srgbClr val="1F3355"/>
                          </a:solidFill>
                          <a:latin typeface="Meiryo UI"/>
                        </a:rPr>
                        <a:t>どちらで終端するか設計で確定</a:t>
                      </a:r>
                    </a:p>
                  </a:txBody>
                  <a:tcPr>
                    <a:solidFill>
                      <a:srgbClr val="FFFFFF"/>
                    </a:solidFill>
                  </a:tcPr>
                </a:tc>
              </a:tr>
              <a:tr h="310896">
                <a:tc>
                  <a:txBody>
                    <a:bodyPr/>
                    <a:lstStyle/>
                    <a:p>
                      <a:pPr algn="l"/>
                      <a:r>
                        <a:rPr sz="1100" b="0">
                          <a:solidFill>
                            <a:srgbClr val="1F3355"/>
                          </a:solidFill>
                          <a:latin typeface="Meiryo UI"/>
                        </a:rPr>
                        <a:t>R8</a:t>
                      </a:r>
                    </a:p>
                  </a:txBody>
                  <a:tcPr>
                    <a:solidFill>
                      <a:srgbClr val="F2F6FA"/>
                    </a:solidFill>
                  </a:tcPr>
                </a:tc>
                <a:tc>
                  <a:txBody>
                    <a:bodyPr/>
                    <a:lstStyle/>
                    <a:p>
                      <a:pPr algn="l"/>
                      <a:r>
                        <a:rPr sz="1100" b="0">
                          <a:solidFill>
                            <a:srgbClr val="1F3355"/>
                          </a:solidFill>
                          <a:latin typeface="Meiryo UI"/>
                        </a:rPr>
                        <a:t>v6 オプション未契約相当</a:t>
                      </a:r>
                    </a:p>
                  </a:txBody>
                  <a:tcPr>
                    <a:solidFill>
                      <a:srgbClr val="F2F6FA"/>
                    </a:solidFill>
                  </a:tcPr>
                </a:tc>
                <a:tc>
                  <a:txBody>
                    <a:bodyPr/>
                    <a:lstStyle/>
                    <a:p>
                      <a:pPr algn="l"/>
                      <a:r>
                        <a:rPr sz="1100" b="0">
                          <a:solidFill>
                            <a:srgbClr val="1F3355"/>
                          </a:solidFill>
                          <a:latin typeface="Meiryo UI"/>
                        </a:rPr>
                        <a:t>付録A.2</a:t>
                      </a:r>
                    </a:p>
                  </a:txBody>
                  <a:tcPr>
                    <a:solidFill>
                      <a:srgbClr val="F2F6FA"/>
                    </a:solidFill>
                  </a:tcPr>
                </a:tc>
                <a:tc>
                  <a:txBody>
                    <a:bodyPr/>
                    <a:lstStyle/>
                    <a:p>
                      <a:pPr algn="l"/>
                      <a:r>
                        <a:rPr sz="1100" b="0">
                          <a:solidFill>
                            <a:srgbClr val="1F3355"/>
                          </a:solidFill>
                          <a:latin typeface="Meiryo UI"/>
                        </a:rPr>
                        <a:t>契約状態確認</a:t>
                      </a:r>
                    </a:p>
                  </a:txBody>
                  <a:tcPr>
                    <a:solidFill>
                      <a:srgbClr val="F2F6FA"/>
                    </a:solidFill>
                  </a:tcPr>
                </a:tc>
              </a:tr>
              <a:tr h="310896">
                <a:tc>
                  <a:txBody>
                    <a:bodyPr/>
                    <a:lstStyle/>
                    <a:p>
                      <a:pPr algn="l"/>
                      <a:r>
                        <a:rPr sz="1100" b="0">
                          <a:solidFill>
                            <a:srgbClr val="1F3355"/>
                          </a:solidFill>
                          <a:latin typeface="Meiryo UI"/>
                        </a:rPr>
                        <a:t>R9</a:t>
                      </a:r>
                    </a:p>
                  </a:txBody>
                  <a:tcPr>
                    <a:solidFill>
                      <a:srgbClr val="FFFFFF"/>
                    </a:solidFill>
                  </a:tcPr>
                </a:tc>
                <a:tc>
                  <a:txBody>
                    <a:bodyPr/>
                    <a:lstStyle/>
                    <a:p>
                      <a:pPr algn="l"/>
                      <a:r>
                        <a:rPr sz="1100" b="0">
                          <a:solidFill>
                            <a:srgbClr val="1F3355"/>
                          </a:solidFill>
                          <a:latin typeface="Meiryo UI"/>
                        </a:rPr>
                        <a:t>プレフィックス変更で LAN が追従しない</a:t>
                      </a:r>
                    </a:p>
                  </a:txBody>
                  <a:tcPr>
                    <a:solidFill>
                      <a:srgbClr val="FFFFFF"/>
                    </a:solidFill>
                  </a:tcPr>
                </a:tc>
                <a:tc>
                  <a:txBody>
                    <a:bodyPr/>
                    <a:lstStyle/>
                    <a:p>
                      <a:pPr algn="l"/>
                      <a:r>
                        <a:rPr sz="1100" b="0">
                          <a:solidFill>
                            <a:srgbClr val="1F3355"/>
                          </a:solidFill>
                          <a:latin typeface="Meiryo UI"/>
                        </a:rPr>
                        <a:t>7.8 / 13.3</a:t>
                      </a:r>
                    </a:p>
                  </a:txBody>
                  <a:tcPr>
                    <a:solidFill>
                      <a:srgbClr val="FFFFFF"/>
                    </a:solidFill>
                  </a:tcPr>
                </a:tc>
                <a:tc>
                  <a:txBody>
                    <a:bodyPr/>
                    <a:lstStyle/>
                    <a:p>
                      <a:pPr algn="l"/>
                      <a:r>
                        <a:rPr sz="1100" b="0">
                          <a:solidFill>
                            <a:srgbClr val="1F3355"/>
                          </a:solidFill>
                          <a:latin typeface="Meiryo UI"/>
                        </a:rPr>
                        <a:t>固定前提の設計をやめる</a:t>
                      </a:r>
                    </a:p>
                  </a:txBody>
                  <a:tcPr>
                    <a:solidFill>
                      <a:srgbClr val="FFFFFF"/>
                    </a:solidFill>
                  </a:tcPr>
                </a:tc>
              </a:tr>
              <a:tr h="310896">
                <a:tc>
                  <a:txBody>
                    <a:bodyPr/>
                    <a:lstStyle/>
                    <a:p>
                      <a:pPr algn="l"/>
                      <a:r>
                        <a:rPr sz="1100" b="0">
                          <a:solidFill>
                            <a:srgbClr val="1F3355"/>
                          </a:solidFill>
                          <a:latin typeface="Meiryo UI"/>
                        </a:rPr>
                        <a:t>R10</a:t>
                      </a:r>
                    </a:p>
                  </a:txBody>
                  <a:tcPr>
                    <a:solidFill>
                      <a:srgbClr val="F2F6FA"/>
                    </a:solidFill>
                  </a:tcPr>
                </a:tc>
                <a:tc>
                  <a:txBody>
                    <a:bodyPr/>
                    <a:lstStyle/>
                    <a:p>
                      <a:pPr algn="l"/>
                      <a:r>
                        <a:rPr sz="1100" b="0">
                          <a:solidFill>
                            <a:srgbClr val="1F3355"/>
                          </a:solidFill>
                          <a:latin typeface="Meiryo UI"/>
                        </a:rPr>
                        <a:t>PPPoE 併用時の経路非対称</a:t>
                      </a:r>
                    </a:p>
                  </a:txBody>
                  <a:tcPr>
                    <a:solidFill>
                      <a:srgbClr val="F2F6FA"/>
                    </a:solidFill>
                  </a:tcPr>
                </a:tc>
                <a:tc>
                  <a:txBody>
                    <a:bodyPr/>
                    <a:lstStyle/>
                    <a:p>
                      <a:pPr algn="l"/>
                      <a:r>
                        <a:rPr sz="1100" b="0">
                          <a:solidFill>
                            <a:srgbClr val="1F3355"/>
                          </a:solidFill>
                          <a:latin typeface="Meiryo UI"/>
                        </a:rPr>
                        <a:t>13.1 / 13.2</a:t>
                      </a:r>
                    </a:p>
                  </a:txBody>
                  <a:tcPr>
                    <a:solidFill>
                      <a:srgbClr val="F2F6FA"/>
                    </a:solidFill>
                  </a:tcPr>
                </a:tc>
                <a:tc>
                  <a:txBody>
                    <a:bodyPr/>
                    <a:lstStyle/>
                    <a:p>
                      <a:pPr algn="l"/>
                      <a:r>
                        <a:rPr sz="1100" b="0">
                          <a:solidFill>
                            <a:srgbClr val="1F3355"/>
                          </a:solidFill>
                          <a:latin typeface="Meiryo UI"/>
                        </a:rPr>
                        <a:t>経路とアドレス選択を明示設定</a:t>
                      </a:r>
                    </a:p>
                  </a:txBody>
                  <a:tcPr>
                    <a:solidFill>
                      <a:srgbClr val="F2F6FA"/>
                    </a:solidFill>
                  </a:tcPr>
                </a:tc>
              </a:tr>
              <a:tr h="310896">
                <a:tc>
                  <a:txBody>
                    <a:bodyPr/>
                    <a:lstStyle/>
                    <a:p>
                      <a:pPr algn="l"/>
                      <a:r>
                        <a:rPr sz="1100" b="0">
                          <a:solidFill>
                            <a:srgbClr val="1F3355"/>
                          </a:solidFill>
                          <a:latin typeface="Meiryo UI"/>
                        </a:rPr>
                        <a:t>R11</a:t>
                      </a:r>
                    </a:p>
                  </a:txBody>
                  <a:tcPr>
                    <a:solidFill>
                      <a:srgbClr val="FFFFFF"/>
                    </a:solidFill>
                  </a:tcPr>
                </a:tc>
                <a:tc>
                  <a:txBody>
                    <a:bodyPr/>
                    <a:lstStyle/>
                    <a:p>
                      <a:pPr algn="l"/>
                      <a:r>
                        <a:rPr sz="1100" b="0">
                          <a:solidFill>
                            <a:srgbClr val="1F3355"/>
                          </a:solidFill>
                          <a:latin typeface="Meiryo UI"/>
                        </a:rPr>
                        <a:t>encaplimit 起因の片方向断</a:t>
                      </a:r>
                    </a:p>
                  </a:txBody>
                  <a:tcPr>
                    <a:solidFill>
                      <a:srgbClr val="FFFFFF"/>
                    </a:solidFill>
                  </a:tcPr>
                </a:tc>
                <a:tc>
                  <a:txBody>
                    <a:bodyPr/>
                    <a:lstStyle/>
                    <a:p>
                      <a:pPr algn="l"/>
                      <a:r>
                        <a:rPr sz="1100" b="0">
                          <a:solidFill>
                            <a:srgbClr val="1F3355"/>
                          </a:solidFill>
                          <a:latin typeface="Meiryo UI"/>
                        </a:rPr>
                        <a:t>4.3 / 22.7 / 14.10</a:t>
                      </a:r>
                    </a:p>
                  </a:txBody>
                  <a:tcPr>
                    <a:solidFill>
                      <a:srgbClr val="FFFFFF"/>
                    </a:solidFill>
                  </a:tcPr>
                </a:tc>
                <a:tc>
                  <a:txBody>
                    <a:bodyPr/>
                    <a:lstStyle/>
                    <a:p>
                      <a:pPr algn="l"/>
                      <a:r>
                        <a:rPr sz="1100" b="0">
                          <a:solidFill>
                            <a:srgbClr val="1F3355"/>
                          </a:solidFill>
                          <a:latin typeface="Meiryo UI"/>
                        </a:rPr>
                        <a:t>encaplimit none にする</a:t>
                      </a:r>
                    </a:p>
                  </a:txBody>
                  <a:tcPr>
                    <a:solidFill>
                      <a:srgbClr val="FFFFFF"/>
                    </a:solidFill>
                  </a:tcPr>
                </a:tc>
              </a:tr>
              <a:tr h="310896">
                <a:tc>
                  <a:txBody>
                    <a:bodyPr/>
                    <a:lstStyle/>
                    <a:p>
                      <a:pPr algn="l"/>
                      <a:r>
                        <a:rPr sz="1100" b="0">
                          <a:solidFill>
                            <a:srgbClr val="1F3355"/>
                          </a:solidFill>
                          <a:latin typeface="Meiryo UI"/>
                        </a:rPr>
                        <a:t>R12</a:t>
                      </a:r>
                    </a:p>
                  </a:txBody>
                  <a:tcPr>
                    <a:solidFill>
                      <a:srgbClr val="F2F6FA"/>
                    </a:solidFill>
                  </a:tcPr>
                </a:tc>
                <a:tc>
                  <a:txBody>
                    <a:bodyPr/>
                    <a:lstStyle/>
                    <a:p>
                      <a:pPr algn="l"/>
                      <a:r>
                        <a:rPr sz="1100" b="0">
                          <a:solidFill>
                            <a:srgbClr val="1F3355"/>
                          </a:solidFill>
                          <a:latin typeface="Meiryo UI"/>
                        </a:rPr>
                        <a:t>ポートセット非連続を無視した NAT 設定</a:t>
                      </a:r>
                    </a:p>
                  </a:txBody>
                  <a:tcPr>
                    <a:solidFill>
                      <a:srgbClr val="F2F6FA"/>
                    </a:solidFill>
                  </a:tcPr>
                </a:tc>
                <a:tc>
                  <a:txBody>
                    <a:bodyPr/>
                    <a:lstStyle/>
                    <a:p>
                      <a:pPr algn="l"/>
                      <a:r>
                        <a:rPr sz="1100" b="0">
                          <a:solidFill>
                            <a:srgbClr val="1F3355"/>
                          </a:solidFill>
                          <a:latin typeface="Meiryo UI"/>
                        </a:rPr>
                        <a:t>24.3 / 24.4</a:t>
                      </a:r>
                    </a:p>
                  </a:txBody>
                  <a:tcPr>
                    <a:solidFill>
                      <a:srgbClr val="F2F6FA"/>
                    </a:solidFill>
                  </a:tcPr>
                </a:tc>
                <a:tc>
                  <a:txBody>
                    <a:bodyPr/>
                    <a:lstStyle/>
                    <a:p>
                      <a:pPr algn="l"/>
                      <a:r>
                        <a:rPr sz="1100" b="0">
                          <a:solidFill>
                            <a:srgbClr val="1F3355"/>
                          </a:solidFill>
                          <a:latin typeface="Meiryo UI"/>
                        </a:rPr>
                        <a:t>ポート集合を計算し直す</a:t>
                      </a:r>
                    </a:p>
                  </a:txBody>
                  <a:tcPr>
                    <a:solidFill>
                      <a:srgbClr val="F2F6FA"/>
                    </a:solidFill>
                  </a:tcPr>
                </a:tc>
              </a:tr>
              <a:tr h="310896">
                <a:tc>
                  <a:txBody>
                    <a:bodyPr/>
                    <a:lstStyle/>
                    <a:p>
                      <a:pPr algn="l"/>
                      <a:r>
                        <a:rPr sz="1100" b="0">
                          <a:solidFill>
                            <a:srgbClr val="1F3355"/>
                          </a:solidFill>
                          <a:latin typeface="Meiryo UI"/>
                        </a:rPr>
                        <a:t>R13</a:t>
                      </a:r>
                    </a:p>
                  </a:txBody>
                  <a:tcPr>
                    <a:solidFill>
                      <a:srgbClr val="FFFFFF"/>
                    </a:solidFill>
                  </a:tcPr>
                </a:tc>
                <a:tc>
                  <a:txBody>
                    <a:bodyPr/>
                    <a:lstStyle/>
                    <a:p>
                      <a:pPr algn="l"/>
                      <a:r>
                        <a:rPr sz="1100" b="0">
                          <a:solidFill>
                            <a:srgbClr val="1F3355"/>
                          </a:solidFill>
                          <a:latin typeface="Meiryo UI"/>
                        </a:rPr>
                        <a:t>IPoE 化による外→内 IPv6 直接着信</a:t>
                      </a:r>
                    </a:p>
                  </a:txBody>
                  <a:tcPr>
                    <a:solidFill>
                      <a:srgbClr val="FFFFFF"/>
                    </a:solidFill>
                  </a:tcPr>
                </a:tc>
                <a:tc>
                  <a:txBody>
                    <a:bodyPr/>
                    <a:lstStyle/>
                    <a:p>
                      <a:pPr algn="l"/>
                      <a:r>
                        <a:rPr sz="1100" b="0">
                          <a:solidFill>
                            <a:srgbClr val="1F3355"/>
                          </a:solidFill>
                          <a:latin typeface="Meiryo UI"/>
                        </a:rPr>
                        <a:t>第14章 / 14.7</a:t>
                      </a:r>
                    </a:p>
                  </a:txBody>
                  <a:tcPr>
                    <a:solidFill>
                      <a:srgbClr val="FFFFFF"/>
                    </a:solidFill>
                  </a:tcPr>
                </a:tc>
                <a:tc>
                  <a:txBody>
                    <a:bodyPr/>
                    <a:lstStyle/>
                    <a:p>
                      <a:pPr algn="l"/>
                      <a:r>
                        <a:rPr sz="1100" b="0">
                          <a:solidFill>
                            <a:srgbClr val="1F3355"/>
                          </a:solidFill>
                          <a:latin typeface="Meiryo UI"/>
                        </a:rPr>
                        <a:t>CPE の v6 FW を確認・有効化</a:t>
                      </a:r>
                    </a:p>
                  </a:txBody>
                  <a:tcPr>
                    <a:solidFill>
                      <a:srgbClr val="FFFFFF"/>
                    </a:solidFill>
                  </a:tcPr>
                </a:tc>
              </a:tr>
            </a:tbl>
          </a:graphicData>
        </a:graphic>
      </p:graphicFrame>
      <p:sp>
        <p:nvSpPr>
          <p:cNvPr id="4" name="TextBox 3"/>
          <p:cNvSpPr txBox="1"/>
          <p:nvPr/>
        </p:nvSpPr>
        <p:spPr>
          <a:xfrm>
            <a:off x="502920" y="5751576"/>
            <a:ext cx="11155680" cy="548640"/>
          </a:xfrm>
          <a:prstGeom prst="rect">
            <a:avLst/>
          </a:prstGeom>
          <a:noFill/>
        </p:spPr>
        <p:txBody>
          <a:bodyPr wrap="square">
            <a:spAutoFit/>
          </a:bodyPr>
          <a:lstStyle/>
          <a:p>
            <a:pPr algn="l"/>
            <a:r>
              <a:rPr sz="1200" b="0">
                <a:solidFill>
                  <a:srgbClr val="007ACC"/>
                </a:solidFill>
                <a:latin typeface="Meiryo UI"/>
              </a:rPr>
              <a:t>レシピ本体: docs/ipoe-lab/test-matrix.md §4 (全 13 種)</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教科書とラボの関係 (MAP-E のインタフェース識別子)</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709160"/>
          </a:xfrm>
          <a:prstGeom prst="rect">
            <a:avLst/>
          </a:prstGeom>
          <a:noFill/>
        </p:spPr>
        <p:txBody>
          <a:bodyPr wrap="square">
            <a:spAutoFit/>
          </a:bodyPr>
          <a:lstStyle/>
          <a:p>
            <a:pPr algn="l">
              <a:spcAft>
                <a:spcPts val="900"/>
              </a:spcAft>
            </a:pPr>
            <a:r>
              <a:rPr sz="1900" b="0">
                <a:solidFill>
                  <a:srgbClr val="1F3355"/>
                </a:solidFill>
                <a:latin typeface="Meiryo UI"/>
              </a:rPr>
              <a:t>第2版第2刷の更新履歴に「MAP-E のインタフェース識別子を RFC 7597 準拠に」修正の記載がある</a:t>
            </a:r>
          </a:p>
          <a:p>
            <a:pPr algn="l">
              <a:spcAft>
                <a:spcPts val="900"/>
              </a:spcAft>
            </a:pPr>
            <a:r>
              <a:rPr sz="1900" b="1">
                <a:solidFill>
                  <a:srgbClr val="1F3355"/>
                </a:solidFill>
                <a:latin typeface="Meiryo UI"/>
              </a:rPr>
              <a:t>ラボの既定も RFC 7597。つまり教科書と一致している</a:t>
            </a:r>
          </a:p>
          <a:p>
            <a:pPr lvl="1" algn="l">
              <a:spcAft>
                <a:spcPts val="500"/>
              </a:spcAft>
            </a:pPr>
            <a:r>
              <a:rPr sz="1600" b="0">
                <a:solidFill>
                  <a:srgbClr val="555555"/>
                </a:solidFill>
                <a:latin typeface="Meiryo UI"/>
              </a:rPr>
              <a:t>setup-map-br.sh の CE_MAP_ADDR は RFC 7597 の IID</a:t>
            </a:r>
          </a:p>
          <a:p>
            <a:pPr algn="l">
              <a:spcAft>
                <a:spcPts val="900"/>
              </a:spcAft>
            </a:pPr>
            <a:r>
              <a:rPr sz="1900" b="1">
                <a:solidFill>
                  <a:srgbClr val="1F3355"/>
                </a:solidFill>
                <a:latin typeface="Meiryo UI"/>
              </a:rPr>
              <a:t>食い違うのは実サービス側</a:t>
            </a:r>
          </a:p>
          <a:p>
            <a:pPr lvl="1" algn="l">
              <a:spcAft>
                <a:spcPts val="500"/>
              </a:spcAft>
            </a:pPr>
            <a:r>
              <a:rPr sz="1600" b="0">
                <a:solidFill>
                  <a:srgbClr val="555555"/>
                </a:solidFill>
                <a:latin typeface="Meiryo UI"/>
              </a:rPr>
              <a:t>日本の VNE は draft-ietf-softwire-map-03 互換</a:t>
            </a:r>
          </a:p>
          <a:p>
            <a:pPr lvl="1" algn="l">
              <a:spcAft>
                <a:spcPts val="500"/>
              </a:spcAft>
            </a:pPr>
            <a:r>
              <a:rPr sz="1600" b="0">
                <a:solidFill>
                  <a:srgbClr val="555555"/>
                </a:solidFill>
                <a:latin typeface="Meiryo UI"/>
              </a:rPr>
              <a:t>実案件のリハーサル時だけ option legacymap '1' を立て、CE_MAP_ADDR を再計算する</a:t>
            </a:r>
          </a:p>
          <a:p>
            <a:pPr algn="l">
              <a:spcAft>
                <a:spcPts val="900"/>
              </a:spcAft>
            </a:pPr>
            <a:r>
              <a:rPr sz="1900" b="1">
                <a:solidFill>
                  <a:srgbClr val="C0392B"/>
                </a:solidFill>
                <a:latin typeface="Meiryo UI"/>
              </a:rPr>
              <a:t>ラボ既定のまま legacymap '1' を入れると BR とアドレスが合わず MAP-E が全断する</a:t>
            </a:r>
          </a:p>
          <a:p>
            <a:pPr algn="l">
              <a:spcAft>
                <a:spcPts val="900"/>
              </a:spcAft>
            </a:pPr>
            <a:r>
              <a:rPr sz="1900" b="1">
                <a:solidFill>
                  <a:srgbClr val="1F3355"/>
                </a:solidFill>
                <a:latin typeface="Meiryo UI"/>
              </a:rPr>
              <a:t>伝え方: 「教科書どおり (RFC 7597) で動くのがラボ。実サービスは draft-03」</a:t>
            </a:r>
          </a:p>
          <a:p>
            <a:pPr lvl="1" algn="l">
              <a:spcAft>
                <a:spcPts val="500"/>
              </a:spcAft>
            </a:pPr>
            <a:r>
              <a:rPr sz="1600" b="0">
                <a:solidFill>
                  <a:srgbClr val="555555"/>
                </a:solidFill>
                <a:latin typeface="Meiryo UI"/>
              </a:rPr>
              <a:t>RFC = 確定した仕様、draft = 確定前の草案</a:t>
            </a:r>
          </a:p>
          <a:p>
            <a:pPr lvl="1" algn="l">
              <a:spcAft>
                <a:spcPts val="500"/>
              </a:spcAft>
            </a:pPr>
            <a:r>
              <a:rPr sz="1600" b="0">
                <a:solidFill>
                  <a:srgbClr val="555555"/>
                </a:solidFill>
                <a:latin typeface="Meiryo UI"/>
              </a:rPr>
              <a:t>日本の VNE は草案のまま製品化されて普及した、という経緯</a:t>
            </a:r>
          </a:p>
          <a:p>
            <a:pPr algn="l">
              <a:spcAft>
                <a:spcPts val="900"/>
              </a:spcAft>
            </a:pPr>
            <a:r>
              <a:rPr sz="1900" b="0">
                <a:solidFill>
                  <a:srgbClr val="1F3355"/>
                </a:solidFill>
                <a:latin typeface="Meiryo UI"/>
              </a:rPr>
              <a:t>詳細: build.md §3 のコメント / research-notes.md §2</a:t>
            </a:r>
          </a:p>
        </p:txBody>
      </p:sp>
      <p:sp>
        <p:nvSpPr>
          <p:cNvPr id="5" name="TextBox 4"/>
          <p:cNvSpPr txBox="1"/>
          <p:nvPr/>
        </p:nvSpPr>
        <p:spPr>
          <a:xfrm>
            <a:off x="594360" y="6217920"/>
            <a:ext cx="10972800" cy="502920"/>
          </a:xfrm>
          <a:prstGeom prst="rect">
            <a:avLst/>
          </a:prstGeom>
          <a:noFill/>
        </p:spPr>
        <p:txBody>
          <a:bodyPr wrap="square">
            <a:spAutoFit/>
          </a:bodyPr>
          <a:lstStyle/>
          <a:p>
            <a:pPr algn="l"/>
            <a:r>
              <a:rPr sz="1200" b="0">
                <a:solidFill>
                  <a:srgbClr val="007ACC"/>
                </a:solidFill>
                <a:latin typeface="Meiryo UI"/>
              </a:rPr>
              <a:t>こういう食い違いは IPv6 の世界では珍しくない。だから検証環境が必要になる</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修了確認 — 理由付きで答えられるか (5問)</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1000"/>
              </a:spcAft>
            </a:pPr>
            <a:r>
              <a:rPr sz="2000" b="0">
                <a:solidFill>
                  <a:srgbClr val="1F3355"/>
                </a:solidFill>
                <a:latin typeface="Meiryo UI"/>
              </a:rPr>
              <a:t>1. ひかり電話ありの案件。CPE の IPv6 設定はどうするか。その前に確認すべきことは何か</a:t>
            </a:r>
          </a:p>
          <a:p>
            <a:pPr lvl="1" algn="l">
              <a:spcAft>
                <a:spcPts val="600"/>
              </a:spcAft>
            </a:pPr>
            <a:r>
              <a:rPr sz="1700" b="0">
                <a:solidFill>
                  <a:srgbClr val="555555"/>
                </a:solidFill>
                <a:latin typeface="Meiryo UI"/>
              </a:rPr>
              <a:t>(HGW の有無と型番 → HGW と配下ルータのどちらで終端するかを設計で決める。</a:t>
            </a:r>
          </a:p>
          <a:p>
            <a:pPr lvl="1" algn="l">
              <a:spcAft>
                <a:spcPts val="600"/>
              </a:spcAft>
            </a:pPr>
            <a:r>
              <a:rPr sz="1700" b="0">
                <a:solidFill>
                  <a:srgbClr val="555555"/>
                </a:solidFill>
                <a:latin typeface="Meiryo UI"/>
              </a:rPr>
              <a:t> ひかり電話あり → 即 PD 設定は二重終端 R7 を作る)</a:t>
            </a:r>
          </a:p>
          <a:p>
            <a:pPr algn="l">
              <a:spcAft>
                <a:spcPts val="1000"/>
              </a:spcAft>
            </a:pPr>
            <a:r>
              <a:rPr sz="2000" b="0">
                <a:solidFill>
                  <a:srgbClr val="1F3355"/>
                </a:solidFill>
                <a:latin typeface="Meiryo UI"/>
              </a:rPr>
              <a:t>2. 「Minecraft サーバ (TCP 25565) を公開したい」。まず何を確認するか</a:t>
            </a:r>
          </a:p>
          <a:p>
            <a:pPr lvl="1" algn="l">
              <a:spcAft>
                <a:spcPts val="600"/>
              </a:spcAft>
            </a:pPr>
            <a:r>
              <a:rPr sz="1700" b="0">
                <a:solidFill>
                  <a:srgbClr val="555555"/>
                </a:solidFill>
                <a:latin typeface="Meiryo UI"/>
              </a:rPr>
              <a:t>MAP-E だったとき、25565 が自分の 240 ポートの集合に入る見込みはどれくらいか</a:t>
            </a:r>
          </a:p>
          <a:p>
            <a:pPr algn="l">
              <a:spcAft>
                <a:spcPts val="1000"/>
              </a:spcAft>
            </a:pPr>
            <a:r>
              <a:rPr sz="2000" b="0">
                <a:solidFill>
                  <a:srgbClr val="1F3355"/>
                </a:solidFill>
                <a:latin typeface="Meiryo UI"/>
              </a:rPr>
              <a:t>3. 「切替後、Web は見えるが大きいファイルが送れない」。何を疑い、どう直すか</a:t>
            </a:r>
          </a:p>
          <a:p>
            <a:pPr algn="l">
              <a:spcAft>
                <a:spcPts val="1000"/>
              </a:spcAft>
            </a:pPr>
            <a:r>
              <a:rPr sz="2000" b="0">
                <a:solidFill>
                  <a:srgbClr val="1F3355"/>
                </a:solidFill>
                <a:latin typeface="Meiryo UI"/>
              </a:rPr>
              <a:t>4. ICMPv6 を全部 deny した。何が壊れるか 2 つ挙げよ</a:t>
            </a:r>
          </a:p>
          <a:p>
            <a:pPr algn="l">
              <a:spcAft>
                <a:spcPts val="1000"/>
              </a:spcAft>
            </a:pPr>
            <a:r>
              <a:rPr sz="2000" b="0">
                <a:solidFill>
                  <a:srgbClr val="1F3355"/>
                </a:solidFill>
                <a:latin typeface="Meiryo UI"/>
              </a:rPr>
              <a:t>5. IPoE 化で PC に付いたグローバル IPv6。セキュリティ上、何を確認するか</a:t>
            </a:r>
          </a:p>
          <a:p>
            <a:pPr algn="l">
              <a:spcAft>
                <a:spcPts val="1000"/>
              </a:spcAft>
            </a:pPr>
            <a:r>
              <a:rPr sz="2000" b="1">
                <a:solidFill>
                  <a:srgbClr val="1F3355"/>
                </a:solidFill>
                <a:latin typeface="Meiryo UI"/>
              </a:rPr>
              <a:t>答えの暗記が目的ではない。「どの節・どのファイルを見ればいいか」が分かれば合格</a:t>
            </a:r>
          </a:p>
          <a:p>
            <a:pPr lvl="1" algn="l">
              <a:spcAft>
                <a:spcPts val="600"/>
              </a:spcAft>
            </a:pPr>
            <a:r>
              <a:rPr sz="1700" b="0">
                <a:solidFill>
                  <a:srgbClr val="555555"/>
                </a:solidFill>
                <a:latin typeface="Meiryo UI"/>
              </a:rPr>
              <a:t>現場では調べる時間がある。調べる先が分からないことが事故を生む</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lgn="l"/>
            <a:r>
              <a:rPr sz="2800" b="1">
                <a:solidFill>
                  <a:srgbClr val="1F3355"/>
                </a:solidFill>
                <a:latin typeface="Meiryo UI"/>
              </a:rPr>
              <a:t>参考資料 / 出典</a:t>
            </a:r>
          </a:p>
        </p:txBody>
      </p:sp>
      <p:sp>
        <p:nvSpPr>
          <p:cNvPr id="3" name="Rectangle 2"/>
          <p:cNvSpPr/>
          <p:nvPr/>
        </p:nvSpPr>
        <p:spPr>
          <a:xfrm>
            <a:off x="502920" y="1115568"/>
            <a:ext cx="11155680" cy="3175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371600"/>
            <a:ext cx="10972800" cy="4983480"/>
          </a:xfrm>
          <a:prstGeom prst="rect">
            <a:avLst/>
          </a:prstGeom>
          <a:noFill/>
        </p:spPr>
        <p:txBody>
          <a:bodyPr wrap="square">
            <a:spAutoFit/>
          </a:bodyPr>
          <a:lstStyle/>
          <a:p>
            <a:pPr algn="l">
              <a:spcAft>
                <a:spcPts val="900"/>
              </a:spcAft>
            </a:pPr>
            <a:r>
              <a:rPr sz="1900" b="1">
                <a:solidFill>
                  <a:srgbClr val="1F3355"/>
                </a:solidFill>
                <a:latin typeface="Meiryo UI"/>
              </a:rPr>
              <a:t>教科書</a:t>
            </a:r>
          </a:p>
          <a:p>
            <a:pPr lvl="1" algn="l">
              <a:spcAft>
                <a:spcPts val="500"/>
              </a:spcAft>
            </a:pPr>
            <a:r>
              <a:rPr sz="1600" b="0">
                <a:solidFill>
                  <a:srgbClr val="555555"/>
                </a:solidFill>
                <a:latin typeface="Meiryo UI"/>
              </a:rPr>
              <a:t>小川晃通『プロフェッショナル IPv6 第2版』ラムダノート, 2021年12月</a:t>
            </a:r>
          </a:p>
          <a:p>
            <a:pPr lvl="1" algn="l">
              <a:spcAft>
                <a:spcPts val="500"/>
              </a:spcAft>
            </a:pPr>
            <a:r>
              <a:rPr sz="1600" b="0">
                <a:solidFill>
                  <a:srgbClr val="555555"/>
                </a:solidFill>
                <a:latin typeface="Meiryo UI"/>
              </a:rPr>
              <a:t>(第2刷 2023年3月) CC BY-NC-SA</a:t>
            </a:r>
          </a:p>
          <a:p>
            <a:pPr lvl="1" algn="l">
              <a:spcAft>
                <a:spcPts val="500"/>
              </a:spcAft>
            </a:pPr>
            <a:r>
              <a:rPr sz="1600" b="1">
                <a:solidFill>
                  <a:srgbClr val="C0392B"/>
                </a:solidFill>
                <a:latin typeface="Meiryo UI"/>
              </a:rPr>
              <a:t>※ 節番号は刷でずれないが、ページ番号はずれ得る。参照は節番号+節タイトルを主キーに</a:t>
            </a:r>
          </a:p>
          <a:p>
            <a:pPr lvl="1" algn="l">
              <a:spcAft>
                <a:spcPts val="500"/>
              </a:spcAft>
            </a:pPr>
            <a:r>
              <a:rPr sz="1600" b="1">
                <a:solidFill>
                  <a:srgbClr val="C0392B"/>
                </a:solidFill>
                <a:latin typeface="Meiryo UI"/>
              </a:rPr>
              <a:t>※ 教科書の本文・図版はこのスライドに貼らないこと (NC / SA 条項)。社内限定資料</a:t>
            </a:r>
          </a:p>
          <a:p>
            <a:pPr algn="l">
              <a:spcAft>
                <a:spcPts val="900"/>
              </a:spcAft>
            </a:pPr>
            <a:r>
              <a:rPr sz="1900" b="1">
                <a:solidFill>
                  <a:srgbClr val="1F3355"/>
                </a:solidFill>
                <a:latin typeface="Meiryo UI"/>
              </a:rPr>
              <a:t>社内資料 (本リポジトリ)</a:t>
            </a:r>
          </a:p>
          <a:p>
            <a:pPr lvl="1" algn="l">
              <a:spcAft>
                <a:spcPts val="500"/>
              </a:spcAft>
            </a:pPr>
            <a:r>
              <a:rPr sz="1600" b="0">
                <a:solidFill>
                  <a:srgbClr val="555555"/>
                </a:solidFill>
                <a:latin typeface="Meiryo UI"/>
              </a:rPr>
              <a:t>docs/ipoe-lab/study-guide.md … 本スライドの正本。対応表と計算例の全量はこちら</a:t>
            </a:r>
          </a:p>
          <a:p>
            <a:pPr lvl="1" algn="l">
              <a:spcAft>
                <a:spcPts val="500"/>
              </a:spcAft>
            </a:pPr>
            <a:r>
              <a:rPr sz="1600" b="0">
                <a:solidFill>
                  <a:srgbClr val="555555"/>
                </a:solidFill>
                <a:latin typeface="Meiryo UI"/>
              </a:rPr>
              <a:t>docs/ipoe-lab/README.md … ラボ全体設計・アドレス計画 (パラメータの正本)</a:t>
            </a:r>
          </a:p>
          <a:p>
            <a:pPr lvl="1" algn="l">
              <a:spcAft>
                <a:spcPts val="500"/>
              </a:spcAft>
            </a:pPr>
            <a:r>
              <a:rPr sz="1600" b="0">
                <a:solidFill>
                  <a:srgbClr val="555555"/>
                </a:solidFill>
                <a:latin typeface="Meiryo UI"/>
              </a:rPr>
              <a:t>docs/ipoe-lab/build.md … 構築手順・モード別期待値表 (パラメータの正本)</a:t>
            </a:r>
          </a:p>
          <a:p>
            <a:pPr lvl="1" algn="l">
              <a:spcAft>
                <a:spcPts val="500"/>
              </a:spcAft>
            </a:pPr>
            <a:r>
              <a:rPr sz="1600" b="0">
                <a:solidFill>
                  <a:srgbClr val="555555"/>
                </a:solidFill>
                <a:latin typeface="Meiryo UI"/>
              </a:rPr>
              <a:t>docs/ipoe-lab/test-matrix.md … ヒアリングシート / マトリクス / レシピ R1-R13</a:t>
            </a:r>
          </a:p>
          <a:p>
            <a:pPr lvl="1" algn="l">
              <a:spcAft>
                <a:spcPts val="500"/>
              </a:spcAft>
            </a:pPr>
            <a:r>
              <a:rPr sz="1600" b="0">
                <a:solidFill>
                  <a:srgbClr val="555555"/>
                </a:solidFill>
                <a:latin typeface="Meiryo UI"/>
              </a:rPr>
              <a:t>docs/ipoe-lab/research-notes.md … 実サービスのパラメータ、既知の落とし穴</a:t>
            </a:r>
          </a:p>
          <a:p>
            <a:pPr lvl="1" algn="l">
              <a:spcAft>
                <a:spcPts val="500"/>
              </a:spcAft>
            </a:pPr>
            <a:r>
              <a:rPr sz="1600" b="0">
                <a:solidFill>
                  <a:srgbClr val="555555"/>
                </a:solidFill>
                <a:latin typeface="Meiryo UI"/>
              </a:rPr>
              <a:t>docs/ipoe-lab/runbook-vmware.md … 社内 VMware 用 (執筆済み。これ 1 本で構築できます)</a:t>
            </a:r>
          </a:p>
          <a:p>
            <a:pPr algn="l">
              <a:spcAft>
                <a:spcPts val="900"/>
              </a:spcAft>
            </a:pPr>
            <a:r>
              <a:rPr sz="1900" b="1">
                <a:solidFill>
                  <a:srgbClr val="1F3355"/>
                </a:solidFill>
                <a:latin typeface="Meiryo UI"/>
              </a:rPr>
              <a:t>このスライドの再生成 (リポジトリのルートから)</a:t>
            </a:r>
          </a:p>
          <a:p>
            <a:pPr lvl="1" algn="l">
              <a:spcAft>
                <a:spcPts val="500"/>
              </a:spcAft>
            </a:pPr>
            <a:r>
              <a:rPr sz="1600" b="0">
                <a:solidFill>
                  <a:srgbClr val="0B6040"/>
                </a:solidFill>
                <a:latin typeface="Consolas"/>
              </a:rPr>
              <a:t>python3 docs/ipoe-lab/slides/build-toranomaki.py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