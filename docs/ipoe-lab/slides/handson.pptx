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463040"/>
            <a:ext cx="11064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F3355"/>
                </a:solidFill>
                <a:latin typeface="Meiryo UI"/>
              </a:rPr>
              <a:t>IPv6 / IPoE ハンズオン</a:t>
            </a:r>
          </a:p>
          <a:p>
            <a:pPr algn="l"/>
            <a:r>
              <a:rPr sz="1800" b="0">
                <a:solidFill>
                  <a:srgbClr val="007ACC"/>
                </a:solidFill>
                <a:latin typeface="Meiryo UI"/>
              </a:rPr>
              <a:t>実機を触って、環境が変わるのを見る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10896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対象: 説明会を受けた人 / 時間: 150 分 (休憩 10 分を含む)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やること: 実機のルータ (Cisco 892FJ) にコマンドを打つ。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その間、司会が裏で網の方式を切り替えます。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/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同じコマンドを打っても、方式が変わると出力が変わります。そこを見ます。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今日の役割分担 — あなたはサーバを触りません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789920" cy="9326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841248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eiryo UI"/>
                        </a:rPr>
                        <a:t>誰が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eiryo UI"/>
                        </a:rPr>
                        <a:t>何をするか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司会 (講師)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lab-mode.sh で網の方式を切り替える。「いま RA 方式です」と宣言する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あなた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実機の 892FJ にログインして IOS のコマンドを打つ。出力を読む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233172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各演習は「打つコマンド → 出てくる出力 → いま何が起きたか」の 3 点セットです。3 つめが本体です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つながり方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2377440"/>
            <a:ext cx="2211933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司会の端末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lab-mode.sh で
方式を切り替える</a:t>
            </a:r>
          </a:p>
        </p:txBody>
      </p:sp>
      <p:sp>
        <p:nvSpPr>
          <p:cNvPr id="4" name="Right Arrow 3"/>
          <p:cNvSpPr/>
          <p:nvPr/>
        </p:nvSpPr>
        <p:spPr>
          <a:xfrm>
            <a:off x="2897733" y="2926080"/>
            <a:ext cx="647395" cy="292608"/>
          </a:xfrm>
          <a:prstGeom prst="rightArrow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45128" y="2377440"/>
            <a:ext cx="2211933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NGN-SIM / VNE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NTT の網と
VNE の代わり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757062" y="2926080"/>
            <a:ext cx="647395" cy="292608"/>
          </a:xfrm>
          <a:prstGeom prst="rightArrow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4457" y="2377440"/>
            <a:ext cx="2211933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Cisco 892FJ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あなたが触るのはここ
コンソール接続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16391" y="2926080"/>
            <a:ext cx="647395" cy="292608"/>
          </a:xfrm>
          <a:prstGeom prst="rightArrow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263786" y="2377440"/>
            <a:ext cx="2211933" cy="1371600"/>
          </a:xfrm>
          <a:prstGeom prst="roundRect">
            <a:avLst/>
          </a:prstGeom>
          <a:solidFill>
            <a:srgbClr val="EFF5FA"/>
          </a:solidFill>
          <a:ln w="22225">
            <a:solidFill>
              <a:srgbClr val="007A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1F3355"/>
                </a:solidFill>
                <a:latin typeface="Meiryo UI"/>
              </a:rPr>
              <a:t>検証用 PC</a:t>
            </a:r>
          </a:p>
          <a:p>
            <a:pPr algn="ctr"/>
            <a:r>
              <a:rPr sz="1100" b="0">
                <a:solidFill>
                  <a:srgbClr val="555555"/>
                </a:solidFill>
                <a:latin typeface="Meiryo UI"/>
              </a:rPr>
              <a:t>892FJ の LAN ポートに直結
疎通と出口を確認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114800"/>
            <a:ext cx="10789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司会が使うのはこれだけです (受講者は打ちません):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  ./lab-mode.sh ra / pd        … 網の IPv6 の配り方を切り替える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  ./lab-mode.sh dslite &lt;CEのIPv6&gt; … IPv4 の運び方を DS-Lite にする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  ./lab-mode.sh break mtu|dns / restore … 障害を注入する / 戻す</a:t>
            </a:r>
          </a:p>
          <a:p>
            <a:pPr algn="l">
              <a:spcAft>
                <a:spcPts val="600"/>
              </a:spcAft>
            </a:pPr>
            <a:r>
              <a:rPr sz="1400" b="1">
                <a:solidFill>
                  <a:srgbClr val="C0392B"/>
                </a:solidFill>
                <a:latin typeface="Meiryo UI"/>
              </a:rPr>
              <a:t>※ 切り替えるたびに、司会は「いま何方式か」と「期待する出口アドレス」を読み上げてください。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0-2. まず実機をまっさらにする (10 分)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前の案件の設定が残っていると、原因不明のトラブルになります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Router# write erase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  Erasing the nvram filesystem ... Continue? [confirm]   ← Enter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Router# reload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  System configuration has been modified. Save? [yes/no]:  no   ← ★ no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  Proceed with reload? [confirm]   ← Enter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再起動後、初期設定ダイアログが出たら no と答えてください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いま何が起きたか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設定を全部消して、工場出荷に近い状態に戻しました</a:t>
            </a:r>
          </a:p>
          <a:p>
            <a:pPr lvl="1" algn="l">
              <a:spcAft>
                <a:spcPts val="6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Save? に yes と答えると 消したはずの設定が書き戻ります。ここは必ず no です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0-3. 最低限の設定を入れる (10 分)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709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900" b="0">
                <a:solidFill>
                  <a:srgbClr val="0B6040"/>
                </a:solidFill>
                <a:latin typeface="Consolas"/>
              </a:rPr>
              <a:t>interface GigabitEthernet0   ← WAN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0B6040"/>
                </a:solidFill>
                <a:latin typeface="Consolas"/>
              </a:rPr>
              <a:t> no ip address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0B6040"/>
                </a:solidFill>
                <a:latin typeface="Consolas"/>
              </a:rPr>
              <a:t> ipv6 address autoconfig default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0B6040"/>
                </a:solidFill>
                <a:latin typeface="Consolas"/>
              </a:rPr>
              <a:t> ipv6 enable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0B6040"/>
                </a:solidFill>
                <a:latin typeface="Consolas"/>
              </a:rPr>
              <a:t> ipv6 nd ra suppress all</a:t>
            </a:r>
          </a:p>
          <a:p>
            <a:pPr algn="l">
              <a:spcAft>
                <a:spcPts val="900"/>
              </a:spcAft>
            </a:pPr>
            <a:r>
              <a:rPr sz="1900" b="0">
                <a:solidFill>
                  <a:srgbClr val="0B6040"/>
                </a:solidFill>
                <a:latin typeface="Consolas"/>
              </a:rPr>
              <a:t>interface Vlan1   ← LAN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0B6040"/>
                </a:solidFill>
                <a:latin typeface="Consolas"/>
              </a:rPr>
              <a:t> ip address 192.168.100.1 255.255.255.0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0B6040"/>
                </a:solidFill>
                <a:latin typeface="Consolas"/>
              </a:rPr>
              <a:t> ip tcp adjust-mss 1420</a:t>
            </a:r>
          </a:p>
          <a:p>
            <a:pPr algn="l">
              <a:spcAft>
                <a:spcPts val="900"/>
              </a:spcAft>
            </a:pPr>
            <a:r>
              <a:rPr sz="1900" b="1">
                <a:solidFill>
                  <a:srgbClr val="1F3355"/>
                </a:solidFill>
                <a:latin typeface="Meiryo UI"/>
              </a:rPr>
              <a:t>1 行ずつ意味があります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ipv6 unicast-routing … IPv6 のルータとして動かす。無いと転送しません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ipv6 address autoconfig … 網から降る RA を使って 自分でアドレスを作る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ipv6 nd ra suppress all … 自分は RA を撒かない。実網で撒くと事故になります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ip tcp adjust-mss 1420 … 後半の MTU の演習で効きます。いまは入れておくだけ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17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890 系は機種で構成が違います。show ip interface brief で実物を確認してから使ってください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7FB8E0"/>
                </a:solidFill>
                <a:latin typeface="Meiryo UI"/>
              </a:rPr>
              <a:t>第1部</a:t>
            </a:r>
          </a:p>
          <a:p>
            <a:pPr algn="l"/>
            <a:r>
              <a:rPr sz="3600" b="1">
                <a:solidFill>
                  <a:srgbClr val="FFFFFF"/>
                </a:solidFill>
                <a:latin typeface="Meiryo UI"/>
              </a:rPr>
              <a:t>アドレスが降りてくるのを見る</a:t>
            </a:r>
          </a:p>
          <a:p>
            <a:pPr algn="l">
              <a:spcBef>
                <a:spcPts val="1600"/>
              </a:spcBef>
            </a:pPr>
            <a:r>
              <a:rPr sz="1600" b="0">
                <a:solidFill>
                  <a:srgbClr val="D5E5F2"/>
                </a:solidFill>
                <a:latin typeface="Meiryo UI"/>
              </a:rPr>
              <a:t>ゴール: 35 分。設定を変えずに、網の方式だけを変えます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演習 1: RA 方式で IPv6 が付く (10 分)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0">
                <a:solidFill>
                  <a:srgbClr val="0B6040"/>
                </a:solidFill>
                <a:latin typeface="Consolas"/>
              </a:rPr>
              <a:t>【司会】 ./lab-mode.sh ra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「いまラボは RA 方式です。ひかり電話なしのお客様と同じ状態です」と宣言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【あなた】892FJ で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CPE(config-if)# shutdown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CPE(config-if)# no shutdown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CPE# show ipv6 interface GigabitEthernet0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出てくる出力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  IPv6 is enabled, link-local address is FE80::E6AA:5DFF:FE82:364A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  Global unicast address(es):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    2001:DB8:1014:300:E6AA:5DFF:FE82:364A, subnet is 2001:DB8:1014:300::/64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演習 1 で何が起きたか — 3 段階です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① no shutdown した瞬間、892FJ は FE80:: を自分で作った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誰にも聞かずに作れるアドレス。説明会の「鶏と卵」がこれです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② その FE80:: を送信元にして「ルータいますか」と網に聞いた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③ 網が RA で「前半は 2001:DB8:1014:300::/64 です」と答えた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892FJ が 後半 E6AA:5DFF:FE82:364A を自分で作って 完成させた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後半は MAC アドレスから作られています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この機体の MAC は E4:AA:5D:82:36:4A。変形して入っているのが見えます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だから「事前にアドレスが分からない」。これが後の演習 4 で効いてきます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演習 2: PD 方式にすると、アドレスが付かなくなる (15 分) ← 今日いちばん大事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0">
                <a:solidFill>
                  <a:srgbClr val="0B6040"/>
                </a:solidFill>
                <a:latin typeface="Consolas"/>
              </a:rPr>
              <a:t>【司会】 ./lab-mode.sh pd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「いま PD 方式にしました。ひかり電話ありのお客様と同じ状態です」と宣言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【あなた】さっきと まったく同じ操作を もう一度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CPE(config-if)# shutdown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CPE(config-if)# no shutdown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CPE# show ipv6 interface GigabitEthernet0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出てくる出力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  IPv6 is enabled, link-local address is FE80::E6AA:5DFF:FE82:364A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  No global unicast address is configured        ← ★ 付かない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設定は 1 文字も変えていません。網の方式が変わっただけです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演習 2 で何が起きたか — ここを 5 分かけて説明してください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789920" cy="9326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743200"/>
                <a:gridCol w="3840480"/>
                <a:gridCol w="420624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eiryo UI"/>
                        </a:rPr>
                        <a:t/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eiryo UI"/>
                        </a:rPr>
                        <a:t>RA 方式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eiryo UI"/>
                        </a:rPr>
                        <a:t>PD 方式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網が RA で配るもの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プレフィックス (前半)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「DHCPv6 で取りに来い」という指示だけ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autoconfig の結果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アドレスが作れる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材料が無いので作れない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233172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ipv6 address autoconfig は RA の中のプレフィックスからしかアドレスを作れません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演習 2 が実案件だとどう出るか — 一番たちが悪いパターン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RA 自体は届いています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CPE# show ipv6 interface GigabitEthernet0 | include Router advertisement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  ND router advertisements are sent every 200 seconds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つまり現場ではこう見えます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「RA は来ている。ケーブルも問題ない。なのにアドレスが付かない」</a:t>
            </a:r>
          </a:p>
          <a:p>
            <a:pPr lvl="1" algn="l">
              <a:spcAft>
                <a:spcPts val="6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→ 原因が見えません。方式の食い違いを疑えるかどうかが分かれ目です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対処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PD 方式のお客様には DHCPv6-PD に対応した CPE が要ります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autoconfig だけの設定では成立しません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1F3355"/>
                </a:solidFill>
                <a:latin typeface="Meiryo UI"/>
              </a:rPr>
              <a:t>※ この症状は自宅の検証で実際に踏みました。原因に辿り着くまで時間を使いました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これは実際に自社で起きた事故です — 2 回続けて開通できませんでした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789920" cy="9326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63040"/>
                <a:gridCol w="4206240"/>
                <a:gridCol w="3108960"/>
                <a:gridCol w="201168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eiryo UI"/>
                        </a:rPr>
                        <a:t/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eiryo UI"/>
                        </a:rPr>
                        <a:t>担当者が想定したもの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eiryo UI"/>
                        </a:rPr>
                        <a:t>実際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Meiryo UI"/>
                        </a:rPr>
                        <a:t>結果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1 回目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動的 IP コースだと思って設定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固定 IP コースだった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失敗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2 回目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固定 IP と気づき PD 方式だと思って設定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RA 方式だった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1F3355"/>
                          </a:solidFill>
                          <a:latin typeface="Meiryo UI"/>
                        </a:rPr>
                        <a:t>失敗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2331720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その回線の公式ページには IPv4 の運び方は書いてあるのに、IPv6 の払い出し方式 (RA か PD か) が書かれていません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なぜ起きたのか — 担当者のミスとして片付けてはいけません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公開情報だけでは、机上で決められないからです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その回線の公式ページに書いてあったこと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  動的 IP コース … transix IPv4接続 (DS-Lite) 対応機種が必要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  固定 IP コース … transix IPv4接続 (固定IP) 対応機種が必要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  IPv6 の払い出し方式 (RA か PD か) … 記載なし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この事故が示している 3 つのこと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① 「方式」は 1 つではなく 2 段ある。IPv6 の払い出し と IPv4 の運び方 は独立です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  「transix だから DS-Lite」まで分かっても、RA か PD かは別に確かめる必要があります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② コース名 (動的 IP / 固定 IP) で IPv4 の方式が変わる。契約したコースの確認が要ります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③ 「ひかり電話ありなら PD」は事業者向けサービスでは通用しない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  家庭向けの経験則をそのまま当てはめると外します。この案件は固定 IP なのに RA 方式でした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だから開通後に実測するしかありません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いま見た「設定は同じなのにアドレスが付かない」が、そのとき現場で起きていた光景です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演習 3: RA を実際に目で見る (10 分)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0B6040"/>
                </a:solidFill>
                <a:latin typeface="Consolas"/>
              </a:rPr>
              <a:t>【司会】 ./lab-mode.sh ra        ← RA 方式に戻す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1F3355"/>
                </a:solidFill>
                <a:latin typeface="Meiryo UI"/>
              </a:rPr>
              <a:t>【あなた】892FJ で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0B6040"/>
                </a:solidFill>
                <a:latin typeface="Consolas"/>
              </a:rPr>
              <a:t>CPE# debug ipv6 nd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0B6040"/>
                </a:solidFill>
                <a:latin typeface="Consolas"/>
              </a:rPr>
              <a:t>  (そのあと shutdown / no shutdown)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1F3355"/>
                </a:solidFill>
                <a:latin typeface="Meiryo UI"/>
              </a:rPr>
              <a:t>出てくる出力 — 演習 1 の 3 段階がそのまま流れます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0B6040"/>
                </a:solidFill>
                <a:latin typeface="Consolas"/>
              </a:rPr>
              <a:t>ICMPv6-ND: Sending RS on GigabitEthernet0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0B6040"/>
                </a:solidFill>
                <a:latin typeface="Consolas"/>
              </a:rPr>
              <a:t>ICMPv6-ND: Received RA from FE80::AC:FF:FE00:1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0B6040"/>
                </a:solidFill>
                <a:latin typeface="Consolas"/>
              </a:rPr>
              <a:t>ICMPv6-ND:   Prefix 2001:DB8:1014:300::/64 onlink autoconfig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0B6040"/>
                </a:solidFill>
                <a:latin typeface="Consolas"/>
              </a:rPr>
              <a:t>ICMPv6-ND: Autoconfiguring address 2001:DB8:1014:300:E6AA:...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1F3355"/>
                </a:solidFill>
                <a:latin typeface="Meiryo UI"/>
              </a:rPr>
              <a:t>読み方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Received RA from FE80::... ← 送信元がリンクローカル。説明会のとおりです</a:t>
            </a:r>
          </a:p>
          <a:p>
            <a:pPr lvl="1" algn="l">
              <a:spcAft>
                <a:spcPts val="400"/>
              </a:spcAft>
            </a:pPr>
            <a:r>
              <a:rPr sz="1500" b="0">
                <a:solidFill>
                  <a:srgbClr val="555555"/>
                </a:solidFill>
                <a:latin typeface="Meiryo UI"/>
              </a:rPr>
              <a:t>Prefix ... autoconfig ← この印が付いているから自分で作ってよい</a:t>
            </a:r>
          </a:p>
          <a:p>
            <a:pPr lvl="1" algn="l">
              <a:spcAft>
                <a:spcPts val="400"/>
              </a:spcAft>
            </a:pPr>
            <a:r>
              <a:rPr sz="1500" b="1">
                <a:solidFill>
                  <a:srgbClr val="C0392B"/>
                </a:solidFill>
                <a:latin typeface="Meiryo UI"/>
              </a:rPr>
              <a:t>PD 方式のときは この Prefix の行が出ません。それが演習 2 の正体です</a:t>
            </a:r>
          </a:p>
          <a:p>
            <a:pPr algn="l">
              <a:spcAft>
                <a:spcPts val="800"/>
              </a:spcAft>
            </a:pPr>
            <a:r>
              <a:rPr sz="1800" b="1">
                <a:solidFill>
                  <a:srgbClr val="C0392B"/>
                </a:solidFill>
                <a:latin typeface="Meiryo UI"/>
              </a:rPr>
              <a:t>終わったら必ず止めてください: CPE# undebug all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7FB8E0"/>
                </a:solidFill>
                <a:latin typeface="Meiryo UI"/>
              </a:rPr>
              <a:t>第2部</a:t>
            </a:r>
          </a:p>
          <a:p>
            <a:pPr algn="l"/>
            <a:r>
              <a:rPr sz="3600" b="1">
                <a:solidFill>
                  <a:srgbClr val="FFFFFF"/>
                </a:solidFill>
                <a:latin typeface="Meiryo UI"/>
              </a:rPr>
              <a:t>IPv4 を通す</a:t>
            </a:r>
          </a:p>
          <a:p>
            <a:pPr algn="l">
              <a:spcBef>
                <a:spcPts val="1600"/>
              </a:spcBef>
            </a:pPr>
            <a:r>
              <a:rPr sz="1600" b="0">
                <a:solidFill>
                  <a:srgbClr val="D5E5F2"/>
                </a:solidFill>
                <a:latin typeface="Meiryo UI"/>
              </a:rPr>
              <a:t>ゴール: 40 分。IPv6 は通っていますが IPv4 はまだ通りません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演習 4: DS-Lite のトンネルを張る (20 分)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1">
                <a:solidFill>
                  <a:srgbClr val="1F3355"/>
                </a:solidFill>
                <a:latin typeface="Meiryo UI"/>
              </a:rPr>
              <a:t>【あなた】検証用 PC で確かめる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ping 203.0.113.80    → 通りません。IPv6 しか降りていないので当然です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F3355"/>
                </a:solidFill>
                <a:latin typeface="Meiryo UI"/>
              </a:rPr>
              <a:t>【あなた】892FJ で 自分の WAN アドレスを確認して、司会に伝える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CPE# show ipv6 interface GigabitEthernet0 | include 2001</a:t>
            </a:r>
          </a:p>
          <a:p>
            <a:pPr lvl="1" algn="l">
              <a:spcAft>
                <a:spcPts val="300"/>
              </a:spcAft>
            </a:pPr>
            <a:r>
              <a:rPr sz="1400" b="1">
                <a:solidFill>
                  <a:srgbClr val="C0392B"/>
                </a:solidFill>
                <a:latin typeface="Meiryo UI"/>
              </a:rPr>
              <a:t>なぜ伝えるのか: RA 方式のアドレスは MAC から作られるので 司会側では事前に分かりません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555555"/>
                </a:solidFill>
                <a:latin typeface="Meiryo UI"/>
              </a:rPr>
              <a:t>網側のトンネルを、この値に向ける必要があります</a:t>
            </a:r>
          </a:p>
          <a:p>
            <a:pPr algn="l">
              <a:spcAft>
                <a:spcPts val="7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【司会】 ./lab-mode.sh dslite 2001:db8:1014:300:e6aa:5dff:fe82:364a</a:t>
            </a:r>
          </a:p>
          <a:p>
            <a:pPr algn="l">
              <a:spcAft>
                <a:spcPts val="700"/>
              </a:spcAft>
            </a:pPr>
            <a:r>
              <a:rPr sz="1700" b="1">
                <a:solidFill>
                  <a:srgbClr val="1F3355"/>
                </a:solidFill>
                <a:latin typeface="Meiryo UI"/>
              </a:rPr>
              <a:t>【あなた】892FJ でトンネルを張る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interface Tunnel0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 ip address 192.0.0.2 255.255.255.248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 ip mtu 1460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 ip tcp adjust-mss 1420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 tunnel source GigabitEthernet0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 tunnel mode ipv6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 tunnel destination 2001:DB8:8888::1</a:t>
            </a:r>
          </a:p>
          <a:p>
            <a:pPr lvl="1" algn="l">
              <a:spcAft>
                <a:spcPts val="300"/>
              </a:spcAft>
            </a:pPr>
            <a:r>
              <a:rPr sz="1400" b="0">
                <a:solidFill>
                  <a:srgbClr val="0B6040"/>
                </a:solidFill>
                <a:latin typeface="Consolas"/>
              </a:rPr>
              <a:t>ip route 0.0.0.0 0.0.0.0 Tunnel0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演習 4 で何が起きたか — 1 行ずつ意味があります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789920" cy="217627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57600"/>
                <a:gridCol w="713232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設定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Meiryo UI"/>
                        </a:rPr>
                        <a:t>意味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ip address 192.0.0.2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RFC 6333 が「トンネルの入口はこれを使え」と決めている。自由に決めてはいけません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tunnel mode ipv6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IPv4 のパケットを IPv6 で包む。説明会の「箱に詰める」がこれです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tunnel destination 2001:DB8:8888::1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箱を開ける相手 (AFTR)。網側の装置です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ip mtu 1460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箱の厚み 40 バイトを引いた大きさ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ip tcp adjust-mss 1420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さらに TCP と IP のヘッダ 40 を引いた値。無いと大きいファイルが落ちません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ip route 0.0.0.0 0.0.0.0 Tunnel0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3355"/>
                          </a:solidFill>
                          <a:latin typeface="Meiryo UI"/>
                        </a:rPr>
                        <a:t>IPv4 の行き先を全部このトンネルに投げる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3575304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Line protocol on Interface Tunnel0, changed state to up が出れば成功。検証用 PC から ping が通ります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演習 5: 「通った」で終わらせない — 出口アドレスを見る (10 分)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900" b="1">
                <a:solidFill>
                  <a:srgbClr val="1F3355"/>
                </a:solidFill>
                <a:latin typeface="Meiryo UI"/>
              </a:rPr>
              <a:t>【あなた】検証用 PC で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0B6040"/>
                </a:solidFill>
                <a:latin typeface="Consolas"/>
              </a:rPr>
              <a:t>curl http://203.0.113.80/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0B6040"/>
                </a:solidFill>
                <a:latin typeface="Consolas"/>
              </a:rPr>
              <a:t>  lab-inet OK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0B6040"/>
                </a:solidFill>
                <a:latin typeface="Consolas"/>
              </a:rPr>
              <a:t>  src: 203.0.113.1        ← これが答え</a:t>
            </a:r>
          </a:p>
          <a:p>
            <a:pPr algn="l">
              <a:spcAft>
                <a:spcPts val="900"/>
              </a:spcAft>
            </a:pPr>
            <a:r>
              <a:rPr sz="1900" b="1">
                <a:solidFill>
                  <a:srgbClr val="1F3355"/>
                </a:solidFill>
                <a:latin typeface="Meiryo UI"/>
              </a:rPr>
              <a:t>src: は「サーバから見て、どのアドレスから来たか」です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203.0.113.1        → 網側の AFTR で NAT された = DS-Lite が成立している</a:t>
            </a:r>
          </a:p>
          <a:p>
            <a:pPr lvl="1" algn="l">
              <a:spcAft>
                <a:spcPts val="500"/>
              </a:spcAft>
            </a:pPr>
            <a:r>
              <a:rPr sz="1600" b="1">
                <a:solidFill>
                  <a:srgbClr val="C0392B"/>
                </a:solidFill>
                <a:latin typeface="Meiryo UI"/>
              </a:rPr>
              <a:t>192.168.100.x のまま → 経路が間違っています (NAT が効いていない)</a:t>
            </a:r>
          </a:p>
          <a:p>
            <a:pPr algn="l">
              <a:spcAft>
                <a:spcPts val="900"/>
              </a:spcAft>
            </a:pPr>
            <a:r>
              <a:rPr sz="1900" b="1">
                <a:solidFill>
                  <a:srgbClr val="C0392B"/>
                </a:solidFill>
                <a:latin typeface="Meiryo UI"/>
              </a:rPr>
              <a:t>実話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検証スクリプトが 全項目 PASS したのに経路が間違っていたことがあります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ping も curl も成功するので、見た目では絶対に分かりません</a:t>
            </a:r>
          </a:p>
          <a:p>
            <a:pPr lvl="1" algn="l">
              <a:spcAft>
                <a:spcPts val="500"/>
              </a:spcAft>
            </a:pPr>
            <a:r>
              <a:rPr sz="1600" b="0">
                <a:solidFill>
                  <a:srgbClr val="555555"/>
                </a:solidFill>
                <a:latin typeface="Meiryo UI"/>
              </a:rPr>
              <a:t>気づいたのは src: を見たときだけでした</a:t>
            </a:r>
          </a:p>
          <a:p>
            <a:pPr algn="l">
              <a:spcAft>
                <a:spcPts val="900"/>
              </a:spcAft>
            </a:pPr>
            <a:r>
              <a:rPr sz="1900" b="1">
                <a:solidFill>
                  <a:srgbClr val="C0392B"/>
                </a:solidFill>
                <a:latin typeface="Meiryo UI"/>
              </a:rPr>
              <a:t>切替当日、疎通確認だけで「OK です」と言わないでください</a:t>
            </a:r>
          </a:p>
          <a:p>
            <a:pPr algn="l">
              <a:spcAft>
                <a:spcPts val="900"/>
              </a:spcAft>
            </a:pPr>
            <a:r>
              <a:rPr sz="1900" b="0">
                <a:solidFill>
                  <a:srgbClr val="1F3355"/>
                </a:solidFill>
                <a:latin typeface="Meiryo UI"/>
              </a:rPr>
              <a:t>ついでに TTL を見る: ping すると TTL=62。相手は 64 で返すので ルータを 2 つ越えた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演習 6: 892FJ では MAP-E ができない (10 分)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【あなた】892FJ で試してみる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CPE(config)# nat64 ?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→ nat64 というコマンド自体がありません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いま何が起きたか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892FJ の IOS (classic IOS 15.x) には MAP-E の機能がありません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DS-Lite は組めます (tunnel mode ipv6 だけで済むため)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MAP-E は組めません (アドレスとポートの計算をする機能が要るため)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これが実案件だとどう効くか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お客様の VNE が MAP-E 系 (v6プラス / OCN バーチャルコネクト等) だと 892FJ は使えません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機器リプレース前提の見積になります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納入実績に 892FJ が多いなら、契約書で VNE を確認する時点でこれが分かります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7FB8E0"/>
                </a:solidFill>
                <a:latin typeface="Meiryo UI"/>
              </a:rPr>
              <a:t>第3部</a:t>
            </a:r>
          </a:p>
          <a:p>
            <a:pPr algn="l"/>
            <a:r>
              <a:rPr sz="3600" b="1">
                <a:solidFill>
                  <a:srgbClr val="FFFFFF"/>
                </a:solidFill>
                <a:latin typeface="Meiryo UI"/>
              </a:rPr>
              <a:t>壊す</a:t>
            </a:r>
          </a:p>
          <a:p>
            <a:pPr algn="l">
              <a:spcBef>
                <a:spcPts val="1600"/>
              </a:spcBef>
            </a:pPr>
            <a:r>
              <a:rPr sz="1600" b="0">
                <a:solidFill>
                  <a:srgbClr val="D5E5F2"/>
                </a:solidFill>
                <a:latin typeface="Meiryo UI"/>
              </a:rPr>
              <a:t>ゴール: 40 分。現場で呼ばれるのは壊れたときだけです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演習 7: MTU ブラックホール (20 分) — 3 つそろわないと壊れません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【あなた】まず正常な状態を確認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curl -o NUL -w "size=%{size_download}\n" http://203.0.113.80/big.bin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size=5242880 (5MB) が落ちてきます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0B6040"/>
                </a:solidFill>
                <a:latin typeface="Consolas"/>
              </a:rPr>
              <a:t>① 【司会】 ./lab-mode.sh break mtu     → もう一度 curl。まだ落ちてきます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② 【あなた】892FJ で MSS の調整を切る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interface Tunnel0 →  no ip tcp adjust-mss     → まだ落ちてきます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③ 【あなた】経路の記憶を消す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CPE# clear ipv6 traffic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検証用 PC (Windows): netsh interface ipv4 delete destinationcache</a:t>
            </a:r>
          </a:p>
          <a:p>
            <a:pPr lvl="1" algn="l">
              <a:spcAft>
                <a:spcPts val="6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→ ここで初めて 5MB が止まります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F3355"/>
                </a:solidFill>
                <a:latin typeface="Meiryo UI"/>
              </a:rPr>
              <a:t>演習 7 で何が起きたか — なぜ ①② では壊れなかったのか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02920" y="1143000"/>
          <a:ext cx="10789920" cy="12435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926080"/>
                <a:gridCol w="786384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eiryo UI"/>
                        </a:rPr>
                        <a:t>段階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  <a:latin typeface="Meiryo UI"/>
                        </a:rPr>
                        <a:t>なぜまだ動いたのか</a:t>
                      </a:r>
                    </a:p>
                  </a:txBody>
                  <a:tcPr>
                    <a:solidFill>
                      <a:srgbClr val="1F3355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① 障害だけ入れた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892FJ が MSS を 1420 に調整していたので、そもそも大きいパケットが出ていなかった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② MSS 調整を切った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経路の MTU が学習済みだったので、まだ小さいまま送っていた</a:t>
                      </a:r>
                    </a:p>
                  </a:txBody>
                  <a:tcPr>
                    <a:solidFill>
                      <a:srgbClr val="F2F6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③ 記憶を消した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3355"/>
                          </a:solidFill>
                          <a:latin typeface="Meiryo UI"/>
                        </a:rPr>
                        <a:t>ここで初めて 1500 で送り始めて、途中で詰まった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" y="2642616"/>
            <a:ext cx="11155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007ACC"/>
                </a:solidFill>
                <a:latin typeface="Meiryo UI"/>
              </a:rPr>
              <a:t>「さっきまで再現していたのに再現しない」が起きる理由。直したつもりで直っていないことに気づけません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演習 8: ポート開放を試して、失敗させる (15 分)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【あなた】検証用 PC で待受を立てる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python3 -m http.server 8000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【あなた】892FJ でポート開放を設定してみる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ip nat inside source static tcp 192.168.100.50 8000 interface Tunnel0 8080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設定は通ります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【司会】INET-SIM から外から叩く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curl -m5 http://203.0.113.1:8080/    → 接続拒否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curl -m5 http://192.0.0.2:8080/      → タイムアウト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どちらも届きません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演習 8 で何が起きたか — 外から見えるアドレスが 1 つも無い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0">
                <a:solidFill>
                  <a:srgbClr val="0B6040"/>
                </a:solidFill>
                <a:latin typeface="Consolas"/>
              </a:rPr>
              <a:t>CPE# show ip interface brief で確かめてください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GigabitEthernet0 (WAN) … IPv4 アドレスが無い (no ip address)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Tunnel0 … 192.0.0.2。これは RFC 6333 が決めた「トンネルの入口」です</a:t>
            </a:r>
          </a:p>
          <a:p>
            <a:pPr lvl="1" algn="l">
              <a:spcAft>
                <a:spcPts val="6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外から見えるアドレスではありません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外から来た通信を受け取る場所が、そもそも存在しません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設定 UI 上は入るのに一切着信しないのは、これが理由です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お客様への説明の組み立て方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「お客様のルータには外から見えるアドレスが無く、事業者の設備でまとめて変換されています」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「設定でどうにかできる話ではありません」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「外から入る通信が必要でしたら、固定 IP のオプション契約が要ります」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後始末: no ip nat inside source static tcp ... を忘れずに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演習 9: 同じ障害でも、端末によって症状が違う (5 分)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0">
                <a:solidFill>
                  <a:srgbClr val="0B6040"/>
                </a:solidFill>
                <a:latin typeface="Consolas"/>
              </a:rPr>
              <a:t>【司会】 ./lab-mode.sh break dns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【あなた】検証用 PC で 2 つ叩き比べる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curl -s -o NUL -w "%{time_total}\n" http://www.lab.example/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wget -q -O NUL http://www.lab.example/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結果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curl … 0.2 秒程度。速いので気づけません</a:t>
            </a:r>
          </a:p>
          <a:p>
            <a:pPr lvl="1" algn="l">
              <a:spcAft>
                <a:spcPts val="600"/>
              </a:spcAft>
            </a:pPr>
            <a:r>
              <a:rPr sz="1700" b="1">
                <a:solidFill>
                  <a:srgbClr val="C0392B"/>
                </a:solidFill>
                <a:latin typeface="Meiryo UI"/>
              </a:rPr>
              <a:t>wget … 15 秒でタイムアウト。完全に固まります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いま何が起きたか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AAAA (IPv6 のアドレス) は返るのに、IPv6 では到達できない状態を作りました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curl は IPv6 を少し試して すぐ IPv4 に切り替えます (Happy Eyeballs)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wget は IPv6 で待ち続けます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「A さんの PC は遅いが B さんは普通」というお客様申告の正体がこれです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33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7FB8E0"/>
                </a:solidFill>
                <a:latin typeface="Meiryo UI"/>
              </a:rPr>
              <a:t>第4部</a:t>
            </a:r>
          </a:p>
          <a:p>
            <a:pPr algn="l"/>
            <a:r>
              <a:rPr sz="3600" b="1">
                <a:solidFill>
                  <a:srgbClr val="FFFFFF"/>
                </a:solidFill>
                <a:latin typeface="Meiryo UI"/>
              </a:rPr>
              <a:t>戻して終わる</a:t>
            </a:r>
          </a:p>
          <a:p>
            <a:pPr algn="l">
              <a:spcBef>
                <a:spcPts val="1600"/>
              </a:spcBef>
            </a:pPr>
            <a:r>
              <a:rPr sz="1600" b="0">
                <a:solidFill>
                  <a:srgbClr val="D5E5F2"/>
                </a:solidFill>
                <a:latin typeface="Meiryo UI"/>
              </a:rPr>
              <a:t>ゴール: 15 分。戻し忘れは次の演習で「原因の分からない失敗」として出ます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演習 10: 元に戻す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【あなた】892FJ で確認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CPE# show running-config | include adjust-mss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ip tcp adjust-mss 1420 が Tunnel0 と Vlan1 の両方にあること。無ければ入れ直す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CPE# show running-config | include ip nat inside source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何も出ないこと (演習 8 の設定が残っていないこと)</a:t>
            </a:r>
          </a:p>
          <a:p>
            <a:pPr algn="l">
              <a:spcAft>
                <a:spcPts val="1000"/>
              </a:spcAft>
            </a:pPr>
            <a:r>
              <a:rPr sz="2000" b="0">
                <a:solidFill>
                  <a:srgbClr val="0B6040"/>
                </a:solidFill>
                <a:latin typeface="Consolas"/>
              </a:rPr>
              <a:t>【司会】 ./lab-mode.sh restore  →  ./lab-mode.sh status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「障害の注入: なし」を全員で確認してから解散してください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【あなた】最後に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0B6040"/>
                </a:solidFill>
                <a:latin typeface="Consolas"/>
              </a:rPr>
              <a:t>curl http://203.0.113.80/     →  src: 203.0.113.1 に戻っていれば完了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今日 手を動かして分かったこと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① 設定を変えなくても、網の方式が変わればアドレスが付かなくなる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演習 2。しかも RA 自体は届いているので、原因が見えません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② ping が通っても、正しい経路を通ったことにはならない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演習 5。見るべきは 出口アドレス だけです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③ 892FJ では MAP-E ができない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演習 6。機器と方式の組み合わせは、契約書を見た時点で分かります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④ 障害は 3 つそろわないと再現しない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演習 7。「さっきまで再現していたのに」が起きます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⑤ 同じ障害でも端末によって症状が違う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演習 9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C0392B"/>
                </a:solidFill>
                <a:latin typeface="Meiryo UI"/>
              </a:rPr>
              <a:t>この 5 つは、教科書にもマニュアルにも書いてありません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F3355"/>
                </a:solidFill>
                <a:latin typeface="Meiryo UI"/>
              </a:rPr>
              <a:t>次にやること / 参考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15568"/>
            <a:ext cx="11155680" cy="3175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71600"/>
            <a:ext cx="10972800" cy="4983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次にやること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自分の担当案件の VNE を調べる (契約書の「IPv6 接続サービス」の名称)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892FJ を納入している拠点をリストアップする。MAP-E 系ならリプレースが要ります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もっと壊したい人へ: test-matrix.md §4 に R1〜R13。今日やったのは 3 つだけです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1F3355"/>
                </a:solidFill>
                <a:latin typeface="Meiryo UI"/>
              </a:rPr>
              <a:t>参考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実機の設定手順 (詳細)   runbook-vmware.md §8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詰まったとき           runbook-vmware.md §9 (A〜N)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障害再現レシピ (全13種) test-matrix.md §4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説明会資料 (座学)       slides/setsumeikai.md</a:t>
            </a:r>
          </a:p>
          <a:p>
            <a:pPr lvl="1" algn="l">
              <a:spcAft>
                <a:spcPts val="600"/>
              </a:spcAft>
            </a:pPr>
            <a:r>
              <a:rPr sz="1700" b="0">
                <a:solidFill>
                  <a:srgbClr val="555555"/>
                </a:solidFill>
                <a:latin typeface="Meiryo UI"/>
              </a:rPr>
              <a:t>司会用のモード切替      lab/ipoe/lab-mode.sh --help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