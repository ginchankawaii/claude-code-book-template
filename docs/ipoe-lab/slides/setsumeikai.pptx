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・冒頭で「配布資料の巻末に想定問答があります」と必ず案内すること。</a:t>
            </a:r>
          </a:p>
          <a:p>
            <a:r>
              <a:t>  前回の模擬では、受講者が家に帰ってから気づいていた。</a:t>
            </a:r>
          </a:p>
          <a:p>
            <a:r>
              <a:t>・持ち帰り 3 つのうち ③ (ポート開放に即答) が一番刺さる。ここで期待値を上げてよい。</a:t>
            </a:r>
          </a:p>
          <a:p>
            <a:r>
              <a:t>・全体で 55 分 + 質疑 5 分。第3部 (19 分) が本体なので、前半は巻き気味で。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・**このページは読み上げないこと。**10 個を読むと 3 分溶ける。</a:t>
            </a:r>
          </a:p>
          <a:p>
            <a:r>
              <a:t>・「分からなくなったらここに戻ります」とだけ言って 30 秒で次へ。</a:t>
            </a:r>
          </a:p>
          <a:p>
            <a:r>
              <a:t>・戻る場所として記憶に残ればよく、ここで覚えさせる必要はない。</a:t>
            </a:r>
          </a:p>
          <a:p>
            <a:r>
              <a:t>・他の略語 (AFTR / BRAS / プレフィックス) が出たら、そのつど</a:t>
            </a:r>
          </a:p>
          <a:p>
            <a:r>
              <a:t>  「要するに〇〇」と言い直すこと。ここに追加はしない。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・**最後の「言い直し」を必ず言うこと。**「IPv6 = 速い」で持ち帰られると、</a:t>
            </a:r>
          </a:p>
          <a:p>
            <a:r>
              <a:t>  お客様に間違った説明をすることになる。速いのは IPoE という通り方。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・ここで一度、聴衆に挙手させると空気が変わる:</a:t>
            </a:r>
          </a:p>
          <a:p>
            <a:r>
              <a:t>  「『夜になると遅い』という相談、受けたことある人?」</a:t>
            </a:r>
          </a:p>
          <a:p>
            <a:r>
              <a:t>・「社内も IPv6 にするんですか?」は必ず聞かれる。**先に自分から言っておくこと。**</a:t>
            </a:r>
          </a:p>
          <a:p>
            <a:r>
              <a:t>・「将来も IPv6 化しない」とは言わない。今回の案件でやらないだけ、と締める。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・**この表は覚えさせない。**「引く表です」と言い切って、印刷して持ち歩くよう勧める。</a:t>
            </a:r>
          </a:p>
          <a:p>
            <a:r>
              <a:t>・1 問だけ指名なしで投げると定着する:「では OCN バーチャルコネクト、ポート開放は?」</a:t>
            </a:r>
          </a:p>
          <a:p>
            <a:r>
              <a:t>・次ページで自社の事故 (2 回失敗) を出すので、ここでは深追いしない。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・**最初の 3 行を飛ばさないこと。**「なぜポートを分ければアドレスを共有できるのか」が</a:t>
            </a:r>
          </a:p>
          <a:p>
            <a:r>
              <a:t>  入っていないと、この先の 240 個の話が全部 呪文になる。</a:t>
            </a:r>
          </a:p>
          <a:p>
            <a:r>
              <a:t>・240 は **割当の構造値**。「実測で 240 使えた」とは言わないこと (次ページの注記)。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・**表を出す前に 30 秒だけ問いかけると定着が変わる。**</a:t>
            </a:r>
          </a:p>
          <a:p>
            <a:r>
              <a:t>  「transix のお客様から『事務所のカメラを外から見たい』と言われました。できますか?」</a:t>
            </a:r>
          </a:p>
          <a:p>
            <a:r>
              <a:t>  「隣と 10 秒相談してください」→ そのあと答え合わせとして表を出す。</a:t>
            </a:r>
          </a:p>
          <a:p>
            <a:r>
              <a:t>・ここが今日の到達目標。**このページだけは絶対に巻かないこと。**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・全部を説明しないこと。**「箱がたくさんあるが、要は網と VNE を自分で作った」**で十分。</a:t>
            </a:r>
          </a:p>
          <a:p>
            <a:r>
              <a:t>・図の一番下 (方式ごとの経路と出口アドレス) だけは指差して読むこと。第3部の伏線になる。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配布資料の巻末に「想定問答」8 問があります。あとで読んでください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新しい繋ぎ方。認証なしで回線に直接つながる。利用者は回線契約で識別される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分からなくなったら、このページに戻ってきてください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と IPv6 には互換性がなく、そのままでは直接やり取りできないからです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1 つだけ言い直させてください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速いのは IPv6 そのものではなく、IPoE という「通り方」です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混んでいる装置を通らなくなるから速い。この区別が後で効いてきます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 宛先到達不能(1) / パケット過大(2) / 時間超過(3) / パラメータ異常(4)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(133〜137)  相手を探す・アドレス重複を確かめる・ルータを探す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(128 / 129)  ping。運用で要るので普通は通します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permit icmp any any packet-too-big  ← Cisco ならこの形で 1 種類ずつ許可します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あり → /56 がまとめて貸し出される = /64 が 256 本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     (PD 方式 = まとめ借り方式。DHCPv6 の「プレフィックス委任」という機能です)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fe80::。既定ゲートウェイも fe80:: で指します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IPv4 のように 192.168.1.1 とは書きません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RA と DHCPv6 — アドレスを配るのはどっち? (役割が違います)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 ① 「DHCPv6 を使うと、自分で作るほうは止まる」→ 止まりません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両方が同時に動きます。止める / 止めないを決めるのは、別のフラグです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アドレスが 2 つ以上付いているのは正常 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1 本の回線に 2 つの接続が同居し、どちらを通すかは CPE の経路設定で振り分けます (設計が要ります)。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うちのラボでは 1 分でした。実網の事業者はもっと長いことがあります。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929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同時に張れる通信の数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決まっている (割り当てポート数まで)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網側の上限まで。無制限ではありません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28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違いは NAT がどこにあるか。それだけです。どちらになるかは VNE が決めていて、お客様も我々も選べません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このほかに「固定 IP のオプション契約」という第 3 の形があります (次ページの事故がまさにこれ)。同じ ISP 名でもプランで VNE が違うことがあるので、開通後に実測で確かめてください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⚠ 自社で 2 回続けて開通に失敗した事例 — 契約書だけでは足りません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想定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の記載がありません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この事例の教訓 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「方式」は 1 つではなく 2 段ある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の払い出し (RA / PD) と IPv4 の運び方 (DS-Lite / 固定IP / MAP-E)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「transix だから DS-Lite」まで分かっても、RA か PD かは別に確かめる必要があります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コース名で IPv4 の方式が変わる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同じ transix でも 動的 IP コースは DS-Lite、固定 IP コースは固定 IP 方式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契約したコースまで確認しないと、CPE のテンプレートを間違えます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「ひかり電話ありなら PD」は事業者向けでは通用しない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家庭向けの経験則をそのまま当てはめると外します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 RA か PD かは開通後に実測するしかありません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ハンズオンの演習 2 で、この症状を実際に見てもらいます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宅配便のたとえで「出口の業者が仕分けする」と言ったのが、これです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「DS-Lite なら接続数は無制限」ではありません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網側の装置にも 1 契約あたりの上限があります。MAP-E ほど はっきり見えないだけです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同時接続の多い拠点では、DS-Lite でも事前に事業者に確認してください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その前に: NAT は「アドレス + ポート番号」の組で通信を見分けています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ポート番号を分担すれば、1 個のアドレスを何人かで共有できます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はこれを「事業者と利用者の間」でやる仕組みです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ウェルノウンポート (0〜1023) は、どのサービスでも誰にも配られません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v6プラスのように、さらに広く (0〜4095) 除外するサービスもあります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240 は「割当の構造値」です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うちの検証では、参照 CPE (OpenWrt) が実際に使えたのは 16 個でした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実機で何個使えるかは、案件ごとに数え直してください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に例題があります。案件では不要です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240 個で足りるかどうかは、測らないと分かりません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既設ルータで NAT のテーブル数を数えます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Cisco なら show ip nat translations の行数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業務時間帯に何回か測ってください。昼休みと夕方でまったく違います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目安は出せません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台数、業務アプリ、監視の有無で変わるので、他社の数字は当てになりません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「PC 30 台だから大丈夫」のような机上判断はしないでください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測ったあと、どう判断するか — 型を決めておきます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ピークの実測値 × 安全率 2 倍 が 割当ポート数を超えたら、MAP-E 単独は避ける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例: ピーク 180 本 × 2 = 360 &gt; 240 → 固定 IP か PPPoE 併用に倒す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安全率 2 倍は「この資料での仮置き」です。実績が貯まるまで社内で決め直してください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足りないと分かったら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でもポート数の多い VNE を選べることがあります (OCN VC は 1008)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ただし VNE は選べないことが多いので、固定 IP か PPPoE 併用の検討になります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番のようなウェルノウンポート (0〜1023) 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722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(両端が NAT 越え = NAT-T に対応していれば)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不可。決まった番号 (500) で待てません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2140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はウェルノウンポートなので MAP-E では誰にも配られません。「80 番」と同じ理由です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55"/>
                </a:solidFill>
                <a:latin typeface="Meiryo UI"/>
              </a:rPr>
              <a:t>そもそも UDP 500 / 4500 とは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VPN が最初の握手に使うと決まっている番号。電話でいう代表番号のようなものです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この番号で待っていないと、相手からの呼び出しを受けられません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500 はウェルノウンポート。MAP-E では誰にも配られないので、そこでは待てません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「張れます」の条件 — お客様には「たいてい」と言わないこと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両端が NAT 越え (NAT-T) に対応していること。これが条件です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も DS-Lite も途中でアドレスとポートを書き換えるので、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NAT-T を使わない設定 (ESP をそのまま流す) だと張れません。古い機器は要注意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ここは机上の整理です。うちの検証環境ではまだ VPN を張って測っていません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案件で使う前に必ず実機で確かめてください (検証項目として積んであります)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40 を 2 回引きますが、中身は別物です (1 回目は IPv6 ヘッダ、2 回目は TCP+IP)。偶然同じ数字です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 (NGN)、ISP の PPPoE 終端、VNE、インターネット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全部 Linux VM です。実機の CPE も物理 NIC で繋げます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アドレスは全部ドキュメント用です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2001:db8::/32 / 198.51.100.0/24 / 203.0.113.0/24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本物の誰かに迷惑をかけない設計にしてあります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図の一番下が今日の要点です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方式ごとに通る場所が違い、出口アドレスも違います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だから 出口アドレスを見れば経路が分かる のです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または
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アクセス元を表示する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のページで入れた「あの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この 3 つは、教科書を読んだだけでは絶対に気づけませんでした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検証スクリプトが全項目 PASS したのに、網側 NAT が効いていなかったことがありました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トンネルは設計どおり通っていました。その先で変換が当たっていなかっただけです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※ 実機の Cisco で同じことが起きるかは確かめていません。仮想ルータでの話です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