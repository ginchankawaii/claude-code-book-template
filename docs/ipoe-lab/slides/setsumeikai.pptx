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・冒頭で「配布資料の巻末に想定問答があります」と必ず案内すること。</a:t>
            </a:r>
          </a:p>
          <a:p>
            <a:r>
              <a:t>  前回の模擬では、受講者が家に帰ってから気づいていた。</a:t>
            </a:r>
          </a:p>
          <a:p>
            <a:r>
              <a:t>・持ち帰り 3 つのうち ③ (ポート開放に即答) が一番刺さる。ここで期待値を上げてよい。</a:t>
            </a:r>
          </a:p>
          <a:p>
            <a:r>
              <a:t>・全体で 55 分 + 質疑 5 分。第3部 (19 分) が本体なので、前半は巻き気味で。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・**このページは読み上げないこと。**10 個を読むと 3 分溶ける。</a:t>
            </a:r>
          </a:p>
          <a:p>
            <a:r>
              <a:t>・「分からなくなったらここに戻ります」とだけ言って 30 秒で次へ。</a:t>
            </a:r>
          </a:p>
          <a:p>
            <a:r>
              <a:t>・戻る場所として記憶に残ればよく、ここで覚えさせる必要はない。</a:t>
            </a:r>
          </a:p>
          <a:p>
            <a:r>
              <a:t>・他の略語 (AFTR / BRAS / プレフィックス) が出たら、そのつど</a:t>
            </a:r>
          </a:p>
          <a:p>
            <a:r>
              <a:t>  「要するに〇〇」と言い直すこと。ここに追加はしない。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・**最後の「言い直し」を必ず言うこと。**「IPv6 = 速い」で持ち帰られると、</a:t>
            </a:r>
          </a:p>
          <a:p>
            <a:r>
              <a:t>  お客様に間違った説明をすることになる。速いのは IPoE という通り方。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・ここで一度、聴衆に挙手させると空気が変わる:</a:t>
            </a:r>
          </a:p>
          <a:p>
            <a:r>
              <a:t>  「『夜になると遅い』という相談、受けたことある人?」</a:t>
            </a:r>
          </a:p>
          <a:p>
            <a:r>
              <a:t>・「社内も IPv6 にするんですか?」は必ず聞かれる。**先に自分から言っておくこと。**</a:t>
            </a:r>
          </a:p>
          <a:p>
            <a:r>
              <a:t>・「将来も IPv6 化しない」とは言わない。今回の案件でやらないだけ、と締める。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・**この表は覚えさせない。**「引く表です」と言い切って、印刷して持ち歩くよう勧める。</a:t>
            </a:r>
          </a:p>
          <a:p>
            <a:r>
              <a:t>・1 問だけ指名なしで投げると定着する:「では OCN バーチャルコネクト、ポート開放は?」</a:t>
            </a:r>
          </a:p>
          <a:p>
            <a:r>
              <a:t>・次ページで自社の事故 (2 回失敗) を出すので、ここでは深追いしない。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・**最初の 3 行を飛ばさないこと。**「なぜポートを分ければアドレスを共有できるのか」が</a:t>
            </a:r>
          </a:p>
          <a:p>
            <a:r>
              <a:t>  入っていないと、この先の 240 個の話が全部 呪文になる。</a:t>
            </a:r>
          </a:p>
          <a:p>
            <a:r>
              <a:t>・240 は **割当の構造値**。「実測で 240 使えた」とは言わないこと (次ページの注記)。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・**ここが「自動設定」の中身。**お客様が「ルータを繋いだら勝手に繋がった」と</a:t>
            </a:r>
          </a:p>
          <a:p>
            <a:r>
              <a:t>  言うときに起きているのがこれ。</a:t>
            </a:r>
          </a:p>
          <a:p>
            <a:r>
              <a:t>・**手動設定の機種が噛み合わない理由**もここ。対応表の意味が腑に落ちる。</a:t>
            </a:r>
          </a:p>
          <a:p>
            <a:r>
              <a:t>・第4部 ④ の伏線。**この 1 枚が資料から抜けていたこと自体**が、</a:t>
            </a:r>
          </a:p>
          <a:p>
            <a:r>
              <a:t>  検証環境にサーバが無かったことの裏返しだった、という話につなげる。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・**表を出す前に 30 秒だけ問いかけると定着が変わる。**</a:t>
            </a:r>
          </a:p>
          <a:p>
            <a:r>
              <a:t>  「transix のお客様から『事務所のカメラを外から見たい』と言われました。できますか?」</a:t>
            </a:r>
          </a:p>
          <a:p>
            <a:r>
              <a:t>  「隣と 10 秒相談してください」→ そのあと答え合わせとして表を出す。</a:t>
            </a:r>
          </a:p>
          <a:p>
            <a:r>
              <a:t>・ここが今日の到達目標。**このページだけは絶対に巻かないこと。**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・全部を説明しないこと。**「箱がたくさんあるが、要は網と VNE を自分で作った」**で十分。</a:t>
            </a:r>
          </a:p>
          <a:p>
            <a:r>
              <a:t>・図の一番下 (方式ごとの経路と出口アドレス) だけは指差して読むこと。第3部の伏線になる。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【話す人へ】</a:t>
            </a:r>
          </a:p>
          <a:p>
            <a:r>
              <a:t>・**ここは IPv6 の知識の話ではない。**検証の姿勢の話なので、</a:t>
            </a:r>
          </a:p>
          <a:p>
            <a:r>
              <a:t>  中堅・ベテランにも刺さる。時間が押していてもここは削らないこと。</a:t>
            </a:r>
          </a:p>
          <a:p>
            <a:r>
              <a:t>・自分の失敗として話すこと。**「気をつけましょう」では伝わらない。**</a:t>
            </a:r>
          </a:p>
          <a:p>
            <a:r>
              <a:t>・第3部の「計算のルールはどこから来るのか」の 1 枚が、</a:t>
            </a:r>
          </a:p>
          <a:p>
            <a:r>
              <a:t>  **長らく資料から抜けていたこと自体**がこの症状だった、と繋げると効く。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説明会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から IPoE へ — 1 時間で押さえる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をほとんど触ったことがない方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教材: 小川晃通『プロフェッショナル IPv6 第2版』(ラムダノート)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この資料には教科書の本文と図を転載していません。該当節を示すだけにしてあります。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手元に PDF を開きながら聞いてください。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後半は、自社で組んだ検証環境で実際に測った値を紹介します。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なぜこの話をするのか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今日の地図と、出てくる言葉を先に配ります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持ち帰ってほしいこと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つだけです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なぜ IPv6 に変えるのか — 「アドレスが枯渇したから」ではありません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お客様の回線がどの方式か、商品名から言えるようになる (v6プラス、transix など)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「ポート開放できますか?」に即答できるようになる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話す順番 — 大きい話から細かい話へ降ります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第0部  なぜこの話をするのか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第1部  IPv6 そのもの — どこの国でも同じ話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第2部  日本の回線 — ここからは日本だけの話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第3部  IPv4 をどうやって運ぶか — 今日の本題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第4部  検証環境で実際に見たもの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迷ったらこのページに戻ってください。どこの話か分かれば必ずついてこられます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※ 配布資料の巻末に「想定問答」8 問があります。あとで読んでください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迷子になったら、この 10 個に戻ってください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19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49807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言葉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ひとことで言うと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(ピーピーピーオーイー)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今までの繋ぎ方。ID とパスワードで認証してから通信する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(アイピーオーイー)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新しい繋ぎ方。認証なしで回線に直接つながる。利用者は回線契約で識別される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(シーピーイー)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お客様側のルータのこと。それだけです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NGN (エヌジーエヌ)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の網。フレッツ光の部分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VNE (ブイエヌイー)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を実際に流している事業者。速度を決めているのはここ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(アールエー)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ルータが配る「私がゲートウェイです。住所の前半はこれです」という案内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IPv6 版の DHCP。住所を配る係。RA だけで足りないときに使う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(マップイー)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その1。お客様のルータが変換する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(ディーエスライト)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に載せて運ぶやり方 その2。網側の装置が変換する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(エムティーユー)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回に運べる荷物の大きさ。IPv6 に載せると小さくなります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81888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分からなくなったら、このページに戻ってきてください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話の全体を、宅配便でたとえます (この 1 時間ずっとこれで通します)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の道 = 新しくできた広い高速道路。空いていて速い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の荷物 = 社内の機器が出す荷物。この高速道路をそのままでは走れない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と IPv6 には互換性がなく、そのままでは直接やり取りできないからです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IPv4 の荷物を IPv6 のトラックに積んで運びます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積み方が 2 通りあります。それが MAP-E と DS-Lite 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違いは第3部でやります。そこが今日の本題です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いまは「2 通りあるんだな」だけで大丈夫です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1 つだけ言い直させてください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速いのは IPv6 そのものではなく、IPoE という「通り方」です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混んでいる装置を通らなくなるから速い。この区別が後で効いてきます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IPv4 アドレスが足りなくなった。だから IPv6 に移行する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正しいのですが、目の前の案件でハンコを押す理由ではありません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夜になると遅い。Web 会議が切れる。この相談から始まります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原因は回線速度ではなく、多くの場合「網終端装置」の混雑です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網終端装置 = PPPoE の通信が全部集まってくる装置。ここが混みます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IPoE (認証なしで回線に直接つなぐ方式。仕組みは第2部) にすると この装置を通らなくなる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この区別ができると、この質問に答えられます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「社内も IPv6 にするんですか?」→ 普通はしません。LAN は IPv4 のままです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にするとアドレス設計のやり直し・FW 見直し・アプリ検証が発生します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は「外を速く通るための道」。社内を作り替える話ではありません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アドレス在庫枯渇とその解決策」(p.335) / 付録 A.3「IPv6 PPPoE と IPv6 IPoE」(p.443)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つに分かれます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なぜ /64 で切るのか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(自動設定)
DHCPv6 / /56 の委譲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今日いちばん時間を使うところ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が分からない」の正体は、この 3 つを 1 つだと思っていることです。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トラブルの切り分けも同じです。「IPv6 が降りてこない」= ②、「IPv6 は降りたが IPv4 が通らない」= ③。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だけが日本の事情が濃く出ます。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全部は要りません。現場で効くところだけ 7 分で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との違いは、現場では 5 つだけ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2103120"/>
                <a:gridCol w="2194560"/>
                <a:gridCol w="4389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アドレスの長さ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枯渇しない。覚えられないのでコピペ前提で作業する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好きに切れる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/64 より細かく切ると自動設定が動かなくなる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 枚の NIC 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ふつう 1 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「2 つ付いている」は異常ではありません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相手の探し方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ARP が無い。ICMPv6 で探す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を止めると通信が死にます。FW 設計の事故で最多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の問題が表に出やすい (第3部)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4 つめ。「ICMP は ping だから止めていい」は IPv4 の感覚です (通す種類は次ページ)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ICMPv6 は「まとめて落とす」をやってはいけません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IPv4 の感覚で deny icmp を書くと、IPv6 では通信そのものが死にます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では相手の MAC を調べるのも ICMPv6。ARP の代わりだからです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経路の途中で「そのサイズは無理」と教えるのも ICMPv6 (第3部の MTU の話)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最低限これは通してください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エラー通知 4 種  宛先到達不能(1) / パケット過大(2) / 時間超過(3) / パラメータ異常(4)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  ← とくに「パケット過大」を落とすと 大きいファイルが送れなくなります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近隣探索 (133〜137)  相手を探す・アドレス重複を確かめる・ルータを探す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エコー要求 / 応答 (128 / 129)  ping。運用で要るので普通は通します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permit icmp any any packet-too-big  ← Cisco ならこの形で 1 種類ずつ許可します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細かい番号は RFC 4890 と教科書 第5章 (p.115) を見てください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案件で ACL を書く前に、必ず一度は目を通すこと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「よく分からないから全部落とす」は IPv6 では成立しません。ここは事故が最も多い場所です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 — ルールは 3 つだけ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各ブロック先頭の 0 は省ける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2001:0db8:0000:0001 → 2001:db8:0:1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0 が続くところは :: で 1 回だけ省ける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2001:db8:0:0:0:0:0:1 → 2001:db8::1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2 か所以上でやると、どこが何個か分からなくなるので 1 回だけです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URL に書くときは [ ] で囲む。忘れると動きません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http://[2001:db8::1]/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囲まないと、アドレスのコロンと ポート番号のコロン が区別できないためです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アドレス体系」(p.67)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/64 で切るのか — ここは案件のヒアリングに直結します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/64 は決まりごとです。「なんとなく」ではありません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後ろの 64 ビットは「端末が自分で決める場所」と決まっている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端末が MAC から作るか、ランダムに作ります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 /64 より細かく切ると (たとえば /80) 自動設定が動きません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案件で最初に聞く質問がここから出ます — 「ひかり電話はありますか?」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なし → /64 が 1 本だけ来る (RA 方式)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あり → /56 がまとめて貸し出される = /64 が 256 本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     (PD 方式 = まとめ借り方式。DHCPv6 の「プレフィックス委任」という機能です)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「なんで電話の有無で変わるの?」と思ったら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ひかり電話ありだと、電話用の機器にまとめて配る提供形態になっているためです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技術的な必然ではなく NTT の提供のしかたの違い。ここは深入りしません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この違いが効くのは「LAN をいくつに切れるか」。どちらでも MAP-E も DS-Lite も組めます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7.7「グローバルアドレスの生成」(p.172) / 8.7「DHCPv6-PD」(p.201)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アドレスをもらう前に通信する必要があるからです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が上がった瞬間に自分だけで作れるアドレスを必ず持つ。それが fe80::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その結果こうなります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RA も DHCPv6 も送信元は fe80::。既定ゲートウェイも fe80:: で指します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IPv4 のように 192.168.1.1 とは書きません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だから「グローバル IPv6 が無い = 壊れている」ではありません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使うときの注意 — ここが最初の関門です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fe80:: は「同じリンクの中だけ」のアドレスなので、同じ番号が別の線にもあります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だから「どの線から出すか」を必ず一緒に書きます。それが % のうしろです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ping6 fe80::1%eth0    ← eth0 という線から出す、という意味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あわせて: 1 枚の NIC に fe80:: とグローバルが同時に付く。これが「複数が当たり前」の中身です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3.5「リンクローカルユニキャストアドレス」(p.74) / 3.6「スコープのゾーン」(p.76) / 2.9 (p.48)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RA と DHCPv6 — アドレスを配るのはどっち? (役割が違います)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ルータが「私がゲートウェイだよ」と自分から言いに来ます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端末が「ルータいますか」と聞く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ルータが「私がいます。住所の前半はこれです」と答える ← これが RA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端末が住所の後半を自分で作ってアドレスを完成させる ← これを自動設定と呼びます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の DHCP と何が違うのか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… 端末が聞きに行って、サーバが住所をまるごと渡す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… ルータが前半だけ配って、後半は端末が自分で決める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よくある誤解 ① 「DHCPv6 を使うと、自分で作るほうは止まる」→ 止まりません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両方が同時に動きます。止める / 止めないを決めるのは、別のフラグです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アドレスが 2 つ以上付いているのは正常 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ルータがもらう /56 は別の話。アドレスではなく「住所の前半」をまとめて借りるものです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第6章 (p.127) / 7.1「SLAAC の流れ」(p.160) / 第8章「DHCPv6」(p.179) / 8.7 (p.201)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登場人物と、商品名から方式を引く表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「ISP」と言っても 3 者います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 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契約・課金の窓口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VNE = NGN の上で IPv6 (IPoE) 接続を ISP に卸す事業者。多くは IPv4 の運び方もセットで提供します。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側だからです。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提案・見積の前に聞くのは「ISP はどこですか」ではなく「VNE はどこですか」。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お客様は答えられないことが多いので、契約書か、開通後の実測で確かめます。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速度の話はここで決まります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 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 とパスワードで認証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両方同時に使えます。「IPv6 は IPoE、IPv4 は PPPoE」という併用は実際によくある構成です。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1 本の回線に 2 つの接続が同居し、どちらを通すかは CPE の経路設定で振り分けます (設計が要ります)。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PPPoE を電源断などで乱暴に切ると、網側にセッションが残り、その間は再接続できません。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うちのラボでは 1 分でした。実網の事業者はもっと長いことがあります。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再接続すると払い出しアドレスが変わることも。切替は「正常に切断 → IPoE を確認 → 戻すときは 1 分待つ」の順で。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A.3「IPv6 PPPoE と IPv6 IPoE」(p.443)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分かれ道の 2 段目 — MAP-E か DS-Lite か (ここは選べません)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9291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4480560"/>
                <a:gridCol w="4023360"/>
              </a:tblGrid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【宅配便でいうと】誰が仕分けするか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お客様のルータが自分でやる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高速の出口にいる業者がやる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【宅配便でいうと】その結果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使える伝票番号が あらかじめ決まっている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伝票が自分では見えない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誰が変換するか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お客様のルータ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網側の装置 (AFTR と呼びます)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のやること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で包む + アドレスとポートの計算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ただ包むだけ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もらえる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他人と共有。使えるポートが決まっている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共有。利用者側にアドレスが見えない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割り当てられたポートなら可能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545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同時に張れる通信の数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決まっている (割り当てポート数まで)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網側の上限まで。無制限ではありません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46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の負荷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重い (計算と NAT をする)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軽い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328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違いは NAT がどこにあるか。それだけです。どちらになるかは VNE が決めていて、お客様も我々も選べません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実際のサービスはどれなのか (明日から使える表)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88136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3200400"/>
                <a:gridCol w="14630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JPIX 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 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限定的 (割り当てポートのみ)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 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不可 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光BBユニット前提。今日の対象外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このほかに「固定 IP のオプション契約」という第 3 の形があります (次ページの事故がまさにこれ)。同じ ISP 名でもプランで VNE が違うことがあるので、開通後に実測で確かめてください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この表を使う前に — 2 つ確認してください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お客様のルータが、その方式に対応しているか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Cisco 892FJ は古い IOS なので MAP-E に対応していません (DS-Lite は可)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892FJ の納入拠点で MAP-E 系の VNE だと、機器リプレース前提の見積になります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買い替え先は うちで実機検証しました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Cisco C1111-8P (IOS XE 17.09.05f) は MAP-E で通ります (第4部 4-4b)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本番と同じ ルール配布サーバ を建てて、CPE に自動取得させて確認しました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⚠ ただし 一度「この機種は使えない」と誤判断しかけました。理由は第4部で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市販ルータは各社が対応表を出しています。方式が分かってから機種を確認する順番で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VNE をどうやって特定するか (お客様は「VNE はどこ?」に答えられません)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ひかり電話の請求があるか → /64 か /56 かが分かります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ISP の契約書かマイページで「IPv6 接続サービス」の名称を見せてもらう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そこに v6プラス / transix / OCN バーチャルコネクト などの名前が出ます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分からなければ開通後に実測。ただし それでは見積が書けないので契約書を先に当たること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⚠ 自社で 2 回続けて開通に失敗した事例 — 契約書だけでは足りません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想定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の記載がありません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この事例の教訓 3 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「方式」は 1 つではなく 2 段ある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の払い出し (RA / PD) と IPv4 の運び方 (DS-Lite / 固定IP / MAP-E)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「transix だから DS-Lite」まで分かっても、RA か PD かは別に確かめる必要があります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コース名で IPv4 の方式が変わる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同じ transix でも 動的 IP コースは DS-Lite、固定 IP コースは固定 IP 方式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契約したコースまで確認しないと、CPE のテンプレートを間違えます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「ひかり電話ありなら PD」は事業者向けでは通用しない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家庭向けの経験則をそのまま当てはめると外します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 RA か PD かは開通後に実測するしかありません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ハンズオンの演習 2 で、この症状を実際に見てもらいます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をどうやって運ぶか — 今日の本題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ここが分かれば「ポート開放できますか?」に即答できます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なぜわざわざ IPv4 を IPv6 に載せ替えるのか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社内が IPv4 のままだからです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で降りてくるのは IPv6 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でも社内の機器も、行き先のサイトも、まだ IPv4 が要る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IPv4 のパケットを IPv6 のパケットの中に入れて運びます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宅配便でいうと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の荷物を IPv6 の箱に詰めて送るイメージです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受け取る側 (網の中の装置) が箱を開けて、中の IPv4 をインターネットに流します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この「箱の詰め方」の流儀が 2 つあります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箱に詰めるのも NAT も CPE がやる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箱に詰めるのは CPE、NAT は網側がやる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ACC"/>
                </a:solidFill>
                <a:latin typeface="Meiryo UI"/>
              </a:rPr>
              <a:t>教科書: 第24章「IPv4/IPv6 共存技術の運用形態」24.1〜24.4(p.421〜) / 第21章「IPv4/IPv6 共存技術の分類」21.1(p.381)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DS-Lite — お客様のルータは包むだけ、変換は網がやる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PC → お客様のルータで IPv6 の箱に詰める → 網側の装置で箱を開けて変換 → インターネット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宅配便のたとえで「出口の業者が仕分けする」と言ったのが、これです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特徴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お客様のルータは アドレスの書き換え (NAT) をしません。ただの入口になるだけです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変換は網側の装置 (AFTR) がまとめてやります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 お客様のルータの負荷が軽く、設定も簡単です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代わりに、利用者側からはグローバル IPv4 アドレスが一切見えません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だからポート開放する手段がありません。ルータの設定でどうにかできる構造ではないのです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「DS-Lite なら接続数は無制限」ではありません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網側の装置にも 1 契約あたりの上限があります。MAP-E ほど はっきり見えないだけです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同時接続の多い拠点では、DS-Lite でも事前に事業者に確認してください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お客様への説明のしかた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「設定でどうにかできる話ではありません。外から入る通信が必要なら固定 IP のオプション契約が要ります」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24.1「DS-Lite」(p.421) / 19.4「IPv4 アドレス共有技術の課題」(p.362)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MAP-E — IPv4 アドレスを他人と分け合う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その前に: NAT は「アドレス + ポート番号」の組で通信を見分けています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 ポート番号を分担すれば、1 個のアドレスを何人かで共有できます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はこれを「事業者と利用者の間」でやる仕組みです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1 個の IPv4 アドレスを何人かで分け合い、使えるポート番号を分担します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グローバル IPv4 アドレスは他人と共有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代わりに「あなたはこのポート番号を使ってください」と範囲が決められる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どれを使うかは、降ってきた IPv6 の「住所の前半」(プレフィックス) から計算で決まります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うちの検証環境で実際に計算した例 (CPE の自動計算と完全に一致しました)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降ってきた IPv6      2001:db8:100a:500::/56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計算で出た共有 IPv4  198.51.100.10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使えるポート        240 個 (連続ではなく、とびとびの番号。最初は 4176〜4191)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ポートは全部で 65536 個あるのに、使えるのは 240 個です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実サービスでは v6プラスが 240 個、OCN バーチャルコネクトが 1008 個と言われています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ブラウザは 1 タブで数十本張ります。台数が多い拠点や監視系があると足りません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24.4「MAP-E、MAP-T、4rd」(p.425) / 24.3「A+P」(p.423)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「計算で決まる」って、どういうこと?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式は覚えなくていいです。知っておくべきは 3 つだけ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① 降ってきた IPv6 の 決められた位置のビット が、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   共有 IPv4 アドレスの一部 と 自分のポート番号の素 になります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② 計算するのは CPE です。人間が計算する場面はありません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③ だから「計算で一意に決まる = こちらでは選べない」。ここだけ覚えてください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「なんで 80 番が使えないの?」の答えもここです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ウェルノウンポート (0〜1023) は、どのサービスでも誰にも配られません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v6プラスのように、さらに広く (0〜4095) 除外するサービスもあります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選べないから 80 番が来ない、という順番です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※ 240 は「割当の構造値」です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うちの検証では、参照 CPE (OpenWrt) が実際に使えたのは 16 個でした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実機 C1111-8P は 割当範囲内のポート (4145) を使うことを確認済み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ただし 240 個を使い切れるかは未測定。案件ごとに数え直してください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手計算のやり方を知りたい人へ: study-guide.md に例題があります。案件では不要です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では、その「計算のルール」はどこから来るのか — これが「自動設定」の正体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計算するには、IPv6 の住所のほかに ルール が要ります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「どのビットを使うのか」「どの IPv4 の帯を分け合うのか」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このルールは CPE が事業者のサーバから自動で取ってきます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起動してから通信できるまで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① CPE が起動する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② 事業者のルール配布サーバに HTTPS で問い合わせる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     「私の IPv6 は 2001:db8:1014:300:: です。ルールをください」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③ サーバがルールを返す 「この帯を、この分け方で使ってください」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④ CPE が 自分の IPv6 と ルール から IPv4 とポート範囲を計算する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人が設定する場面はどこにもありません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「MAP-E に対応している」= この一連を自動でやれる、という意味です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対応表に無い機種で手動設定しても、この仕組みの外側なので噛み合いません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うちの検証環境にも、このサーバがありませんでした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だから長いあいだ 本番には存在しないやり方 で検証していました (第4部 ④)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「同時接続数を実測」って、どうやるのか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240 個で足りるかどうかは、測らないと分かりません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既設ルータで NAT のテーブル数を数えます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Cisco なら show ip nat translations の行数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業務時間帯に何回か測ってください。昼休みと夕方でまったく違います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目安は出せません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台数、業務アプリ、監視の有無で変わるので、他社の数字は当てになりません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「PC 30 台だから大丈夫」のような机上判断はしないでください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測ったあと、どう判断するか — 型を決めておきます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ピークの実測値 × 安全率 2 倍 が 割当ポート数を超えたら、MAP-E 単独は避ける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例: ピーク 180 本 × 2 = 360 &gt; 240 → 固定 IP か PPPoE 併用に倒す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※ 安全率 2 倍は「この資料での仮置き」です。実績が貯まるまで社内で決め直してください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足りないと分かったら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でもポート数の多い VNE を選べることがあります (OCN VC は 1008)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ただし VNE は選べないことが多いので、固定 IP か PPPoE 併用の検討になります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【注意】この 2 つを混同しないでください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023360"/>
                <a:gridCol w="40233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出ていく通信 (Web を見る)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入ってくる通信 (ポート開放)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240 個をどう使うか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使い回す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この中からしか選べない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何が問題になるか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足りるかどうか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番号が合うかどうか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「ポート開放できない」と「240 個しかない」は別の問題です。次のページからは右側 (入ってくる通信) の話をします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「ポート開放できますか?」— これで即答できます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答え方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(従来)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できます。今までどおりです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割り当てられたポートなら できます。ただし「80 番を開けて」はたいてい無理です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できません。利用者側に手段がありません。固定 IP のオプション契約が必要です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そもそもポート開放 = 「外から来た通信を、社内のこの機械に通してください」というルータへの指示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「カメラの 80 番はどうするの?」と聞かれたら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MAP-E でも、社内のカメラを外から見ることはできます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外側の番号は 割り当てられたポートから選ぶ (たとえば 4176 番)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社内側の 80 番へは ルータが読み替えてくれる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つまり「外から 4176 番で来てもらって、社内のカメラの 80 番に渡す」形にはできます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できないのは「外側で 80 番を名乗ること」です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80 番や 443 番のようなウェルノウンポート (0〜1023) は、仕組みの上でそもそも配られません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だから「いつもの URL のまま、ポート番号なしで見たい」は かなえられません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切替前に必ず聞くこと — 後で発覚させると事故になります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外から入ってくる通信はありますか (VPN、拠点間、監視、カメラ、リモートデスクトップ)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ある場合、そのポート番号は何番ですか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 つでもあれば DS-Lite と MAP-E は要注意。固定 IP か PPPoE 併用を検討します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拠点間 VPN はどうなるのか (法人案件で一番聞かれます)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7223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4206240"/>
                <a:gridCol w="4023360"/>
              </a:tblGrid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こちらから張りに行く (発信)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相手から張られる (待ち受け)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(両端が NAT 越え = NAT-T に対応していれば)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不可。決まった番号 (500) で待てません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444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張れます (同上)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不可。そもそも手段がありません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447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固定 IP オプション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12140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待ち受けに使う UDP 500 はウェルノウンポートなので MAP-E では誰にも配られません。「80 番」と同じ理由です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だから VPN はこう提案します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そもそも UDP 500 / 4500 とは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VPN が最初の握手に使うと決まっている番号。電話でいう代表番号のようなものです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この番号で待っていないと、相手からの呼び出しを受けられません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500 はウェルノウンポート。MAP-E では誰にも配られないので、そこでは待てません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C0392B"/>
                </a:solidFill>
                <a:latin typeface="Meiryo UI"/>
              </a:rPr>
              <a:t>「張れます」の条件 — お客様には「たいてい」と言わないこと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両端が NAT 越え (NAT-T) に対応していること。これが条件です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MAP-E も DS-Lite も途中でアドレスとポートを書き換えるので、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NAT-T を使わない設定 (ESP をそのまま流す) だと張れません。古い機器は要注意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結論: 少なくとも片端に固定 IP が要ります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拠点 ←→ データセンタ / クラウド の形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センタ側を固定 IP にして、拠点からは発信のみ。これが一番よくある形です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拠点 ←→ 拠点 を直接張る形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どちらか片方は固定 IP が要ります</a:t>
            </a:r>
          </a:p>
          <a:p>
            <a:pPr lvl="1" algn="l"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eiryo UI"/>
              </a:rPr>
              <a:t>両端とも MAP-E / DS-Lite だと、どちらも待ち受けできないので張れません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ヒアリングで必ず聞くこと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「VPN はどちらから張っていますか」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「どちらでもいい」と言われたら、発信の向きを固定できるかを確認してください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F3355"/>
                </a:solidFill>
                <a:latin typeface="Meiryo UI"/>
              </a:rPr>
              <a:t>この結論の確かさ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555555"/>
                </a:solidFill>
                <a:latin typeface="Meiryo UI"/>
              </a:rPr>
              <a:t>待ち受け不可 と 生 ESP 不可 は確実。発信は設計上そうなり、UDP の往復は実測済み</a:t>
            </a:r>
          </a:p>
          <a:p>
            <a:pPr lvl="1" algn="l"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Meiryo UI"/>
              </a:rPr>
              <a:t>※ VPN そのものは張っていません。対向機器を含む確認は案件時に実施します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MTU 1460 — 「Web は見えるのにファイルが落ちない」の正体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箱に詰めると、その分だけ中身が小さくなります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Ethernet は 1500 バイトまで。IPv6 の箱に詰めるとヘッダ 40 で中身は 1460 まで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小さいパケット (Web 表示、ping、DNS) は通る → 「つながってる」と見える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大きいパケット (ファイル送信、メール添付) だけ落ちる → 「たまに固まる」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だから「ping が通るから大丈夫」は通用しません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直し方は決まっています (TCP の話です) — ルータに 1 行入れるだけ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「1 回に運ぶ荷物をこれ以上大きくするな」と、あらかじめ上限を教えてやります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1460 (箱に入る大きさ) から TCP と IP のヘッダ 40 を引いて 1420。この数字を教えます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40 を 2 回引きますが、中身は別物です (1 回目は IPv6 ヘッダ、2 回目は TCP+IP)。偶然同じ数字です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Cisco: ip tcp adjust-mss 1420   /   OpenWrt: ファイアウォールの mtu_fix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実機検証では、この 1 行が無いと 5MB のファイルが落ちてきませんでした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第4部でまた出てきます。「あの 1 行」と言ったらこれのことです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第10章「Path MTU Discovery」(p.215) / 第9章「IP フラグメンテーション」(p.205)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検証環境で実際に見たもの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ここから先は全部、自分たちで測った値です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28600"/>
            <a:ext cx="7214461" cy="64008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63101" y="548640"/>
            <a:ext cx="4124098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検証ラボの全体像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NTT の網 (NGN)、ISP の PPPoE 終端、VNE、インターネット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全部 Linux VM です。実機の CPE も物理 NIC で繋げます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1F3355"/>
                </a:solidFill>
                <a:latin typeface="Meiryo UI"/>
              </a:rPr>
              <a:t>アドレスは全部ドキュメント用です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2001:db8::/32 / 198.51.100.0/24 / 203.0.113.0/24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本物の誰かに迷惑をかけない設計にしてあります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図の一番下が今日の要点です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方式ごとに通る場所が違い、出口アドレスも違います</a:t>
            </a:r>
          </a:p>
          <a:p>
            <a:pPr lvl="1" algn="l"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だから 出口アドレスを見れば経路が分かる のです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何を再現しているのか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お客様のルータ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 / 892FJ
/ C1111-8P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の網の代わり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住所を配る役
RA と DHCPv6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受け口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荷物を降ろす側
MAP-E / DS-Lite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模擬インターネット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と DNS
+ ルール配布サーバ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本番の回線では試せないので、NTT の網と VNE を丸ごと自宅に再現しました。PPPoE の受け口もあるので切替前の状態も作れます。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右端に MAP-E の「自動設定」の相手方 (ルール配布サーバ) もあります。本番と同じ形で試せます。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同じものを会社の VMware に再現する手順書一式があります。詰まった箇所も全部載せてあるので、案件前の事前検証に使えます。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模擬インターネットの Web はアクセス元のアドレスを表示します。これが経路を確かめる決め手になります。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アドレスは全部ドキュメント用の範囲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本物の誰かに迷惑をかけない設計にしてあります。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これで何ができるのか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0467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できること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具体的に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切替の練習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PPPoE から IPoE に切り替える手順を、本番と同じ順番で通せる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方式の切り替え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MAP-E と DS-Lite を行き来できる。RA 方式と PD 方式 (まとめ借り) も切替可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パケットを見る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RA、DHCPv6 のやり取り、トンネルの中身をキャプチャできる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わざと壊す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ポート枯渇、MTU の問題、DNS の遅延などを再現できる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実機を繋げる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物理の Cisco 892FJ / C1111-8P を繋ぎ込んで、本物の設定を投入できる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自動設定を試す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ルール配布サーバがあるので、CPE が自分で取ってくる本番の形で試せる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MAP-E の計算も確かめました。手計算した 198.51.100.10 / 4176〜4191 / MTU 1460 が、CPE の自動計算と完全に一致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892FJ で DS-Lite を通した結果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996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3108960"/>
                <a:gridCol w="4754880"/>
              </a:tblGrid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網側で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ping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相手の Linux は 64 で返す。62 で届いた = ルータを 2 つ越えた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1460 で送る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通る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トンネル分を引いた大きさが確保できている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1500 で送る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が「分割が必要」と返す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の通知が正常に動いている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327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1.15 秒で完走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 のページで入れた「あの 1 行」が効いている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39547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一番大事なのは 1 行目。ping が通っただけでは「たまたま届いた」かもしれません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実機の Cisco C1111-8P で MAP-E を通した結果 — 本番と同じ「自動設定」で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108960"/>
                <a:gridCol w="45720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何を示しているか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アクセス元のアドレス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 で外に出た = MAP-E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が取得したルール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配布した内容と一致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自動設定 (サーバからの取得) が成立している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が計算した共有 IPv4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こちらの手計算と一致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CPE が計算したポート範囲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240 個 / 先頭 4144〜4159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こちらの手計算と一致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実際の送信元ポート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割り当てられた範囲の中を使っている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この機種は一度「使えない」と結論しかけました。間違っていたのは機種ではなく試し方です (次ページ ④)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やってみて分かった「効かない直感」 ①〜③ (④ は次ページ)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この 4 つは、教科書を読んだだけでは絶対に気づけませんでした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① 「疎通した」は「正しい経路を通った」ではない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検証スクリプトが全項目 PASS したのに、網側 NAT が効いていなかったことがありました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トンネルは設計どおり通っていました。その先で変換が当たっていなかっただけです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構成を誤った DS-Lite で PASS=10。出口を見たらクライアントの私設アドレスのままだった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必ず「出口のアドレス」を確認する。これだけが唯一の証拠です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② 設定が入ることと、動くことは別物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Cisco の仮想ルータで MAP-E を試したら、設定は通り確認コマンドも正しい値を返した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それなのにパケットが 1 つも流れなかった。実際にパケットを運ぶ部分が落ちていました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実機 C1111-8P でも同じでした。手でルールを書いたときは 6 回とも落ちました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確認コマンドで終わらせず、パケットを流して測るところまでやる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③ 症状が 1 つでも、原因は 1 つとは限らない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「ping は通るのに名前解決だけ死ぬ」を追ったら、独立した原因が 3 つ重なっていました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 つ直しても直らないので「直したのに変わらない = 見当違い」と判断すると迷子になります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→ 1 つ直したら 1 つ確かめる。まとめて直さない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④ 「動いた」は「本番と同じ道で動いた」ではない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検証環境は 10 回以上サイクルを回して、全部の項目が PASS していました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それなのに MAP-E だけは、本番には存在しないやり方 を測り続けていました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なぜそうなったか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ルール配布サーバが検証環境に無かった。無いものは手で代用するしかありません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CPE に手でルールを書く → それは本番のどの CPE もやらない操作でした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そのやり方では 6 回とも落ちたので、「この機種は使えない」と結論しかけました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サーバを建てて本番と同じ道で試したら、一度も落ちずに通りました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ここが怖いところ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個々の手順をいくら丁寧に検証しても、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「構成要素がまるごと欠けていること」は見つかりません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手順は全部正しく、結果も全部 PASS するからです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→ ときどき、手順ではなく 構成そのもの を疑ってください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特に「うちの環境には無いから、ここは手でやっている」という箇所。そこが穴です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まとめ — 3 行と、明日から使うチェックリスト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今日の話を 3 行にすると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PPPoE が遅いから IPoE に変える。アドレス枯渇の話ではありません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社内は IPv4 のまま。だから IPv4 を IPv6 に載せて運ぶ。それが MAP-E と DS-Lite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どちらになるかは選べない。VNE が決めています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 5 つ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ひかり電話はありますか → /64 か /56 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VNE はどこですか → 方式が決まる (ISP 名だけでは分かりません)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外から入ってくる通信はありますか → VPN / 拠点間 / 監視 / カメラ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ある場合、ポート番号は何番ですか → MAP-E でも開けられるかが決まる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□ 同時接続数はどれくらいですか → MAP-E のポート数 (240 など) で足りるか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切替後に必ず確認する 1 つ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□ どのアドレスで外に出たか。疎通確認だけでは経路が正しいことを示せません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書籍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第2版』ラムダノート株式会社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2021年12月20日 第2版第1刷 (参照した PDF は 2023年3月1日 第2版第2刷)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ISBN 978-4-908686-11-5 / 本書は CC BY-NC-SA ライセンスで公開されています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参照した節: 2.10 (p.51) / 3章 (p.67) / 3.5 (p.74) / 5章 (p.115) / 6章 (p.127)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7.1 (p.160) / 7.7 (p.172) / 8章 (p.179) / 8.7 (p.201) / 9章 (p.205) / 10章 (p.215)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  18章 (p.335) / 19.4 (p.362) / 24.1 (p.421) / 24.3 (p.423) / 24.4 (p.425) / 付録A.3 (p.443)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この資料には本書の本文と図を一切転載していません。該当節を示すだけにしてあります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RFC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6333 (DS-Lite) / RFC 7597 (MAP-E) / RFC 4861 (NDP) / RFC 4862 (SLAAC)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RFC 8415 (DHCPv6)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発展学習 (本編では扱いません): RFC 6724 (アドレス選択) / RFC 8305 (Happy Eyeballs v2)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サービス分類の出典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ヤマハ「動作確認済み IPv6 IPoE + IPv4 over IPv6 接続サービス」RTpro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0B6040"/>
                </a:solidFill>
                <a:latin typeface="Consolas"/>
              </a:rPr>
              <a:t>https://www.rtpro.yamaha.co.jp/RT/docs/ipoe_46/available_ipoe_46.html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社内資料</a:t>
            </a:r>
          </a:p>
          <a:p>
            <a:pPr lvl="1" algn="l">
              <a:spcAft>
                <a:spcPts val="300"/>
              </a:spcAft>
            </a:pPr>
            <a:r>
              <a:rPr sz="1300" b="0">
                <a:solidFill>
                  <a:srgbClr val="555555"/>
                </a:solidFill>
                <a:latin typeface="Meiryo UI"/>
              </a:rPr>
              <a:t>docs/ipoe-lab/ — README / runbook-vmware / build-log (第4部の実測値の出どころ) / study-guide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